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3.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4.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10.xml" ContentType="application/vnd.openxmlformats-officedocument.drawingml.diagramData+xml"/>
  <Override PartName="/ppt/diagrams/data11.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ata120.xml" ContentType="application/vnd.openxmlformats-officedocument.drawingml.diagramData+xml"/>
  <Override PartName="/ppt/diagrams/data15.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57" r:id="rId3"/>
    <p:sldId id="298" r:id="rId4"/>
    <p:sldId id="277" r:id="rId5"/>
    <p:sldId id="267" r:id="rId6"/>
    <p:sldId id="279" r:id="rId7"/>
    <p:sldId id="280" r:id="rId8"/>
    <p:sldId id="258" r:id="rId9"/>
    <p:sldId id="296" r:id="rId10"/>
    <p:sldId id="301" r:id="rId11"/>
    <p:sldId id="293" r:id="rId12"/>
    <p:sldId id="272" r:id="rId13"/>
    <p:sldId id="274" r:id="rId14"/>
    <p:sldId id="260" r:id="rId15"/>
    <p:sldId id="292" r:id="rId16"/>
    <p:sldId id="285" r:id="rId17"/>
    <p:sldId id="289" r:id="rId18"/>
    <p:sldId id="287" r:id="rId19"/>
    <p:sldId id="300" r:id="rId20"/>
    <p:sldId id="295" r:id="rId21"/>
    <p:sldId id="297" r:id="rId22"/>
    <p:sldId id="271"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166D8D5-AF73-423F-97C6-8EAAEF616582}">
          <p14:sldIdLst>
            <p14:sldId id="256"/>
          </p14:sldIdLst>
        </p14:section>
        <p14:section name="Untitled Section" id="{933BF72F-8450-4A87-AFCA-F81FDA17227E}">
          <p14:sldIdLst>
            <p14:sldId id="257"/>
            <p14:sldId id="298"/>
            <p14:sldId id="277"/>
            <p14:sldId id="267"/>
            <p14:sldId id="279"/>
            <p14:sldId id="280"/>
            <p14:sldId id="258"/>
            <p14:sldId id="296"/>
            <p14:sldId id="301"/>
            <p14:sldId id="293"/>
            <p14:sldId id="272"/>
            <p14:sldId id="274"/>
            <p14:sldId id="260"/>
            <p14:sldId id="292"/>
            <p14:sldId id="285"/>
            <p14:sldId id="289"/>
            <p14:sldId id="287"/>
            <p14:sldId id="300"/>
            <p14:sldId id="295"/>
            <p14:sldId id="297"/>
            <p14:sldId id="271"/>
            <p14:sldId id="291"/>
          </p14:sldIdLst>
        </p14:section>
      </p14:sectionLst>
    </p:ex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63C1"/>
    <a:srgbClr val="FFFFFF"/>
    <a:srgbClr val="000090"/>
    <a:srgbClr val="D0D0D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91" autoAdjust="0"/>
    <p:restoredTop sz="94660"/>
  </p:normalViewPr>
  <p:slideViewPr>
    <p:cSldViewPr snapToGrid="0">
      <p:cViewPr varScale="1">
        <p:scale>
          <a:sx n="110" d="100"/>
          <a:sy n="110" d="100"/>
        </p:scale>
        <p:origin x="888"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ata1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image" Target="../media/image110.png"/></Relationships>
</file>

<file path=ppt/diagrams/_rels/data1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image" Target="../media/image170.png"/></Relationships>
</file>

<file path=ppt/diagrams/_rels/data15.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20.png"/><Relationship Id="rId1" Type="http://schemas.openxmlformats.org/officeDocument/2006/relationships/image" Target="../media/image210.png"/><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1.png"/></Relationships>
</file>

<file path=ppt/diagrams/_rels/data12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1.png"/><Relationship Id="rId1" Type="http://schemas.openxmlformats.org/officeDocument/2006/relationships/image" Target="../media/image171.png"/></Relationships>
</file>

<file path=ppt/diagrams/_rels/drawing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F45B3C-ECF3-4A3F-9C2B-37FB52C936C7}"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600D128A-D399-4C8F-AC09-3A123FA89EF4}">
      <dgm:prSet custT="1"/>
      <dgm:spPr>
        <a:effectLst>
          <a:outerShdw blurRad="50800" dist="38100" dir="5400000" algn="t" rotWithShape="0">
            <a:prstClr val="black">
              <a:alpha val="40000"/>
            </a:prstClr>
          </a:outerShdw>
        </a:effectLst>
      </dgm:spPr>
      <dgm:t>
        <a:bodyPr/>
        <a:lstStyle/>
        <a:p>
          <a:r>
            <a:rPr lang="en-US" sz="2800" b="1" i="0" baseline="0" dirty="0">
              <a:effectLst>
                <a:outerShdw blurRad="38100" dist="38100" dir="2700000" algn="tl">
                  <a:srgbClr val="000000">
                    <a:alpha val="43137"/>
                  </a:srgbClr>
                </a:outerShdw>
              </a:effectLst>
            </a:rPr>
            <a:t>What is Strain Hardening?</a:t>
          </a:r>
          <a:endParaRPr lang="en-US" sz="2800" dirty="0">
            <a:effectLst>
              <a:outerShdw blurRad="38100" dist="38100" dir="2700000" algn="tl">
                <a:srgbClr val="000000">
                  <a:alpha val="43137"/>
                </a:srgbClr>
              </a:outerShdw>
            </a:effectLst>
          </a:endParaRPr>
        </a:p>
      </dgm:t>
    </dgm:pt>
    <dgm:pt modelId="{56A4C2CA-CFC0-4311-B2B7-717AE44A2926}" type="parTrans" cxnId="{B3B7338B-0489-42FC-9047-4D590FAB6FD1}">
      <dgm:prSet/>
      <dgm:spPr/>
      <dgm:t>
        <a:bodyPr/>
        <a:lstStyle/>
        <a:p>
          <a:endParaRPr lang="en-US"/>
        </a:p>
      </dgm:t>
    </dgm:pt>
    <dgm:pt modelId="{3F08A0D2-866E-464A-96AC-77CD0A9ED4E5}" type="sibTrans" cxnId="{B3B7338B-0489-42FC-9047-4D590FAB6FD1}">
      <dgm:prSet/>
      <dgm:spPr/>
      <dgm:t>
        <a:bodyPr/>
        <a:lstStyle/>
        <a:p>
          <a:endParaRPr lang="en-US"/>
        </a:p>
      </dgm:t>
    </dgm:pt>
    <dgm:pt modelId="{1C989421-D375-4CEB-93FD-A311766712C6}">
      <dgm:prSet/>
      <dgm:spPr/>
      <dgm:t>
        <a:bodyPr/>
        <a:lstStyle/>
        <a:p>
          <a:endParaRPr lang="en-US" dirty="0"/>
        </a:p>
      </dgm:t>
    </dgm:pt>
    <dgm:pt modelId="{1A9CE34D-89ED-4C46-9A5D-F825426A5C16}" type="parTrans" cxnId="{0030A6AE-2576-4E76-B555-704F340FF401}">
      <dgm:prSet/>
      <dgm:spPr/>
      <dgm:t>
        <a:bodyPr/>
        <a:lstStyle/>
        <a:p>
          <a:endParaRPr lang="en-US"/>
        </a:p>
      </dgm:t>
    </dgm:pt>
    <dgm:pt modelId="{91BC8A82-22B6-45A1-9777-FCEE6108F88A}" type="sibTrans" cxnId="{0030A6AE-2576-4E76-B555-704F340FF401}">
      <dgm:prSet/>
      <dgm:spPr/>
      <dgm:t>
        <a:bodyPr/>
        <a:lstStyle/>
        <a:p>
          <a:endParaRPr lang="en-US"/>
        </a:p>
      </dgm:t>
    </dgm:pt>
    <dgm:pt modelId="{10DC41AA-6954-4C87-8CFB-DDA27AC1BB05}" type="pres">
      <dgm:prSet presAssocID="{C0F45B3C-ECF3-4A3F-9C2B-37FB52C936C7}" presName="linear" presStyleCnt="0">
        <dgm:presLayoutVars>
          <dgm:animLvl val="lvl"/>
          <dgm:resizeHandles val="exact"/>
        </dgm:presLayoutVars>
      </dgm:prSet>
      <dgm:spPr/>
    </dgm:pt>
    <dgm:pt modelId="{F76F3FE9-7FF8-47C7-B79E-EF811EDBF9B6}" type="pres">
      <dgm:prSet presAssocID="{600D128A-D399-4C8F-AC09-3A123FA89EF4}" presName="parentText" presStyleLbl="node1" presStyleIdx="0" presStyleCnt="1" custScaleY="243665" custLinFactNeighborY="-2946">
        <dgm:presLayoutVars>
          <dgm:chMax val="0"/>
          <dgm:bulletEnabled val="1"/>
        </dgm:presLayoutVars>
      </dgm:prSet>
      <dgm:spPr/>
    </dgm:pt>
    <dgm:pt modelId="{2EF81586-A8AA-4917-970F-355051014679}" type="pres">
      <dgm:prSet presAssocID="{600D128A-D399-4C8F-AC09-3A123FA89EF4}" presName="childText" presStyleLbl="revTx" presStyleIdx="0" presStyleCnt="1">
        <dgm:presLayoutVars>
          <dgm:bulletEnabled val="1"/>
        </dgm:presLayoutVars>
      </dgm:prSet>
      <dgm:spPr/>
    </dgm:pt>
  </dgm:ptLst>
  <dgm:cxnLst>
    <dgm:cxn modelId="{B03A4809-1EEA-4CE3-9BBA-BD32B94F90D4}" type="presOf" srcId="{1C989421-D375-4CEB-93FD-A311766712C6}" destId="{2EF81586-A8AA-4917-970F-355051014679}" srcOrd="0" destOrd="0" presId="urn:microsoft.com/office/officeart/2005/8/layout/vList2"/>
    <dgm:cxn modelId="{2F7DBA49-2AEA-4FA0-9F34-DB73DC66F195}" type="presOf" srcId="{C0F45B3C-ECF3-4A3F-9C2B-37FB52C936C7}" destId="{10DC41AA-6954-4C87-8CFB-DDA27AC1BB05}" srcOrd="0" destOrd="0" presId="urn:microsoft.com/office/officeart/2005/8/layout/vList2"/>
    <dgm:cxn modelId="{B3B7338B-0489-42FC-9047-4D590FAB6FD1}" srcId="{C0F45B3C-ECF3-4A3F-9C2B-37FB52C936C7}" destId="{600D128A-D399-4C8F-AC09-3A123FA89EF4}" srcOrd="0" destOrd="0" parTransId="{56A4C2CA-CFC0-4311-B2B7-717AE44A2926}" sibTransId="{3F08A0D2-866E-464A-96AC-77CD0A9ED4E5}"/>
    <dgm:cxn modelId="{0030A6AE-2576-4E76-B555-704F340FF401}" srcId="{600D128A-D399-4C8F-AC09-3A123FA89EF4}" destId="{1C989421-D375-4CEB-93FD-A311766712C6}" srcOrd="0" destOrd="0" parTransId="{1A9CE34D-89ED-4C46-9A5D-F825426A5C16}" sibTransId="{91BC8A82-22B6-45A1-9777-FCEE6108F88A}"/>
    <dgm:cxn modelId="{148FDFD1-EEDD-4DC2-A55B-237BF5219CB4}" type="presOf" srcId="{600D128A-D399-4C8F-AC09-3A123FA89EF4}" destId="{F76F3FE9-7FF8-47C7-B79E-EF811EDBF9B6}" srcOrd="0" destOrd="0" presId="urn:microsoft.com/office/officeart/2005/8/layout/vList2"/>
    <dgm:cxn modelId="{87D25E8D-0AD2-427D-9BEC-D4DEE075DCA1}" type="presParOf" srcId="{10DC41AA-6954-4C87-8CFB-DDA27AC1BB05}" destId="{F76F3FE9-7FF8-47C7-B79E-EF811EDBF9B6}" srcOrd="0" destOrd="0" presId="urn:microsoft.com/office/officeart/2005/8/layout/vList2"/>
    <dgm:cxn modelId="{BFB7E4B7-B0D2-4D7E-A642-7B33AD0F7238}" type="presParOf" srcId="{10DC41AA-6954-4C87-8CFB-DDA27AC1BB05}" destId="{2EF81586-A8AA-4917-970F-35505101467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F45B3C-ECF3-4A3F-9C2B-37FB52C936C7}"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600D128A-D399-4C8F-AC09-3A123FA89EF4}">
      <dgm:prSet custT="1"/>
      <dgm:spPr>
        <a:effectLst>
          <a:outerShdw blurRad="50800" dist="38100" dir="5400000" algn="t" rotWithShape="0">
            <a:prstClr val="black">
              <a:alpha val="40000"/>
            </a:prstClr>
          </a:outerShdw>
        </a:effectLst>
      </dgm:spPr>
      <dgm:t>
        <a:bodyPr/>
        <a:lstStyle/>
        <a:p>
          <a:r>
            <a:rPr lang="en-US" sz="2800" b="1" i="0" baseline="0" dirty="0">
              <a:effectLst>
                <a:outerShdw blurRad="38100" dist="38100" dir="2700000" algn="tl">
                  <a:srgbClr val="000000">
                    <a:alpha val="43137"/>
                  </a:srgbClr>
                </a:outerShdw>
              </a:effectLst>
            </a:rPr>
            <a:t>Strain Hardening Fundamentals</a:t>
          </a:r>
          <a:endParaRPr lang="en-US" sz="2800" dirty="0">
            <a:effectLst>
              <a:outerShdw blurRad="38100" dist="38100" dir="2700000" algn="tl">
                <a:srgbClr val="000000">
                  <a:alpha val="43137"/>
                </a:srgbClr>
              </a:outerShdw>
            </a:effectLst>
          </a:endParaRPr>
        </a:p>
      </dgm:t>
    </dgm:pt>
    <dgm:pt modelId="{56A4C2CA-CFC0-4311-B2B7-717AE44A2926}" type="parTrans" cxnId="{B3B7338B-0489-42FC-9047-4D590FAB6FD1}">
      <dgm:prSet/>
      <dgm:spPr/>
      <dgm:t>
        <a:bodyPr/>
        <a:lstStyle/>
        <a:p>
          <a:endParaRPr lang="en-US"/>
        </a:p>
      </dgm:t>
    </dgm:pt>
    <dgm:pt modelId="{3F08A0D2-866E-464A-96AC-77CD0A9ED4E5}" type="sibTrans" cxnId="{B3B7338B-0489-42FC-9047-4D590FAB6FD1}">
      <dgm:prSet/>
      <dgm:spPr/>
      <dgm:t>
        <a:bodyPr/>
        <a:lstStyle/>
        <a:p>
          <a:endParaRPr lang="en-US"/>
        </a:p>
      </dgm:t>
    </dgm:pt>
    <dgm:pt modelId="{1C989421-D375-4CEB-93FD-A311766712C6}">
      <dgm:prSet/>
      <dgm:spPr/>
      <dgm:t>
        <a:bodyPr/>
        <a:lstStyle/>
        <a:p>
          <a:endParaRPr lang="en-US" dirty="0"/>
        </a:p>
      </dgm:t>
    </dgm:pt>
    <dgm:pt modelId="{1A9CE34D-89ED-4C46-9A5D-F825426A5C16}" type="parTrans" cxnId="{0030A6AE-2576-4E76-B555-704F340FF401}">
      <dgm:prSet/>
      <dgm:spPr/>
      <dgm:t>
        <a:bodyPr/>
        <a:lstStyle/>
        <a:p>
          <a:endParaRPr lang="en-US"/>
        </a:p>
      </dgm:t>
    </dgm:pt>
    <dgm:pt modelId="{91BC8A82-22B6-45A1-9777-FCEE6108F88A}" type="sibTrans" cxnId="{0030A6AE-2576-4E76-B555-704F340FF401}">
      <dgm:prSet/>
      <dgm:spPr/>
      <dgm:t>
        <a:bodyPr/>
        <a:lstStyle/>
        <a:p>
          <a:endParaRPr lang="en-US"/>
        </a:p>
      </dgm:t>
    </dgm:pt>
    <dgm:pt modelId="{10DC41AA-6954-4C87-8CFB-DDA27AC1BB05}" type="pres">
      <dgm:prSet presAssocID="{C0F45B3C-ECF3-4A3F-9C2B-37FB52C936C7}" presName="linear" presStyleCnt="0">
        <dgm:presLayoutVars>
          <dgm:animLvl val="lvl"/>
          <dgm:resizeHandles val="exact"/>
        </dgm:presLayoutVars>
      </dgm:prSet>
      <dgm:spPr/>
    </dgm:pt>
    <dgm:pt modelId="{F76F3FE9-7FF8-47C7-B79E-EF811EDBF9B6}" type="pres">
      <dgm:prSet presAssocID="{600D128A-D399-4C8F-AC09-3A123FA89EF4}" presName="parentText" presStyleLbl="node1" presStyleIdx="0" presStyleCnt="1" custScaleY="243665" custLinFactY="-62950" custLinFactNeighborX="196" custLinFactNeighborY="-100000">
        <dgm:presLayoutVars>
          <dgm:chMax val="0"/>
          <dgm:bulletEnabled val="1"/>
        </dgm:presLayoutVars>
      </dgm:prSet>
      <dgm:spPr/>
    </dgm:pt>
    <dgm:pt modelId="{2EF81586-A8AA-4917-970F-355051014679}" type="pres">
      <dgm:prSet presAssocID="{600D128A-D399-4C8F-AC09-3A123FA89EF4}" presName="childText" presStyleLbl="revTx" presStyleIdx="0" presStyleCnt="1">
        <dgm:presLayoutVars>
          <dgm:bulletEnabled val="1"/>
        </dgm:presLayoutVars>
      </dgm:prSet>
      <dgm:spPr/>
    </dgm:pt>
  </dgm:ptLst>
  <dgm:cxnLst>
    <dgm:cxn modelId="{B03A4809-1EEA-4CE3-9BBA-BD32B94F90D4}" type="presOf" srcId="{1C989421-D375-4CEB-93FD-A311766712C6}" destId="{2EF81586-A8AA-4917-970F-355051014679}" srcOrd="0" destOrd="0" presId="urn:microsoft.com/office/officeart/2005/8/layout/vList2"/>
    <dgm:cxn modelId="{2F7DBA49-2AEA-4FA0-9F34-DB73DC66F195}" type="presOf" srcId="{C0F45B3C-ECF3-4A3F-9C2B-37FB52C936C7}" destId="{10DC41AA-6954-4C87-8CFB-DDA27AC1BB05}" srcOrd="0" destOrd="0" presId="urn:microsoft.com/office/officeart/2005/8/layout/vList2"/>
    <dgm:cxn modelId="{B3B7338B-0489-42FC-9047-4D590FAB6FD1}" srcId="{C0F45B3C-ECF3-4A3F-9C2B-37FB52C936C7}" destId="{600D128A-D399-4C8F-AC09-3A123FA89EF4}" srcOrd="0" destOrd="0" parTransId="{56A4C2CA-CFC0-4311-B2B7-717AE44A2926}" sibTransId="{3F08A0D2-866E-464A-96AC-77CD0A9ED4E5}"/>
    <dgm:cxn modelId="{0030A6AE-2576-4E76-B555-704F340FF401}" srcId="{600D128A-D399-4C8F-AC09-3A123FA89EF4}" destId="{1C989421-D375-4CEB-93FD-A311766712C6}" srcOrd="0" destOrd="0" parTransId="{1A9CE34D-89ED-4C46-9A5D-F825426A5C16}" sibTransId="{91BC8A82-22B6-45A1-9777-FCEE6108F88A}"/>
    <dgm:cxn modelId="{148FDFD1-EEDD-4DC2-A55B-237BF5219CB4}" type="presOf" srcId="{600D128A-D399-4C8F-AC09-3A123FA89EF4}" destId="{F76F3FE9-7FF8-47C7-B79E-EF811EDBF9B6}" srcOrd="0" destOrd="0" presId="urn:microsoft.com/office/officeart/2005/8/layout/vList2"/>
    <dgm:cxn modelId="{87D25E8D-0AD2-427D-9BEC-D4DEE075DCA1}" type="presParOf" srcId="{10DC41AA-6954-4C87-8CFB-DDA27AC1BB05}" destId="{F76F3FE9-7FF8-47C7-B79E-EF811EDBF9B6}" srcOrd="0" destOrd="0" presId="urn:microsoft.com/office/officeart/2005/8/layout/vList2"/>
    <dgm:cxn modelId="{BFB7E4B7-B0D2-4D7E-A642-7B33AD0F7238}" type="presParOf" srcId="{10DC41AA-6954-4C87-8CFB-DDA27AC1BB05}" destId="{2EF81586-A8AA-4917-970F-35505101467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F45B3C-ECF3-4A3F-9C2B-37FB52C936C7}"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600D128A-D399-4C8F-AC09-3A123FA89EF4}">
      <dgm:prSet custT="1"/>
      <dgm:spPr>
        <a:effectLst>
          <a:outerShdw blurRad="63500" sx="102000" sy="102000" algn="ctr" rotWithShape="0">
            <a:prstClr val="black">
              <a:alpha val="40000"/>
            </a:prstClr>
          </a:outerShdw>
        </a:effectLst>
      </dgm:spPr>
      <dgm:t>
        <a:bodyPr/>
        <a:lstStyle/>
        <a:p>
          <a:r>
            <a:rPr lang="en-US" sz="2800" b="1" i="0" baseline="0" dirty="0">
              <a:effectLst>
                <a:outerShdw blurRad="38100" dist="38100" dir="2700000" algn="tl">
                  <a:srgbClr val="000000">
                    <a:alpha val="43137"/>
                  </a:srgbClr>
                </a:outerShdw>
              </a:effectLst>
            </a:rPr>
            <a:t>Parameter identification (calibration)</a:t>
          </a:r>
          <a:endParaRPr lang="en-US" sz="2800" dirty="0">
            <a:effectLst>
              <a:outerShdw blurRad="38100" dist="38100" dir="2700000" algn="tl">
                <a:srgbClr val="000000">
                  <a:alpha val="43137"/>
                </a:srgbClr>
              </a:outerShdw>
            </a:effectLst>
          </a:endParaRPr>
        </a:p>
      </dgm:t>
    </dgm:pt>
    <dgm:pt modelId="{56A4C2CA-CFC0-4311-B2B7-717AE44A2926}" type="parTrans" cxnId="{B3B7338B-0489-42FC-9047-4D590FAB6FD1}">
      <dgm:prSet/>
      <dgm:spPr/>
      <dgm:t>
        <a:bodyPr/>
        <a:lstStyle/>
        <a:p>
          <a:endParaRPr lang="en-US"/>
        </a:p>
      </dgm:t>
    </dgm:pt>
    <dgm:pt modelId="{3F08A0D2-866E-464A-96AC-77CD0A9ED4E5}" type="sibTrans" cxnId="{B3B7338B-0489-42FC-9047-4D590FAB6FD1}">
      <dgm:prSet/>
      <dgm:spPr/>
      <dgm:t>
        <a:bodyPr/>
        <a:lstStyle/>
        <a:p>
          <a:endParaRPr lang="en-US"/>
        </a:p>
      </dgm:t>
    </dgm:pt>
    <dgm:pt modelId="{1C989421-D375-4CEB-93FD-A311766712C6}">
      <dgm:prSet/>
      <dgm:spPr/>
      <dgm:t>
        <a:bodyPr/>
        <a:lstStyle/>
        <a:p>
          <a:endParaRPr lang="en-US" dirty="0"/>
        </a:p>
      </dgm:t>
    </dgm:pt>
    <dgm:pt modelId="{1A9CE34D-89ED-4C46-9A5D-F825426A5C16}" type="parTrans" cxnId="{0030A6AE-2576-4E76-B555-704F340FF401}">
      <dgm:prSet/>
      <dgm:spPr/>
      <dgm:t>
        <a:bodyPr/>
        <a:lstStyle/>
        <a:p>
          <a:endParaRPr lang="en-US"/>
        </a:p>
      </dgm:t>
    </dgm:pt>
    <dgm:pt modelId="{91BC8A82-22B6-45A1-9777-FCEE6108F88A}" type="sibTrans" cxnId="{0030A6AE-2576-4E76-B555-704F340FF401}">
      <dgm:prSet/>
      <dgm:spPr/>
      <dgm:t>
        <a:bodyPr/>
        <a:lstStyle/>
        <a:p>
          <a:endParaRPr lang="en-US"/>
        </a:p>
      </dgm:t>
    </dgm:pt>
    <dgm:pt modelId="{10DC41AA-6954-4C87-8CFB-DDA27AC1BB05}" type="pres">
      <dgm:prSet presAssocID="{C0F45B3C-ECF3-4A3F-9C2B-37FB52C936C7}" presName="linear" presStyleCnt="0">
        <dgm:presLayoutVars>
          <dgm:animLvl val="lvl"/>
          <dgm:resizeHandles val="exact"/>
        </dgm:presLayoutVars>
      </dgm:prSet>
      <dgm:spPr/>
    </dgm:pt>
    <dgm:pt modelId="{F76F3FE9-7FF8-47C7-B79E-EF811EDBF9B6}" type="pres">
      <dgm:prSet presAssocID="{600D128A-D399-4C8F-AC09-3A123FA89EF4}" presName="parentText" presStyleLbl="node1" presStyleIdx="0" presStyleCnt="1" custScaleY="243665" custLinFactY="-8644" custLinFactNeighborX="0" custLinFactNeighborY="-100000">
        <dgm:presLayoutVars>
          <dgm:chMax val="0"/>
          <dgm:bulletEnabled val="1"/>
        </dgm:presLayoutVars>
      </dgm:prSet>
      <dgm:spPr/>
    </dgm:pt>
    <dgm:pt modelId="{2EF81586-A8AA-4917-970F-355051014679}" type="pres">
      <dgm:prSet presAssocID="{600D128A-D399-4C8F-AC09-3A123FA89EF4}" presName="childText" presStyleLbl="revTx" presStyleIdx="0" presStyleCnt="1">
        <dgm:presLayoutVars>
          <dgm:bulletEnabled val="1"/>
        </dgm:presLayoutVars>
      </dgm:prSet>
      <dgm:spPr/>
    </dgm:pt>
  </dgm:ptLst>
  <dgm:cxnLst>
    <dgm:cxn modelId="{B03A4809-1EEA-4CE3-9BBA-BD32B94F90D4}" type="presOf" srcId="{1C989421-D375-4CEB-93FD-A311766712C6}" destId="{2EF81586-A8AA-4917-970F-355051014679}" srcOrd="0" destOrd="0" presId="urn:microsoft.com/office/officeart/2005/8/layout/vList2"/>
    <dgm:cxn modelId="{2F7DBA49-2AEA-4FA0-9F34-DB73DC66F195}" type="presOf" srcId="{C0F45B3C-ECF3-4A3F-9C2B-37FB52C936C7}" destId="{10DC41AA-6954-4C87-8CFB-DDA27AC1BB05}" srcOrd="0" destOrd="0" presId="urn:microsoft.com/office/officeart/2005/8/layout/vList2"/>
    <dgm:cxn modelId="{B3B7338B-0489-42FC-9047-4D590FAB6FD1}" srcId="{C0F45B3C-ECF3-4A3F-9C2B-37FB52C936C7}" destId="{600D128A-D399-4C8F-AC09-3A123FA89EF4}" srcOrd="0" destOrd="0" parTransId="{56A4C2CA-CFC0-4311-B2B7-717AE44A2926}" sibTransId="{3F08A0D2-866E-464A-96AC-77CD0A9ED4E5}"/>
    <dgm:cxn modelId="{0030A6AE-2576-4E76-B555-704F340FF401}" srcId="{600D128A-D399-4C8F-AC09-3A123FA89EF4}" destId="{1C989421-D375-4CEB-93FD-A311766712C6}" srcOrd="0" destOrd="0" parTransId="{1A9CE34D-89ED-4C46-9A5D-F825426A5C16}" sibTransId="{91BC8A82-22B6-45A1-9777-FCEE6108F88A}"/>
    <dgm:cxn modelId="{148FDFD1-EEDD-4DC2-A55B-237BF5219CB4}" type="presOf" srcId="{600D128A-D399-4C8F-AC09-3A123FA89EF4}" destId="{F76F3FE9-7FF8-47C7-B79E-EF811EDBF9B6}" srcOrd="0" destOrd="0" presId="urn:microsoft.com/office/officeart/2005/8/layout/vList2"/>
    <dgm:cxn modelId="{87D25E8D-0AD2-427D-9BEC-D4DEE075DCA1}" type="presParOf" srcId="{10DC41AA-6954-4C87-8CFB-DDA27AC1BB05}" destId="{F76F3FE9-7FF8-47C7-B79E-EF811EDBF9B6}" srcOrd="0" destOrd="0" presId="urn:microsoft.com/office/officeart/2005/8/layout/vList2"/>
    <dgm:cxn modelId="{BFB7E4B7-B0D2-4D7E-A642-7B33AD0F7238}" type="presParOf" srcId="{10DC41AA-6954-4C87-8CFB-DDA27AC1BB05}" destId="{2EF81586-A8AA-4917-970F-355051014679}" srcOrd="1" destOrd="0" presId="urn:microsoft.com/office/officeart/2005/8/layout/vList2"/>
  </dgm:cxnLst>
  <dgm:bg>
    <a:effectLst>
      <a:outerShdw blurRad="50800" dist="38100" dir="5400000" algn="t"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5B4E62-8F0C-4051-B2B0-A26D1C9FE463}" type="doc">
      <dgm:prSet loTypeId="urn:microsoft.com/office/officeart/2008/layout/AlternatingPictureBlocks" loCatId="list" qsTypeId="urn:microsoft.com/office/officeart/2005/8/quickstyle/simple4" qsCatId="simple" csTypeId="urn:microsoft.com/office/officeart/2005/8/colors/accent1_2" csCatId="accent1" phldr="1"/>
      <dgm:spPr/>
      <dgm:t>
        <a:bodyPr/>
        <a:lstStyle/>
        <a:p>
          <a:endParaRPr lang="en-US"/>
        </a:p>
      </dgm:t>
    </dgm:pt>
    <dgm:pt modelId="{05641F02-7F30-4D14-8AFE-A2AF434F9CC0}">
      <dgm:prSet/>
      <dgm:spPr/>
      <dgm:t>
        <a:bodyPr/>
        <a:lstStyle/>
        <a:p>
          <a:r>
            <a:rPr lang="en-US" b="0" i="0" baseline="0" dirty="0">
              <a:effectLst>
                <a:outerShdw blurRad="38100" dist="38100" dir="2700000" algn="tl">
                  <a:srgbClr val="000000">
                    <a:alpha val="43137"/>
                  </a:srgbClr>
                </a:outerShdw>
              </a:effectLst>
            </a:rPr>
            <a:t>Identify suitable constitutive models for monotonic and cyclic behavior of 50CrMo4.</a:t>
          </a:r>
          <a:endParaRPr lang="en-US" dirty="0">
            <a:effectLst>
              <a:outerShdw blurRad="38100" dist="38100" dir="2700000" algn="tl">
                <a:srgbClr val="000000">
                  <a:alpha val="43137"/>
                </a:srgbClr>
              </a:outerShdw>
            </a:effectLst>
          </a:endParaRPr>
        </a:p>
      </dgm:t>
    </dgm:pt>
    <dgm:pt modelId="{17801B67-723B-4D8B-A741-1A7462BEE171}" type="parTrans" cxnId="{38A5617C-0144-4824-A624-C2377CEC271A}">
      <dgm:prSet/>
      <dgm:spPr/>
      <dgm:t>
        <a:bodyPr/>
        <a:lstStyle/>
        <a:p>
          <a:endParaRPr lang="en-US"/>
        </a:p>
      </dgm:t>
    </dgm:pt>
    <dgm:pt modelId="{9BF91D01-09FD-4839-8D1F-216EA7BF0685}" type="sibTrans" cxnId="{38A5617C-0144-4824-A624-C2377CEC271A}">
      <dgm:prSet/>
      <dgm:spPr/>
      <dgm:t>
        <a:bodyPr/>
        <a:lstStyle/>
        <a:p>
          <a:endParaRPr lang="en-US"/>
        </a:p>
      </dgm:t>
    </dgm:pt>
    <dgm:pt modelId="{5A0F7603-0402-4D51-9ADE-F2505645278B}">
      <dgm:prSet/>
      <dgm:spPr/>
      <dgm:t>
        <a:bodyPr/>
        <a:lstStyle/>
        <a:p>
          <a:r>
            <a:rPr lang="en-US" b="0" i="0" baseline="0" dirty="0">
              <a:effectLst>
                <a:outerShdw blurRad="38100" dist="38100" dir="2700000" algn="tl">
                  <a:srgbClr val="000000">
                    <a:alpha val="43137"/>
                  </a:srgbClr>
                </a:outerShdw>
              </a:effectLst>
            </a:rPr>
            <a:t>Calibrate model parameters using optimization algorithms (e.g., LSM).</a:t>
          </a:r>
          <a:r>
            <a:rPr lang="en-US" dirty="0">
              <a:effectLst>
                <a:outerShdw blurRad="38100" dist="38100" dir="2700000" algn="tl">
                  <a:srgbClr val="000000">
                    <a:alpha val="43137"/>
                  </a:srgbClr>
                </a:outerShdw>
              </a:effectLst>
            </a:rPr>
            <a:t> </a:t>
          </a:r>
        </a:p>
      </dgm:t>
    </dgm:pt>
    <dgm:pt modelId="{94264571-05FC-45DF-9EEA-A683CF81D0D9}" type="parTrans" cxnId="{66A601D2-4A16-4E15-85A5-60194114FBA2}">
      <dgm:prSet/>
      <dgm:spPr/>
      <dgm:t>
        <a:bodyPr/>
        <a:lstStyle/>
        <a:p>
          <a:endParaRPr lang="en-US"/>
        </a:p>
      </dgm:t>
    </dgm:pt>
    <dgm:pt modelId="{EA58B015-F5E0-4C23-BB23-A657D78D4152}" type="sibTrans" cxnId="{66A601D2-4A16-4E15-85A5-60194114FBA2}">
      <dgm:prSet/>
      <dgm:spPr/>
      <dgm:t>
        <a:bodyPr/>
        <a:lstStyle/>
        <a:p>
          <a:endParaRPr lang="en-US"/>
        </a:p>
      </dgm:t>
    </dgm:pt>
    <dgm:pt modelId="{485D0394-DC0C-445F-B9B8-3F2EB8404CC2}">
      <dgm:prSet/>
      <dgm:spPr/>
      <dgm:t>
        <a:bodyPr/>
        <a:lstStyle/>
        <a:p>
          <a:r>
            <a:rPr lang="en-US" b="0" i="0" baseline="0" dirty="0">
              <a:effectLst>
                <a:outerShdw blurRad="38100" dist="38100" dir="2700000" algn="tl">
                  <a:srgbClr val="000000">
                    <a:alpha val="43137"/>
                  </a:srgbClr>
                </a:outerShdw>
              </a:effectLst>
            </a:rPr>
            <a:t>Validate model performance using ABAQUS simulations and experimental data.</a:t>
          </a:r>
          <a:endParaRPr lang="en-US" dirty="0">
            <a:effectLst>
              <a:outerShdw blurRad="38100" dist="38100" dir="2700000" algn="tl">
                <a:srgbClr val="000000">
                  <a:alpha val="43137"/>
                </a:srgbClr>
              </a:outerShdw>
            </a:effectLst>
          </a:endParaRPr>
        </a:p>
      </dgm:t>
    </dgm:pt>
    <dgm:pt modelId="{C85C649D-3945-4048-AABE-3304EBF7D960}" type="parTrans" cxnId="{D3CC2F33-5E1B-4F33-9F83-153201EE0304}">
      <dgm:prSet/>
      <dgm:spPr/>
      <dgm:t>
        <a:bodyPr/>
        <a:lstStyle/>
        <a:p>
          <a:endParaRPr lang="en-US"/>
        </a:p>
      </dgm:t>
    </dgm:pt>
    <dgm:pt modelId="{D335723C-329C-4BAA-8B00-F821CFF272F0}" type="sibTrans" cxnId="{D3CC2F33-5E1B-4F33-9F83-153201EE0304}">
      <dgm:prSet/>
      <dgm:spPr/>
      <dgm:t>
        <a:bodyPr/>
        <a:lstStyle/>
        <a:p>
          <a:endParaRPr lang="en-US"/>
        </a:p>
      </dgm:t>
    </dgm:pt>
    <dgm:pt modelId="{788F04FB-EAEC-4260-9303-ED1143D49A04}" type="pres">
      <dgm:prSet presAssocID="{725B4E62-8F0C-4051-B2B0-A26D1C9FE463}" presName="linearFlow" presStyleCnt="0">
        <dgm:presLayoutVars>
          <dgm:dir/>
          <dgm:resizeHandles val="exact"/>
        </dgm:presLayoutVars>
      </dgm:prSet>
      <dgm:spPr/>
    </dgm:pt>
    <dgm:pt modelId="{F1142377-37C9-4C88-A981-9374D2D73134}" type="pres">
      <dgm:prSet presAssocID="{05641F02-7F30-4D14-8AFE-A2AF434F9CC0}" presName="comp" presStyleCnt="0"/>
      <dgm:spPr/>
    </dgm:pt>
    <dgm:pt modelId="{8AABDA8C-88E0-4E30-AD47-7BE37D0F337F}" type="pres">
      <dgm:prSet presAssocID="{05641F02-7F30-4D14-8AFE-A2AF434F9CC0}" presName="rect2" presStyleLbl="node1" presStyleIdx="0" presStyleCnt="3" custScaleX="179761">
        <dgm:presLayoutVars>
          <dgm:bulletEnabled val="1"/>
        </dgm:presLayoutVars>
      </dgm:prSet>
      <dgm:spPr/>
    </dgm:pt>
    <dgm:pt modelId="{40A49AD7-8641-493C-924B-8E2CFD01503C}" type="pres">
      <dgm:prSet presAssocID="{05641F02-7F30-4D14-8AFE-A2AF434F9CC0}" presName="rect1" presStyleLbl="lnNode1" presStyleIdx="0" presStyleCnt="3" custLinFactNeighborX="-86398"/>
      <dgm:spPr>
        <a:blipFill rotWithShape="1">
          <a:blip xmlns:r="http://schemas.openxmlformats.org/officeDocument/2006/relationships" r:embed="rId1"/>
          <a:srcRect/>
          <a:stretch>
            <a:fillRect l="-1000" r="-1000"/>
          </a:stretch>
        </a:blipFill>
      </dgm:spPr>
    </dgm:pt>
    <dgm:pt modelId="{B4837CDD-D75F-40A0-AED9-17A713A10BF5}" type="pres">
      <dgm:prSet presAssocID="{9BF91D01-09FD-4839-8D1F-216EA7BF0685}" presName="sibTrans" presStyleCnt="0"/>
      <dgm:spPr/>
    </dgm:pt>
    <dgm:pt modelId="{4AEAD64D-A444-445B-B346-3B2538020259}" type="pres">
      <dgm:prSet presAssocID="{5A0F7603-0402-4D51-9ADE-F2505645278B}" presName="comp" presStyleCnt="0"/>
      <dgm:spPr/>
    </dgm:pt>
    <dgm:pt modelId="{A4F760F8-C716-4946-879C-7759457974D9}" type="pres">
      <dgm:prSet presAssocID="{5A0F7603-0402-4D51-9ADE-F2505645278B}" presName="rect2" presStyleLbl="node1" presStyleIdx="1" presStyleCnt="3" custScaleX="197027" custLinFactNeighborX="-36049" custLinFactNeighborY="-577">
        <dgm:presLayoutVars>
          <dgm:bulletEnabled val="1"/>
        </dgm:presLayoutVars>
      </dgm:prSet>
      <dgm:spPr/>
    </dgm:pt>
    <dgm:pt modelId="{E8CFB239-675F-4FD1-9690-1F6161003E80}" type="pres">
      <dgm:prSet presAssocID="{5A0F7603-0402-4D51-9ADE-F2505645278B}" presName="rect1" presStyleLbl="lnNode1" presStyleIdx="1" presStyleCnt="3" custLinFactNeighborX="9335" custLinFactNeighborY="-1155"/>
      <dgm:spPr>
        <a:blipFill rotWithShape="1">
          <a:blip xmlns:r="http://schemas.openxmlformats.org/officeDocument/2006/relationships" r:embed="rId2"/>
          <a:srcRect/>
          <a:stretch>
            <a:fillRect l="-8000" r="-8000"/>
          </a:stretch>
        </a:blipFill>
      </dgm:spPr>
    </dgm:pt>
    <dgm:pt modelId="{4062CFA0-694F-46F8-AB8B-41D8BA1717FC}" type="pres">
      <dgm:prSet presAssocID="{EA58B015-F5E0-4C23-BB23-A657D78D4152}" presName="sibTrans" presStyleCnt="0"/>
      <dgm:spPr/>
    </dgm:pt>
    <dgm:pt modelId="{94062FAD-0196-4C8B-AAAF-CE6F0EC0A963}" type="pres">
      <dgm:prSet presAssocID="{485D0394-DC0C-445F-B9B8-3F2EB8404CC2}" presName="comp" presStyleCnt="0"/>
      <dgm:spPr/>
    </dgm:pt>
    <dgm:pt modelId="{949CE003-F848-43BF-BE89-AF7F5FCA1074}" type="pres">
      <dgm:prSet presAssocID="{485D0394-DC0C-445F-B9B8-3F2EB8404CC2}" presName="rect2" presStyleLbl="node1" presStyleIdx="2" presStyleCnt="3" custScaleX="180638">
        <dgm:presLayoutVars>
          <dgm:bulletEnabled val="1"/>
        </dgm:presLayoutVars>
      </dgm:prSet>
      <dgm:spPr/>
    </dgm:pt>
    <dgm:pt modelId="{0047B9D9-0952-4536-A7A7-DE7D03E67F1F}" type="pres">
      <dgm:prSet presAssocID="{485D0394-DC0C-445F-B9B8-3F2EB8404CC2}" presName="rect1" presStyleLbl="lnNode1" presStyleIdx="2" presStyleCnt="3" custLinFactNeighborX="-85761" custLinFactNeighborY="578"/>
      <dgm:spPr>
        <a:blipFill rotWithShape="1">
          <a:blip xmlns:r="http://schemas.openxmlformats.org/officeDocument/2006/relationships" r:embed="rId3"/>
          <a:srcRect/>
          <a:stretch>
            <a:fillRect l="-8000" r="-8000"/>
          </a:stretch>
        </a:blipFill>
      </dgm:spPr>
    </dgm:pt>
  </dgm:ptLst>
  <dgm:cxnLst>
    <dgm:cxn modelId="{D3CC2F33-5E1B-4F33-9F83-153201EE0304}" srcId="{725B4E62-8F0C-4051-B2B0-A26D1C9FE463}" destId="{485D0394-DC0C-445F-B9B8-3F2EB8404CC2}" srcOrd="2" destOrd="0" parTransId="{C85C649D-3945-4048-AABE-3304EBF7D960}" sibTransId="{D335723C-329C-4BAA-8B00-F821CFF272F0}"/>
    <dgm:cxn modelId="{B1491145-6D07-4CEF-BBE9-A8715ED89984}" type="presOf" srcId="{725B4E62-8F0C-4051-B2B0-A26D1C9FE463}" destId="{788F04FB-EAEC-4260-9303-ED1143D49A04}" srcOrd="0" destOrd="0" presId="urn:microsoft.com/office/officeart/2008/layout/AlternatingPictureBlocks"/>
    <dgm:cxn modelId="{C45FFA7A-65F1-4A4E-A250-53A03CDD317F}" type="presOf" srcId="{05641F02-7F30-4D14-8AFE-A2AF434F9CC0}" destId="{8AABDA8C-88E0-4E30-AD47-7BE37D0F337F}" srcOrd="0" destOrd="0" presId="urn:microsoft.com/office/officeart/2008/layout/AlternatingPictureBlocks"/>
    <dgm:cxn modelId="{38A5617C-0144-4824-A624-C2377CEC271A}" srcId="{725B4E62-8F0C-4051-B2B0-A26D1C9FE463}" destId="{05641F02-7F30-4D14-8AFE-A2AF434F9CC0}" srcOrd="0" destOrd="0" parTransId="{17801B67-723B-4D8B-A741-1A7462BEE171}" sibTransId="{9BF91D01-09FD-4839-8D1F-216EA7BF0685}"/>
    <dgm:cxn modelId="{1EA9B7B0-7FFB-48DD-B629-3B6FD5DCBA0F}" type="presOf" srcId="{485D0394-DC0C-445F-B9B8-3F2EB8404CC2}" destId="{949CE003-F848-43BF-BE89-AF7F5FCA1074}" srcOrd="0" destOrd="0" presId="urn:microsoft.com/office/officeart/2008/layout/AlternatingPictureBlocks"/>
    <dgm:cxn modelId="{67AE92CD-648A-4FE1-9F2F-93329373C6CB}" type="presOf" srcId="{5A0F7603-0402-4D51-9ADE-F2505645278B}" destId="{A4F760F8-C716-4946-879C-7759457974D9}" srcOrd="0" destOrd="0" presId="urn:microsoft.com/office/officeart/2008/layout/AlternatingPictureBlocks"/>
    <dgm:cxn modelId="{66A601D2-4A16-4E15-85A5-60194114FBA2}" srcId="{725B4E62-8F0C-4051-B2B0-A26D1C9FE463}" destId="{5A0F7603-0402-4D51-9ADE-F2505645278B}" srcOrd="1" destOrd="0" parTransId="{94264571-05FC-45DF-9EEA-A683CF81D0D9}" sibTransId="{EA58B015-F5E0-4C23-BB23-A657D78D4152}"/>
    <dgm:cxn modelId="{109B1AC2-6AEB-4A5E-8CB5-64B97FFB8FE2}" type="presParOf" srcId="{788F04FB-EAEC-4260-9303-ED1143D49A04}" destId="{F1142377-37C9-4C88-A981-9374D2D73134}" srcOrd="0" destOrd="0" presId="urn:microsoft.com/office/officeart/2008/layout/AlternatingPictureBlocks"/>
    <dgm:cxn modelId="{19356D6E-B875-4E3F-8141-E2C7A15C1AC7}" type="presParOf" srcId="{F1142377-37C9-4C88-A981-9374D2D73134}" destId="{8AABDA8C-88E0-4E30-AD47-7BE37D0F337F}" srcOrd="0" destOrd="0" presId="urn:microsoft.com/office/officeart/2008/layout/AlternatingPictureBlocks"/>
    <dgm:cxn modelId="{96D39310-DB82-4940-AF27-644FA0916828}" type="presParOf" srcId="{F1142377-37C9-4C88-A981-9374D2D73134}" destId="{40A49AD7-8641-493C-924B-8E2CFD01503C}" srcOrd="1" destOrd="0" presId="urn:microsoft.com/office/officeart/2008/layout/AlternatingPictureBlocks"/>
    <dgm:cxn modelId="{A3C49F83-531F-453C-9E92-739992386179}" type="presParOf" srcId="{788F04FB-EAEC-4260-9303-ED1143D49A04}" destId="{B4837CDD-D75F-40A0-AED9-17A713A10BF5}" srcOrd="1" destOrd="0" presId="urn:microsoft.com/office/officeart/2008/layout/AlternatingPictureBlocks"/>
    <dgm:cxn modelId="{1EAB95D3-8692-4379-B243-C8B19D81C663}" type="presParOf" srcId="{788F04FB-EAEC-4260-9303-ED1143D49A04}" destId="{4AEAD64D-A444-445B-B346-3B2538020259}" srcOrd="2" destOrd="0" presId="urn:microsoft.com/office/officeart/2008/layout/AlternatingPictureBlocks"/>
    <dgm:cxn modelId="{B1DAF4EB-7837-42F2-8842-115631A51789}" type="presParOf" srcId="{4AEAD64D-A444-445B-B346-3B2538020259}" destId="{A4F760F8-C716-4946-879C-7759457974D9}" srcOrd="0" destOrd="0" presId="urn:microsoft.com/office/officeart/2008/layout/AlternatingPictureBlocks"/>
    <dgm:cxn modelId="{AE00AB6A-E177-470C-A97D-22657908EA4B}" type="presParOf" srcId="{4AEAD64D-A444-445B-B346-3B2538020259}" destId="{E8CFB239-675F-4FD1-9690-1F6161003E80}" srcOrd="1" destOrd="0" presId="urn:microsoft.com/office/officeart/2008/layout/AlternatingPictureBlocks"/>
    <dgm:cxn modelId="{35C74F7A-1959-409D-8EEB-2CE6E25AEEE7}" type="presParOf" srcId="{788F04FB-EAEC-4260-9303-ED1143D49A04}" destId="{4062CFA0-694F-46F8-AB8B-41D8BA1717FC}" srcOrd="3" destOrd="0" presId="urn:microsoft.com/office/officeart/2008/layout/AlternatingPictureBlocks"/>
    <dgm:cxn modelId="{63462E55-1676-45D3-AAE1-4BFF887D610B}" type="presParOf" srcId="{788F04FB-EAEC-4260-9303-ED1143D49A04}" destId="{94062FAD-0196-4C8B-AAAF-CE6F0EC0A963}" srcOrd="4" destOrd="0" presId="urn:microsoft.com/office/officeart/2008/layout/AlternatingPictureBlocks"/>
    <dgm:cxn modelId="{1E9AB9B1-01AB-4E74-8261-103ED397A4D4}" type="presParOf" srcId="{94062FAD-0196-4C8B-AAAF-CE6F0EC0A963}" destId="{949CE003-F848-43BF-BE89-AF7F5FCA1074}" srcOrd="0" destOrd="0" presId="urn:microsoft.com/office/officeart/2008/layout/AlternatingPictureBlocks"/>
    <dgm:cxn modelId="{557713C7-392D-4B25-8D21-C472F3AF8671}" type="presParOf" srcId="{94062FAD-0196-4C8B-AAAF-CE6F0EC0A963}" destId="{0047B9D9-0952-4536-A7A7-DE7D03E67F1F}" srcOrd="1" destOrd="0" presId="urn:microsoft.com/office/officeart/2008/layout/Alternating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780C42-6301-487A-9D66-6C0224EF998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87F14839-2743-47E6-85A0-04C4EE107F92}">
      <dgm:prSet custT="1"/>
      <dgm:spPr>
        <a:effectLst>
          <a:outerShdw blurRad="63500" sx="102000" sy="102000" algn="ctr" rotWithShape="0">
            <a:prstClr val="black">
              <a:alpha val="40000"/>
            </a:prstClr>
          </a:outerShdw>
        </a:effectLst>
      </dgm:spPr>
      <dgm:t>
        <a:bodyPr/>
        <a:lstStyle/>
        <a:p>
          <a:r>
            <a:rPr lang="en-US" sz="2400" b="1" dirty="0">
              <a:effectLst>
                <a:outerShdw blurRad="38100" dist="38100" dir="2700000" algn="tl">
                  <a:srgbClr val="000000">
                    <a:alpha val="43137"/>
                  </a:srgbClr>
                </a:outerShdw>
              </a:effectLst>
            </a:rPr>
            <a:t>Monotonic Loading</a:t>
          </a:r>
          <a:endParaRPr lang="en-US" sz="2400" dirty="0">
            <a:effectLst>
              <a:outerShdw blurRad="38100" dist="38100" dir="2700000" algn="tl">
                <a:srgbClr val="000000">
                  <a:alpha val="43137"/>
                </a:srgbClr>
              </a:outerShdw>
            </a:effectLst>
          </a:endParaRPr>
        </a:p>
      </dgm:t>
    </dgm:pt>
    <dgm:pt modelId="{506D4B0C-6186-4A5D-93F5-E06889FE7068}" type="parTrans" cxnId="{E5017BA5-82A0-4171-AF9A-CD4AB7D8FD5D}">
      <dgm:prSet/>
      <dgm:spPr/>
      <dgm:t>
        <a:bodyPr/>
        <a:lstStyle/>
        <a:p>
          <a:endParaRPr lang="en-US"/>
        </a:p>
      </dgm:t>
    </dgm:pt>
    <dgm:pt modelId="{0E5E7D87-15EB-4BE6-9B26-CFEBFADA0D9A}" type="sibTrans" cxnId="{E5017BA5-82A0-4171-AF9A-CD4AB7D8FD5D}">
      <dgm:prSet/>
      <dgm:spPr/>
      <dgm:t>
        <a:bodyPr/>
        <a:lstStyle/>
        <a:p>
          <a:endParaRPr lang="en-US"/>
        </a:p>
      </dgm:t>
    </dgm:pt>
    <dgm:pt modelId="{54877F1B-CC0B-4319-AC25-F55D204D9B92}">
      <dgm:prSet custT="1"/>
      <dgm:spPr/>
      <dgm:t>
        <a:bodyPr/>
        <a:lstStyle/>
        <a:p>
          <a:endParaRPr lang="en-US" sz="1800" dirty="0"/>
        </a:p>
      </dgm:t>
    </dgm:pt>
    <dgm:pt modelId="{75228BAD-90C4-478B-9FD0-2F1D21E12B74}" type="parTrans" cxnId="{B08DC0DB-55CD-4654-95C6-2C3F351AFFC7}">
      <dgm:prSet/>
      <dgm:spPr/>
      <dgm:t>
        <a:bodyPr/>
        <a:lstStyle/>
        <a:p>
          <a:endParaRPr lang="en-US"/>
        </a:p>
      </dgm:t>
    </dgm:pt>
    <dgm:pt modelId="{A3FA093D-BF75-4C0D-8700-63B804B773BB}" type="sibTrans" cxnId="{B08DC0DB-55CD-4654-95C6-2C3F351AFFC7}">
      <dgm:prSet/>
      <dgm:spPr/>
      <dgm:t>
        <a:bodyPr/>
        <a:lstStyle/>
        <a:p>
          <a:endParaRPr lang="en-US"/>
        </a:p>
      </dgm:t>
    </dgm:pt>
    <dgm:pt modelId="{262F0287-22D6-4134-B889-A474BF0CFDDA}" type="pres">
      <dgm:prSet presAssocID="{55780C42-6301-487A-9D66-6C0224EF9988}" presName="linear" presStyleCnt="0">
        <dgm:presLayoutVars>
          <dgm:animLvl val="lvl"/>
          <dgm:resizeHandles val="exact"/>
        </dgm:presLayoutVars>
      </dgm:prSet>
      <dgm:spPr/>
    </dgm:pt>
    <dgm:pt modelId="{C07C3816-44C0-4328-951B-BE0382AC9178}" type="pres">
      <dgm:prSet presAssocID="{87F14839-2743-47E6-85A0-04C4EE107F92}" presName="parentText" presStyleLbl="node1" presStyleIdx="0" presStyleCnt="1" custLinFactNeighborY="21570">
        <dgm:presLayoutVars>
          <dgm:chMax val="0"/>
          <dgm:bulletEnabled val="1"/>
        </dgm:presLayoutVars>
      </dgm:prSet>
      <dgm:spPr/>
    </dgm:pt>
    <dgm:pt modelId="{5EF16383-B3EE-42F0-A1C1-72346914A364}" type="pres">
      <dgm:prSet presAssocID="{87F14839-2743-47E6-85A0-04C4EE107F92}" presName="childText" presStyleLbl="revTx" presStyleIdx="0" presStyleCnt="1">
        <dgm:presLayoutVars>
          <dgm:bulletEnabled val="1"/>
        </dgm:presLayoutVars>
      </dgm:prSet>
      <dgm:spPr/>
    </dgm:pt>
  </dgm:ptLst>
  <dgm:cxnLst>
    <dgm:cxn modelId="{BC498314-6E02-478F-B315-1001478A00B4}" type="presOf" srcId="{55780C42-6301-487A-9D66-6C0224EF9988}" destId="{262F0287-22D6-4134-B889-A474BF0CFDDA}" srcOrd="0" destOrd="0" presId="urn:microsoft.com/office/officeart/2005/8/layout/vList2"/>
    <dgm:cxn modelId="{0225F818-C4A3-41EA-98C9-30C318774EED}" type="presOf" srcId="{54877F1B-CC0B-4319-AC25-F55D204D9B92}" destId="{5EF16383-B3EE-42F0-A1C1-72346914A364}" srcOrd="0" destOrd="0" presId="urn:microsoft.com/office/officeart/2005/8/layout/vList2"/>
    <dgm:cxn modelId="{E5017BA5-82A0-4171-AF9A-CD4AB7D8FD5D}" srcId="{55780C42-6301-487A-9D66-6C0224EF9988}" destId="{87F14839-2743-47E6-85A0-04C4EE107F92}" srcOrd="0" destOrd="0" parTransId="{506D4B0C-6186-4A5D-93F5-E06889FE7068}" sibTransId="{0E5E7D87-15EB-4BE6-9B26-CFEBFADA0D9A}"/>
    <dgm:cxn modelId="{B08DC0DB-55CD-4654-95C6-2C3F351AFFC7}" srcId="{87F14839-2743-47E6-85A0-04C4EE107F92}" destId="{54877F1B-CC0B-4319-AC25-F55D204D9B92}" srcOrd="0" destOrd="0" parTransId="{75228BAD-90C4-478B-9FD0-2F1D21E12B74}" sibTransId="{A3FA093D-BF75-4C0D-8700-63B804B773BB}"/>
    <dgm:cxn modelId="{D0659EEA-C3E8-4379-B996-89C1A540CBD4}" type="presOf" srcId="{87F14839-2743-47E6-85A0-04C4EE107F92}" destId="{C07C3816-44C0-4328-951B-BE0382AC9178}" srcOrd="0" destOrd="0" presId="urn:microsoft.com/office/officeart/2005/8/layout/vList2"/>
    <dgm:cxn modelId="{47AB4304-F8D9-4B34-94DF-B82672C6FF28}" type="presParOf" srcId="{262F0287-22D6-4134-B889-A474BF0CFDDA}" destId="{C07C3816-44C0-4328-951B-BE0382AC9178}" srcOrd="0" destOrd="0" presId="urn:microsoft.com/office/officeart/2005/8/layout/vList2"/>
    <dgm:cxn modelId="{6D87EA62-4F77-439B-B194-7E1C79C7065D}" type="presParOf" srcId="{262F0287-22D6-4134-B889-A474BF0CFDDA}" destId="{5EF16383-B3EE-42F0-A1C1-72346914A36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C1CD83E-DFCE-47D1-9ADC-FD99EA5A7290}"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B5122B48-6D24-4FEF-B8DB-ACB7D306D632}">
      <dgm:prSet custT="1"/>
      <dgm:spPr/>
      <dgm:t>
        <a:bodyPr/>
        <a:lstStyle/>
        <a:p>
          <a:r>
            <a:rPr lang="en-US" sz="1600" dirty="0">
              <a:effectLst>
                <a:outerShdw blurRad="38100" dist="38100" dir="2700000" algn="tl">
                  <a:srgbClr val="000000">
                    <a:alpha val="43137"/>
                  </a:srgbClr>
                </a:outerShdw>
              </a:effectLst>
            </a:rPr>
            <a:t>Elastic Region Analysis</a:t>
          </a:r>
        </a:p>
      </dgm:t>
    </dgm:pt>
    <dgm:pt modelId="{19D26F7C-C111-46E6-B57A-5B6558D4E4CF}" type="parTrans" cxnId="{E6D39181-10FB-4704-8A34-7491014011F4}">
      <dgm:prSet/>
      <dgm:spPr/>
      <dgm:t>
        <a:bodyPr/>
        <a:lstStyle/>
        <a:p>
          <a:endParaRPr lang="en-US"/>
        </a:p>
      </dgm:t>
    </dgm:pt>
    <dgm:pt modelId="{21131812-1813-43CA-97D7-9128E4FD898A}" type="sibTrans" cxnId="{E6D39181-10FB-4704-8A34-7491014011F4}">
      <dgm:prSet/>
      <dgm:spPr/>
      <dgm:t>
        <a:bodyPr/>
        <a:lstStyle/>
        <a:p>
          <a:endParaRPr lang="en-US"/>
        </a:p>
      </dgm:t>
    </dgm:pt>
    <dgm:pt modelId="{A9441FDB-039B-4E06-A2BB-701D6BDCF42C}">
      <dgm:prSet custT="1"/>
      <dgm:spPr/>
      <dgm:t>
        <a:bodyPr/>
        <a:lstStyle/>
        <a:p>
          <a:endParaRPr lang="en-US" sz="1600" dirty="0">
            <a:effectLst>
              <a:outerShdw blurRad="38100" dist="38100" dir="2700000" algn="tl">
                <a:srgbClr val="000000">
                  <a:alpha val="43137"/>
                </a:srgbClr>
              </a:outerShdw>
            </a:effectLst>
          </a:endParaRPr>
        </a:p>
      </dgm:t>
    </dgm:pt>
    <dgm:pt modelId="{9A114420-D8A4-435D-932C-409CBCFE5DC2}" type="parTrans" cxnId="{4F26FAD8-6EAA-4B26-B185-8F1CF6268C28}">
      <dgm:prSet/>
      <dgm:spPr/>
      <dgm:t>
        <a:bodyPr/>
        <a:lstStyle/>
        <a:p>
          <a:endParaRPr lang="en-US"/>
        </a:p>
      </dgm:t>
    </dgm:pt>
    <dgm:pt modelId="{349CE1CA-8EDD-441A-BC4B-96DA651F2681}" type="sibTrans" cxnId="{4F26FAD8-6EAA-4B26-B185-8F1CF6268C28}">
      <dgm:prSet/>
      <dgm:spPr/>
      <dgm:t>
        <a:bodyPr/>
        <a:lstStyle/>
        <a:p>
          <a:endParaRPr lang="en-US"/>
        </a:p>
      </dgm:t>
    </dgm:pt>
    <dgm:pt modelId="{490C83CD-282B-471F-A297-030EF8124A33}">
      <dgm:prSet/>
      <dgm:spPr/>
      <dgm:t>
        <a:bodyPr/>
        <a:lstStyle/>
        <a:p>
          <a:endParaRPr lang="en-US" dirty="0">
            <a:effectLst/>
          </a:endParaRPr>
        </a:p>
      </dgm:t>
    </dgm:pt>
    <dgm:pt modelId="{93FE4C2F-618F-432D-A121-1BFD924C7808}" type="parTrans" cxnId="{6A9731B6-6D53-44B8-891B-1CB34900E492}">
      <dgm:prSet/>
      <dgm:spPr/>
      <dgm:t>
        <a:bodyPr/>
        <a:lstStyle/>
        <a:p>
          <a:endParaRPr lang="en-US"/>
        </a:p>
      </dgm:t>
    </dgm:pt>
    <dgm:pt modelId="{F99714D9-3249-41D1-8E99-1C2641A06755}" type="sibTrans" cxnId="{6A9731B6-6D53-44B8-891B-1CB34900E492}">
      <dgm:prSet/>
      <dgm:spPr/>
      <dgm:t>
        <a:bodyPr/>
        <a:lstStyle/>
        <a:p>
          <a:endParaRPr lang="en-US"/>
        </a:p>
      </dgm:t>
    </dgm:pt>
    <dgm:pt modelId="{3772FC91-D193-4E20-928C-BE92C3EE2EAE}">
      <dgm:prSet/>
      <dgm:spPr/>
      <dgm:t>
        <a:bodyPr/>
        <a:lstStyle/>
        <a:p>
          <a:pPr>
            <a:buFont typeface="Arial" panose="020B0604020202020204" pitchFamily="34" charset="0"/>
            <a:buChar char="•"/>
          </a:pPr>
          <a:r>
            <a:rPr lang="en-US" dirty="0">
              <a:effectLst/>
            </a:rPr>
            <a:t>Determine elastic region</a:t>
          </a:r>
        </a:p>
      </dgm:t>
    </dgm:pt>
    <dgm:pt modelId="{BF5BED14-6466-4760-8815-DD6F47ECA3A4}" type="parTrans" cxnId="{A456A1FB-378D-4CED-AE93-3DB453721E98}">
      <dgm:prSet/>
      <dgm:spPr/>
      <dgm:t>
        <a:bodyPr/>
        <a:lstStyle/>
        <a:p>
          <a:endParaRPr lang="en-US"/>
        </a:p>
      </dgm:t>
    </dgm:pt>
    <dgm:pt modelId="{78D16235-E127-4752-A278-53372BA8BCD8}" type="sibTrans" cxnId="{A456A1FB-378D-4CED-AE93-3DB453721E98}">
      <dgm:prSet/>
      <dgm:spPr/>
      <dgm:t>
        <a:bodyPr/>
        <a:lstStyle/>
        <a:p>
          <a:endParaRPr lang="en-US"/>
        </a:p>
      </dgm:t>
    </dgm:pt>
    <dgm:pt modelId="{84DCB1B6-59ED-48EC-B501-9A19F59C05F6}">
      <dgm:prSet/>
      <dgm:spPr/>
      <dgm:t>
        <a:bodyPr/>
        <a:lstStyle/>
        <a:p>
          <a:pPr>
            <a:buFont typeface="Arial" panose="020B0604020202020204" pitchFamily="34" charset="0"/>
            <a:buChar char="•"/>
          </a:pPr>
          <a:r>
            <a:rPr lang="en-US" dirty="0">
              <a:effectLst/>
            </a:rPr>
            <a:t>Determine Elastic Modulus from linear fit</a:t>
          </a:r>
        </a:p>
      </dgm:t>
    </dgm:pt>
    <dgm:pt modelId="{1BF46831-A72C-4762-ADD5-4058B89503D5}" type="parTrans" cxnId="{7754224A-9453-42D5-BCEB-251147B48925}">
      <dgm:prSet/>
      <dgm:spPr/>
      <dgm:t>
        <a:bodyPr/>
        <a:lstStyle/>
        <a:p>
          <a:endParaRPr lang="en-US"/>
        </a:p>
      </dgm:t>
    </dgm:pt>
    <dgm:pt modelId="{48EAD43F-72EC-417F-8DDD-FCCDFA9A49C7}" type="sibTrans" cxnId="{7754224A-9453-42D5-BCEB-251147B48925}">
      <dgm:prSet/>
      <dgm:spPr/>
      <dgm:t>
        <a:bodyPr/>
        <a:lstStyle/>
        <a:p>
          <a:endParaRPr lang="en-US"/>
        </a:p>
      </dgm:t>
    </dgm:pt>
    <dgm:pt modelId="{9CFE6212-E71D-4B07-B357-BE6CD2FEC5A5}">
      <dgm:prSet/>
      <dgm:spPr/>
      <dgm:t>
        <a:bodyPr/>
        <a:lstStyle/>
        <a:p>
          <a:pPr>
            <a:buFont typeface="Arial" panose="020B0604020202020204" pitchFamily="34" charset="0"/>
            <a:buChar char="•"/>
          </a:pPr>
          <a:r>
            <a:rPr lang="en-US" dirty="0">
              <a:effectLst/>
            </a:rPr>
            <a:t>Construct 0.2% Offset</a:t>
          </a:r>
        </a:p>
      </dgm:t>
    </dgm:pt>
    <dgm:pt modelId="{B2170012-236F-4853-A1C4-463B07A2DCEB}" type="parTrans" cxnId="{C76BE1CE-53F5-4A0E-981B-7D1CB00CBD31}">
      <dgm:prSet/>
      <dgm:spPr/>
      <dgm:t>
        <a:bodyPr/>
        <a:lstStyle/>
        <a:p>
          <a:endParaRPr lang="en-US"/>
        </a:p>
      </dgm:t>
    </dgm:pt>
    <dgm:pt modelId="{AB8DC3B7-ED95-4A5C-88C9-D072FA3ABF01}" type="sibTrans" cxnId="{C76BE1CE-53F5-4A0E-981B-7D1CB00CBD31}">
      <dgm:prSet/>
      <dgm:spPr/>
      <dgm:t>
        <a:bodyPr/>
        <a:lstStyle/>
        <a:p>
          <a:endParaRPr lang="en-US"/>
        </a:p>
      </dgm:t>
    </dgm:pt>
    <mc:AlternateContent xmlns:mc="http://schemas.openxmlformats.org/markup-compatibility/2006" xmlns:a14="http://schemas.microsoft.com/office/drawing/2010/main">
      <mc:Choice Requires="a14">
        <dgm:pt modelId="{36000A1A-FC04-4E10-BAA8-1D6F1122CB97}">
          <dgm:prSet/>
          <dgm:spPr/>
          <dgm:t>
            <a:bodyPr/>
            <a:lstStyle/>
            <a:p>
              <a:pPr>
                <a:buFont typeface="Arial" panose="020B0604020202020204" pitchFamily="34" charset="0"/>
                <a:buChar char="•"/>
              </a:pPr>
              <a:r>
                <a:rPr lang="en-US" dirty="0">
                  <a:effectLst/>
                </a:rPr>
                <a:t>Determine initial yield point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𝜎</m:t>
                      </m:r>
                    </m:e>
                    <m:sub>
                      <m:r>
                        <a:rPr lang="en-US" b="0" i="1" smtClean="0">
                          <a:effectLst/>
                          <a:latin typeface="Cambria Math" panose="02040503050406030204" pitchFamily="18" charset="0"/>
                        </a:rPr>
                        <m:t>𝑦𝑜</m:t>
                      </m:r>
                    </m:sub>
                  </m:sSub>
                </m:oMath>
              </a14:m>
              <a:endParaRPr lang="en-US" dirty="0">
                <a:effectLst/>
              </a:endParaRPr>
            </a:p>
          </dgm:t>
        </dgm:pt>
      </mc:Choice>
      <mc:Fallback xmlns="">
        <dgm:pt modelId="{36000A1A-FC04-4E10-BAA8-1D6F1122CB97}">
          <dgm:prSet/>
          <dgm:spPr/>
          <dgm:t>
            <a:bodyPr/>
            <a:lstStyle/>
            <a:p>
              <a:pPr>
                <a:buFont typeface="Arial" panose="020B0604020202020204" pitchFamily="34" charset="0"/>
                <a:buChar char="•"/>
              </a:pPr>
              <a:r>
                <a:rPr lang="en-US" dirty="0">
                  <a:effectLst/>
                </a:rPr>
                <a:t>Determine initial yield point </a:t>
              </a:r>
              <a:r>
                <a:rPr lang="en-US" b="0" i="0">
                  <a:effectLst/>
                  <a:latin typeface="Cambria Math" panose="02040503050406030204" pitchFamily="18" charset="0"/>
                </a:rPr>
                <a:t>𝜎_𝑦𝑜</a:t>
              </a:r>
              <a:endParaRPr lang="en-US" dirty="0">
                <a:effectLst/>
              </a:endParaRPr>
            </a:p>
          </dgm:t>
        </dgm:pt>
      </mc:Fallback>
    </mc:AlternateContent>
    <dgm:pt modelId="{EEDE633F-A6CC-4EAE-BF44-7305ABC9F711}" type="parTrans" cxnId="{1EAB77C1-3E5A-4983-92E1-667301CAAB9F}">
      <dgm:prSet/>
      <dgm:spPr/>
      <dgm:t>
        <a:bodyPr/>
        <a:lstStyle/>
        <a:p>
          <a:endParaRPr lang="en-US"/>
        </a:p>
      </dgm:t>
    </dgm:pt>
    <dgm:pt modelId="{FDEAFB16-B403-449C-AF3C-F79FF5589BCE}" type="sibTrans" cxnId="{1EAB77C1-3E5A-4983-92E1-667301CAAB9F}">
      <dgm:prSet/>
      <dgm:spPr/>
      <dgm:t>
        <a:bodyPr/>
        <a:lstStyle/>
        <a:p>
          <a:endParaRPr lang="en-US"/>
        </a:p>
      </dgm:t>
    </dgm:pt>
    <mc:AlternateContent xmlns:mc="http://schemas.openxmlformats.org/markup-compatibility/2006" xmlns:a14="http://schemas.microsoft.com/office/drawing/2010/main">
      <mc:Choice Requires="a14">
        <dgm:pt modelId="{03053076-D2A3-4B64-B837-895CA0266FFE}">
          <dgm:prSet/>
          <dgm:spPr/>
          <dgm:t>
            <a:bodyPr/>
            <a:lstStyle/>
            <a:p>
              <a:r>
                <a:rPr lang="en-US" dirty="0">
                  <a:effectLst/>
                  <a:latin typeface="+mn-lt"/>
                </a:rPr>
                <a:t>Determine </a:t>
              </a:r>
              <a14:m>
                <m:oMath xmlns:m="http://schemas.openxmlformats.org/officeDocument/2006/math">
                  <m:r>
                    <a:rPr lang="en-US" b="0" i="1" smtClean="0">
                      <a:effectLst/>
                      <a:latin typeface="Cambria Math" panose="02040503050406030204" pitchFamily="18" charset="0"/>
                    </a:rPr>
                    <m:t>𝐾</m:t>
                  </m:r>
                  <m:r>
                    <a:rPr lang="en-US" b="0" i="1" smtClean="0">
                      <a:effectLst/>
                      <a:latin typeface="Cambria Math" panose="02040503050406030204" pitchFamily="18" charset="0"/>
                    </a:rPr>
                    <m:t> </m:t>
                  </m:r>
                  <m:r>
                    <a:rPr lang="en-US" b="0" i="1" smtClean="0">
                      <a:effectLst/>
                      <a:latin typeface="Cambria Math" panose="02040503050406030204" pitchFamily="18" charset="0"/>
                    </a:rPr>
                    <m:t>𝑎𝑛𝑑</m:t>
                  </m:r>
                  <m:r>
                    <a:rPr lang="en-US" b="0" i="1" smtClean="0">
                      <a:effectLst/>
                      <a:latin typeface="Cambria Math" panose="02040503050406030204" pitchFamily="18" charset="0"/>
                    </a:rPr>
                    <m:t> </m:t>
                  </m:r>
                  <m:r>
                    <a:rPr lang="en-US" b="0" i="1" smtClean="0">
                      <a:effectLst/>
                      <a:latin typeface="Cambria Math" panose="02040503050406030204" pitchFamily="18" charset="0"/>
                    </a:rPr>
                    <m:t>𝑛</m:t>
                  </m:r>
                </m:oMath>
              </a14:m>
              <a:r>
                <a:rPr lang="en-US" dirty="0">
                  <a:effectLst/>
                  <a:latin typeface="+mn-lt"/>
                </a:rPr>
                <a:t> for Hollomon, Ludwik and Ramberg-Osgood</a:t>
              </a:r>
            </a:p>
          </dgm:t>
        </dgm:pt>
      </mc:Choice>
      <mc:Fallback xmlns="">
        <dgm:pt modelId="{03053076-D2A3-4B64-B837-895CA0266FFE}">
          <dgm:prSet/>
          <dgm:spPr/>
          <dgm:t>
            <a:bodyPr/>
            <a:lstStyle/>
            <a:p>
              <a:r>
                <a:rPr lang="en-US" dirty="0">
                  <a:effectLst/>
                  <a:latin typeface="+mn-lt"/>
                </a:rPr>
                <a:t>Determine </a:t>
              </a:r>
              <a:r>
                <a:rPr lang="en-US" b="0" i="0">
                  <a:effectLst/>
                  <a:latin typeface="Cambria Math" panose="02040503050406030204" pitchFamily="18" charset="0"/>
                </a:rPr>
                <a:t>𝐾 𝑎𝑛𝑑 𝑛</a:t>
              </a:r>
              <a:r>
                <a:rPr lang="en-US" dirty="0">
                  <a:effectLst/>
                  <a:latin typeface="+mn-lt"/>
                </a:rPr>
                <a:t> for Hollomon, Ludwik and Ramberg-Osgood</a:t>
              </a:r>
            </a:p>
          </dgm:t>
        </dgm:pt>
      </mc:Fallback>
    </mc:AlternateContent>
    <dgm:pt modelId="{CB366A24-C072-4DBE-A357-011CF4DEC249}" type="parTrans" cxnId="{8DD8CE38-3A52-427A-8D74-1CDE714D8B19}">
      <dgm:prSet/>
      <dgm:spPr/>
      <dgm:t>
        <a:bodyPr/>
        <a:lstStyle/>
        <a:p>
          <a:endParaRPr lang="en-US"/>
        </a:p>
      </dgm:t>
    </dgm:pt>
    <dgm:pt modelId="{F378BE63-566A-454E-9EE1-D2A8661DB405}" type="sibTrans" cxnId="{8DD8CE38-3A52-427A-8D74-1CDE714D8B19}">
      <dgm:prSet/>
      <dgm:spPr/>
      <dgm:t>
        <a:bodyPr/>
        <a:lstStyle/>
        <a:p>
          <a:endParaRPr lang="en-US"/>
        </a:p>
      </dgm:t>
    </dgm:pt>
    <mc:AlternateContent xmlns:mc="http://schemas.openxmlformats.org/markup-compatibility/2006" xmlns:a14="http://schemas.microsoft.com/office/drawing/2010/main">
      <mc:Choice Requires="a14">
        <dgm:pt modelId="{1B084856-22E5-4839-8489-A61AB11665D1}">
          <dgm:prSet/>
          <dgm:spPr/>
          <dgm:t>
            <a:bodyPr/>
            <a:lstStyle/>
            <a:p>
              <a:r>
                <a:rPr lang="en-US" dirty="0">
                  <a:effectLst/>
                  <a:latin typeface="+mn-lt"/>
                </a:rPr>
                <a:t>Determine </a:t>
              </a:r>
              <a14:m>
                <m:oMath xmlns:m="http://schemas.openxmlformats.org/officeDocument/2006/math">
                  <m:sSub>
                    <m:sSubPr>
                      <m:ctrlPr>
                        <a:rPr lang="en-US" b="0" i="1" smtClean="0">
                          <a:effectLst/>
                          <a:latin typeface="Cambria Math" panose="02040503050406030204" pitchFamily="18" charset="0"/>
                          <a:ea typeface="Cambria Math" panose="02040503050406030204" pitchFamily="18" charset="0"/>
                        </a:rPr>
                      </m:ctrlPr>
                    </m:sSubPr>
                    <m:e>
                      <m:r>
                        <a:rPr lang="en-US" i="1" smtClean="0">
                          <a:effectLst/>
                          <a:latin typeface="Cambria Math" panose="02040503050406030204" pitchFamily="18" charset="0"/>
                          <a:ea typeface="Cambria Math" panose="02040503050406030204" pitchFamily="18" charset="0"/>
                        </a:rPr>
                        <m:t>𝜀</m:t>
                      </m:r>
                    </m:e>
                    <m:sub>
                      <m:r>
                        <a:rPr lang="en-US" b="0" i="1" smtClean="0">
                          <a:effectLst/>
                          <a:latin typeface="Cambria Math" panose="02040503050406030204" pitchFamily="18" charset="0"/>
                          <a:ea typeface="Cambria Math" panose="02040503050406030204" pitchFamily="18" charset="0"/>
                        </a:rPr>
                        <m:t>0</m:t>
                      </m:r>
                    </m:sub>
                  </m:sSub>
                  <m:r>
                    <a:rPr lang="en-US" b="0" i="1" smtClean="0">
                      <a:effectLst/>
                      <a:latin typeface="Cambria Math" panose="02040503050406030204" pitchFamily="18" charset="0"/>
                      <a:ea typeface="Cambria Math" panose="02040503050406030204" pitchFamily="18" charset="0"/>
                    </a:rPr>
                    <m:t>, </m:t>
                  </m:r>
                  <m:r>
                    <a:rPr lang="en-US" b="0" i="1" smtClean="0">
                      <a:effectLst/>
                      <a:latin typeface="Cambria Math" panose="02040503050406030204" pitchFamily="18" charset="0"/>
                      <a:ea typeface="Cambria Math" panose="02040503050406030204" pitchFamily="18" charset="0"/>
                    </a:rPr>
                    <m:t>𝐾</m:t>
                  </m:r>
                  <m:r>
                    <a:rPr lang="en-US" b="0" i="1"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𝑛</m:t>
                  </m:r>
                </m:oMath>
              </a14:m>
              <a:r>
                <a:rPr lang="en-US" dirty="0">
                  <a:effectLst/>
                  <a:latin typeface="+mn-lt"/>
                </a:rPr>
                <a:t> for swift</a:t>
              </a:r>
            </a:p>
          </dgm:t>
        </dgm:pt>
      </mc:Choice>
      <mc:Fallback xmlns="">
        <dgm:pt modelId="{1B084856-22E5-4839-8489-A61AB11665D1}">
          <dgm:prSet/>
          <dgm:spPr/>
          <dgm:t>
            <a:bodyPr/>
            <a:lstStyle/>
            <a:p>
              <a:r>
                <a:rPr lang="en-US" dirty="0">
                  <a:effectLst/>
                  <a:latin typeface="+mn-lt"/>
                </a:rPr>
                <a:t>Determine </a:t>
              </a:r>
              <a:r>
                <a:rPr lang="en-US" i="0">
                  <a:effectLst/>
                  <a:latin typeface="Cambria Math" panose="02040503050406030204" pitchFamily="18" charset="0"/>
                  <a:ea typeface="Cambria Math" panose="02040503050406030204" pitchFamily="18" charset="0"/>
                </a:rPr>
                <a:t>𝜀</a:t>
              </a:r>
              <a:r>
                <a:rPr lang="en-US" b="0" i="0">
                  <a:effectLst/>
                  <a:latin typeface="Cambria Math" panose="02040503050406030204" pitchFamily="18" charset="0"/>
                  <a:ea typeface="Cambria Math" panose="02040503050406030204" pitchFamily="18" charset="0"/>
                </a:rPr>
                <a:t>_0, 𝐾,𝑛</a:t>
              </a:r>
              <a:r>
                <a:rPr lang="en-US" dirty="0">
                  <a:effectLst/>
                  <a:latin typeface="+mn-lt"/>
                </a:rPr>
                <a:t> for swift</a:t>
              </a:r>
            </a:p>
          </dgm:t>
        </dgm:pt>
      </mc:Fallback>
    </mc:AlternateContent>
    <dgm:pt modelId="{6C452265-11B5-4A9E-8FF5-B0F0A83C0B24}" type="parTrans" cxnId="{A0739AE2-AA25-4FEC-A1F3-33FD70F1E626}">
      <dgm:prSet/>
      <dgm:spPr/>
      <dgm:t>
        <a:bodyPr/>
        <a:lstStyle/>
        <a:p>
          <a:endParaRPr lang="en-US"/>
        </a:p>
      </dgm:t>
    </dgm:pt>
    <dgm:pt modelId="{74CA9A1F-6ECD-496F-8058-C1A645467326}" type="sibTrans" cxnId="{A0739AE2-AA25-4FEC-A1F3-33FD70F1E626}">
      <dgm:prSet/>
      <dgm:spPr/>
      <dgm:t>
        <a:bodyPr/>
        <a:lstStyle/>
        <a:p>
          <a:endParaRPr lang="en-US"/>
        </a:p>
      </dgm:t>
    </dgm:pt>
    <mc:AlternateContent xmlns:mc="http://schemas.openxmlformats.org/markup-compatibility/2006" xmlns:a14="http://schemas.microsoft.com/office/drawing/2010/main">
      <mc:Choice Requires="a14">
        <dgm:pt modelId="{E4D34923-2426-4480-A125-983331E1AE45}">
          <dgm:prSet/>
          <dgm:spPr/>
          <dgm:t>
            <a:bodyPr/>
            <a:lstStyle/>
            <a:p>
              <a:r>
                <a:rPr lang="en-US" dirty="0">
                  <a:effectLst/>
                  <a:latin typeface="+mn-lt"/>
                </a:rPr>
                <a:t>Determine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𝜎</m:t>
                      </m:r>
                    </m:e>
                    <m:sub>
                      <m:r>
                        <a:rPr lang="en-US" b="0" i="1" smtClean="0">
                          <a:effectLst/>
                          <a:latin typeface="Cambria Math" panose="02040503050406030204" pitchFamily="18" charset="0"/>
                        </a:rPr>
                        <m:t>𝑠</m:t>
                      </m:r>
                    </m:sub>
                  </m:sSub>
                  <m:r>
                    <a:rPr lang="en-US" b="0" i="1" smtClean="0">
                      <a:effectLst/>
                      <a:latin typeface="Cambria Math" panose="02040503050406030204" pitchFamily="18" charset="0"/>
                    </a:rPr>
                    <m:t> </m:t>
                  </m:r>
                  <m:r>
                    <a:rPr lang="en-US" b="0" i="1" smtClean="0">
                      <a:effectLst/>
                      <a:latin typeface="Cambria Math" panose="02040503050406030204" pitchFamily="18" charset="0"/>
                    </a:rPr>
                    <m:t>𝑎𝑛𝑑</m:t>
                  </m:r>
                  <m:r>
                    <a:rPr lang="en-US" b="0" i="1" smtClean="0">
                      <a:effectLst/>
                      <a:latin typeface="Cambria Math" panose="02040503050406030204" pitchFamily="18" charset="0"/>
                    </a:rPr>
                    <m:t> </m:t>
                  </m:r>
                  <m:r>
                    <a:rPr lang="en-US" b="0" i="1" smtClean="0">
                      <a:effectLst/>
                      <a:latin typeface="Cambria Math" panose="02040503050406030204" pitchFamily="18" charset="0"/>
                    </a:rPr>
                    <m:t>𝛽</m:t>
                  </m:r>
                </m:oMath>
              </a14:m>
              <a:r>
                <a:rPr lang="en-US" dirty="0">
                  <a:effectLst/>
                  <a:latin typeface="+mn-lt"/>
                </a:rPr>
                <a:t> for Voce</a:t>
              </a:r>
            </a:p>
          </dgm:t>
        </dgm:pt>
      </mc:Choice>
      <mc:Fallback xmlns="">
        <dgm:pt modelId="{E4D34923-2426-4480-A125-983331E1AE45}">
          <dgm:prSet/>
          <dgm:spPr/>
          <dgm:t>
            <a:bodyPr/>
            <a:lstStyle/>
            <a:p>
              <a:r>
                <a:rPr lang="en-US" dirty="0">
                  <a:effectLst/>
                  <a:latin typeface="+mn-lt"/>
                </a:rPr>
                <a:t>Determine </a:t>
              </a:r>
              <a:r>
                <a:rPr lang="en-US" b="0" i="0">
                  <a:effectLst/>
                  <a:latin typeface="Cambria Math" panose="02040503050406030204" pitchFamily="18" charset="0"/>
                </a:rPr>
                <a:t>𝜎_𝑠  𝑎𝑛𝑑 𝛽</a:t>
              </a:r>
              <a:r>
                <a:rPr lang="en-US" dirty="0">
                  <a:effectLst/>
                  <a:latin typeface="+mn-lt"/>
                </a:rPr>
                <a:t> for Voce</a:t>
              </a:r>
            </a:p>
          </dgm:t>
        </dgm:pt>
      </mc:Fallback>
    </mc:AlternateContent>
    <dgm:pt modelId="{EC1CC1D3-C650-447B-9D92-40093841145F}" type="parTrans" cxnId="{4639FB00-B8CA-449E-B029-8C7B6A4CC4EB}">
      <dgm:prSet/>
      <dgm:spPr/>
      <dgm:t>
        <a:bodyPr/>
        <a:lstStyle/>
        <a:p>
          <a:endParaRPr lang="en-US"/>
        </a:p>
      </dgm:t>
    </dgm:pt>
    <dgm:pt modelId="{56BD7074-A8D7-45F6-8B75-6E7321BA7E12}" type="sibTrans" cxnId="{4639FB00-B8CA-449E-B029-8C7B6A4CC4EB}">
      <dgm:prSet/>
      <dgm:spPr/>
      <dgm:t>
        <a:bodyPr/>
        <a:lstStyle/>
        <a:p>
          <a:endParaRPr lang="en-US"/>
        </a:p>
      </dgm:t>
    </dgm:pt>
    <mc:AlternateContent xmlns:mc="http://schemas.openxmlformats.org/markup-compatibility/2006" xmlns:a14="http://schemas.microsoft.com/office/drawing/2010/main">
      <mc:Choice Requires="a14">
        <dgm:pt modelId="{6AB32B6C-F367-48EB-B7CC-D88826036F8E}">
          <dgm:prSet/>
          <dgm:spPr/>
          <dgm:t>
            <a:bodyPr/>
            <a:lstStyle/>
            <a:p>
              <a:r>
                <a:rPr lang="en-US" dirty="0">
                  <a:effectLst/>
                  <a:latin typeface="+mn-lt"/>
                </a:rPr>
                <a:t>Determine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𝜎</m:t>
                      </m:r>
                    </m:e>
                    <m:sub>
                      <m:r>
                        <a:rPr lang="en-US" b="0" i="1" smtClean="0">
                          <a:effectLst/>
                          <a:latin typeface="Cambria Math" panose="02040503050406030204" pitchFamily="18" charset="0"/>
                        </a:rPr>
                        <m:t>𝑠</m:t>
                      </m:r>
                    </m:sub>
                  </m:sSub>
                  <m:r>
                    <a:rPr lang="en-US" b="0" i="1" smtClean="0">
                      <a:effectLst/>
                      <a:latin typeface="Cambria Math" panose="02040503050406030204" pitchFamily="18" charset="0"/>
                      <a:ea typeface="Cambria Math" panose="02040503050406030204" pitchFamily="18" charset="0"/>
                    </a:rPr>
                    <m:t>, </m:t>
                  </m:r>
                  <m:r>
                    <a:rPr lang="en-US" b="0" i="1" smtClean="0">
                      <a:effectLst/>
                      <a:latin typeface="Cambria Math" panose="02040503050406030204" pitchFamily="18" charset="0"/>
                      <a:ea typeface="Cambria Math" panose="02040503050406030204" pitchFamily="18" charset="0"/>
                    </a:rPr>
                    <m:t>𝑚</m:t>
                  </m:r>
                  <m:r>
                    <a:rPr lang="en-US" b="0" i="1" smtClean="0">
                      <a:effectLst/>
                      <a:latin typeface="Cambria Math" panose="02040503050406030204" pitchFamily="18" charset="0"/>
                      <a:ea typeface="Cambria Math" panose="02040503050406030204" pitchFamily="18" charset="0"/>
                    </a:rPr>
                    <m:t> </m:t>
                  </m:r>
                  <m:r>
                    <a:rPr lang="en-US" b="0" i="1" smtClean="0">
                      <a:effectLst/>
                      <a:latin typeface="Cambria Math" panose="02040503050406030204" pitchFamily="18" charset="0"/>
                      <a:ea typeface="Cambria Math" panose="02040503050406030204" pitchFamily="18" charset="0"/>
                    </a:rPr>
                    <m:t>𝑎𝑛𝑑</m:t>
                  </m:r>
                  <m:r>
                    <a:rPr lang="en-US" b="0" i="1" smtClean="0">
                      <a:effectLst/>
                      <a:latin typeface="Cambria Math" panose="02040503050406030204" pitchFamily="18" charset="0"/>
                      <a:ea typeface="Cambria Math" panose="02040503050406030204" pitchFamily="18" charset="0"/>
                    </a:rPr>
                    <m:t> </m:t>
                  </m:r>
                  <m:r>
                    <a:rPr lang="en-US" b="0" i="1" smtClean="0">
                      <a:effectLst/>
                      <a:latin typeface="Cambria Math" panose="02040503050406030204" pitchFamily="18" charset="0"/>
                      <a:ea typeface="Cambria Math" panose="02040503050406030204" pitchFamily="18" charset="0"/>
                    </a:rPr>
                    <m:t>𝑛</m:t>
                  </m:r>
                </m:oMath>
              </a14:m>
              <a:r>
                <a:rPr lang="en-US" dirty="0">
                  <a:effectLst/>
                  <a:latin typeface="+mn-lt"/>
                </a:rPr>
                <a:t> for Hockett Sherby</a:t>
              </a:r>
            </a:p>
          </dgm:t>
        </dgm:pt>
      </mc:Choice>
      <mc:Fallback xmlns="">
        <dgm:pt modelId="{6AB32B6C-F367-48EB-B7CC-D88826036F8E}">
          <dgm:prSet/>
          <dgm:spPr/>
          <dgm:t>
            <a:bodyPr/>
            <a:lstStyle/>
            <a:p>
              <a:r>
                <a:rPr lang="en-US" dirty="0">
                  <a:effectLst/>
                  <a:latin typeface="+mn-lt"/>
                </a:rPr>
                <a:t>Determine </a:t>
              </a:r>
              <a:r>
                <a:rPr lang="en-US" b="0" i="0">
                  <a:effectLst/>
                  <a:latin typeface="Cambria Math" panose="02040503050406030204" pitchFamily="18" charset="0"/>
                </a:rPr>
                <a:t>𝜎_𝑠</a:t>
              </a:r>
              <a:r>
                <a:rPr lang="en-US" b="0" i="0">
                  <a:effectLst/>
                  <a:latin typeface="Cambria Math" panose="02040503050406030204" pitchFamily="18" charset="0"/>
                  <a:ea typeface="Cambria Math" panose="02040503050406030204" pitchFamily="18" charset="0"/>
                </a:rPr>
                <a:t>, 𝑚 𝑎𝑛𝑑 𝑛</a:t>
              </a:r>
              <a:r>
                <a:rPr lang="en-US" dirty="0">
                  <a:effectLst/>
                  <a:latin typeface="+mn-lt"/>
                </a:rPr>
                <a:t> for Hockett Sherby</a:t>
              </a:r>
            </a:p>
          </dgm:t>
        </dgm:pt>
      </mc:Fallback>
    </mc:AlternateContent>
    <dgm:pt modelId="{4316D327-96EF-46B9-B8C8-3827E20A2944}" type="parTrans" cxnId="{C37C6E0E-EB27-4EE4-8A73-3BB5E3080394}">
      <dgm:prSet/>
      <dgm:spPr/>
      <dgm:t>
        <a:bodyPr/>
        <a:lstStyle/>
        <a:p>
          <a:endParaRPr lang="en-US"/>
        </a:p>
      </dgm:t>
    </dgm:pt>
    <dgm:pt modelId="{67970F9B-E5A2-4EE8-BD3A-0ACB1DFF067E}" type="sibTrans" cxnId="{C37C6E0E-EB27-4EE4-8A73-3BB5E3080394}">
      <dgm:prSet/>
      <dgm:spPr/>
      <dgm:t>
        <a:bodyPr/>
        <a:lstStyle/>
        <a:p>
          <a:endParaRPr lang="en-US"/>
        </a:p>
      </dgm:t>
    </dgm:pt>
    <dgm:pt modelId="{B62E61A1-FBC6-4C08-BF2B-266719205E3C}" type="pres">
      <dgm:prSet presAssocID="{BC1CD83E-DFCE-47D1-9ADC-FD99EA5A7290}" presName="linearFlow" presStyleCnt="0">
        <dgm:presLayoutVars>
          <dgm:dir/>
          <dgm:animLvl val="lvl"/>
          <dgm:resizeHandles val="exact"/>
        </dgm:presLayoutVars>
      </dgm:prSet>
      <dgm:spPr/>
    </dgm:pt>
    <dgm:pt modelId="{C8EA0278-4061-42B4-92BB-9827713964C0}" type="pres">
      <dgm:prSet presAssocID="{B5122B48-6D24-4FEF-B8DB-ACB7D306D632}" presName="composite" presStyleCnt="0"/>
      <dgm:spPr/>
    </dgm:pt>
    <dgm:pt modelId="{96BEFEEC-D1C2-4A4E-AB12-8ACB25065B39}" type="pres">
      <dgm:prSet presAssocID="{B5122B48-6D24-4FEF-B8DB-ACB7D306D632}" presName="parTx" presStyleLbl="node1" presStyleIdx="0" presStyleCnt="2">
        <dgm:presLayoutVars>
          <dgm:chMax val="0"/>
          <dgm:chPref val="0"/>
          <dgm:bulletEnabled val="1"/>
        </dgm:presLayoutVars>
      </dgm:prSet>
      <dgm:spPr/>
    </dgm:pt>
    <dgm:pt modelId="{2C375DCC-D325-462A-B140-9CA7F38857A8}" type="pres">
      <dgm:prSet presAssocID="{B5122B48-6D24-4FEF-B8DB-ACB7D306D632}" presName="parSh" presStyleLbl="node1" presStyleIdx="0" presStyleCnt="2" custScaleX="113651" custScaleY="127360"/>
      <dgm:spPr/>
    </dgm:pt>
    <dgm:pt modelId="{9A6B741F-139D-44C8-97B8-71D39CBC807F}" type="pres">
      <dgm:prSet presAssocID="{B5122B48-6D24-4FEF-B8DB-ACB7D306D632}" presName="desTx" presStyleLbl="fgAcc1" presStyleIdx="0" presStyleCnt="2" custScaleX="125231" custScaleY="84324">
        <dgm:presLayoutVars>
          <dgm:bulletEnabled val="1"/>
        </dgm:presLayoutVars>
      </dgm:prSet>
      <dgm:spPr/>
    </dgm:pt>
    <dgm:pt modelId="{B185C491-AAFD-4539-8AA2-1A6080415B83}" type="pres">
      <dgm:prSet presAssocID="{21131812-1813-43CA-97D7-9128E4FD898A}" presName="sibTrans" presStyleLbl="sibTrans2D1" presStyleIdx="0" presStyleCnt="1" custLinFactNeighborY="23508"/>
      <dgm:spPr/>
    </dgm:pt>
    <dgm:pt modelId="{52637DA5-4895-4D84-B9BE-E30AE4F6A398}" type="pres">
      <dgm:prSet presAssocID="{21131812-1813-43CA-97D7-9128E4FD898A}" presName="connTx" presStyleLbl="sibTrans2D1" presStyleIdx="0" presStyleCnt="1"/>
      <dgm:spPr/>
    </dgm:pt>
    <dgm:pt modelId="{C364BBA3-4BCC-4380-B523-F01967918758}" type="pres">
      <dgm:prSet presAssocID="{A9441FDB-039B-4E06-A2BB-701D6BDCF42C}" presName="composite" presStyleCnt="0"/>
      <dgm:spPr/>
    </dgm:pt>
    <dgm:pt modelId="{008BB722-6FE6-4024-A633-2A843C08EA65}" type="pres">
      <dgm:prSet presAssocID="{A9441FDB-039B-4E06-A2BB-701D6BDCF42C}" presName="parTx" presStyleLbl="node1" presStyleIdx="0" presStyleCnt="2">
        <dgm:presLayoutVars>
          <dgm:chMax val="0"/>
          <dgm:chPref val="0"/>
          <dgm:bulletEnabled val="1"/>
        </dgm:presLayoutVars>
      </dgm:prSet>
      <dgm:spPr/>
    </dgm:pt>
    <dgm:pt modelId="{92EB4EA1-43BC-4250-A98D-20FB5FDB1501}" type="pres">
      <dgm:prSet presAssocID="{A9441FDB-039B-4E06-A2BB-701D6BDCF42C}" presName="parSh" presStyleLbl="node1" presStyleIdx="1" presStyleCnt="2" custScaleX="116763" custScaleY="138684" custLinFactNeighborX="-5190" custLinFactNeighborY="-12525"/>
      <dgm:spPr/>
    </dgm:pt>
    <dgm:pt modelId="{6944E515-E165-4E05-BA41-AD6FCF47BB30}" type="pres">
      <dgm:prSet presAssocID="{A9441FDB-039B-4E06-A2BB-701D6BDCF42C}" presName="desTx" presStyleLbl="fgAcc1" presStyleIdx="1" presStyleCnt="2" custScaleX="131637" custScaleY="82951" custLinFactNeighborX="6691" custLinFactNeighborY="-2632">
        <dgm:presLayoutVars>
          <dgm:bulletEnabled val="1"/>
        </dgm:presLayoutVars>
      </dgm:prSet>
      <dgm:spPr/>
    </dgm:pt>
  </dgm:ptLst>
  <dgm:cxnLst>
    <dgm:cxn modelId="{4639FB00-B8CA-449E-B029-8C7B6A4CC4EB}" srcId="{A9441FDB-039B-4E06-A2BB-701D6BDCF42C}" destId="{E4D34923-2426-4480-A125-983331E1AE45}" srcOrd="2" destOrd="0" parTransId="{EC1CC1D3-C650-447B-9D92-40093841145F}" sibTransId="{56BD7074-A8D7-45F6-8B75-6E7321BA7E12}"/>
    <dgm:cxn modelId="{46C5CD01-EC3A-4FC2-B2CA-4D15A67F2C60}" type="presOf" srcId="{490C83CD-282B-471F-A297-030EF8124A33}" destId="{9A6B741F-139D-44C8-97B8-71D39CBC807F}" srcOrd="0" destOrd="0" presId="urn:microsoft.com/office/officeart/2005/8/layout/process3"/>
    <dgm:cxn modelId="{5331CE09-7552-40A2-BF1A-59F598586FE5}" type="presOf" srcId="{3772FC91-D193-4E20-928C-BE92C3EE2EAE}" destId="{9A6B741F-139D-44C8-97B8-71D39CBC807F}" srcOrd="0" destOrd="1" presId="urn:microsoft.com/office/officeart/2005/8/layout/process3"/>
    <dgm:cxn modelId="{C37C6E0E-EB27-4EE4-8A73-3BB5E3080394}" srcId="{A9441FDB-039B-4E06-A2BB-701D6BDCF42C}" destId="{6AB32B6C-F367-48EB-B7CC-D88826036F8E}" srcOrd="3" destOrd="0" parTransId="{4316D327-96EF-46B9-B8C8-3827E20A2944}" sibTransId="{67970F9B-E5A2-4EE8-BD3A-0ACB1DFF067E}"/>
    <dgm:cxn modelId="{C9B5F71D-169B-4A0B-A6DB-30B7E8CA9BE5}" type="presOf" srcId="{A9441FDB-039B-4E06-A2BB-701D6BDCF42C}" destId="{92EB4EA1-43BC-4250-A98D-20FB5FDB1501}" srcOrd="1" destOrd="0" presId="urn:microsoft.com/office/officeart/2005/8/layout/process3"/>
    <dgm:cxn modelId="{8DD8CE38-3A52-427A-8D74-1CDE714D8B19}" srcId="{A9441FDB-039B-4E06-A2BB-701D6BDCF42C}" destId="{03053076-D2A3-4B64-B837-895CA0266FFE}" srcOrd="0" destOrd="0" parTransId="{CB366A24-C072-4DBE-A357-011CF4DEC249}" sibTransId="{F378BE63-566A-454E-9EE1-D2A8661DB405}"/>
    <dgm:cxn modelId="{C7EB8839-56BA-49A8-A624-EE702E523B52}" type="presOf" srcId="{A9441FDB-039B-4E06-A2BB-701D6BDCF42C}" destId="{008BB722-6FE6-4024-A633-2A843C08EA65}" srcOrd="0" destOrd="0" presId="urn:microsoft.com/office/officeart/2005/8/layout/process3"/>
    <dgm:cxn modelId="{C7392A5D-546B-4798-B81D-2735422B99EF}" type="presOf" srcId="{36000A1A-FC04-4E10-BAA8-1D6F1122CB97}" destId="{9A6B741F-139D-44C8-97B8-71D39CBC807F}" srcOrd="0" destOrd="4" presId="urn:microsoft.com/office/officeart/2005/8/layout/process3"/>
    <dgm:cxn modelId="{7754224A-9453-42D5-BCEB-251147B48925}" srcId="{B5122B48-6D24-4FEF-B8DB-ACB7D306D632}" destId="{84DCB1B6-59ED-48EC-B501-9A19F59C05F6}" srcOrd="2" destOrd="0" parTransId="{1BF46831-A72C-4762-ADD5-4058B89503D5}" sibTransId="{48EAD43F-72EC-417F-8DDD-FCCDFA9A49C7}"/>
    <dgm:cxn modelId="{737B396F-1EB4-420F-95A3-17F1246A193A}" type="presOf" srcId="{1B084856-22E5-4839-8489-A61AB11665D1}" destId="{6944E515-E165-4E05-BA41-AD6FCF47BB30}" srcOrd="0" destOrd="1" presId="urn:microsoft.com/office/officeart/2005/8/layout/process3"/>
    <dgm:cxn modelId="{4C840874-3328-467C-B20A-428E7182C5FB}" type="presOf" srcId="{BC1CD83E-DFCE-47D1-9ADC-FD99EA5A7290}" destId="{B62E61A1-FBC6-4C08-BF2B-266719205E3C}" srcOrd="0" destOrd="0" presId="urn:microsoft.com/office/officeart/2005/8/layout/process3"/>
    <dgm:cxn modelId="{E6D39181-10FB-4704-8A34-7491014011F4}" srcId="{BC1CD83E-DFCE-47D1-9ADC-FD99EA5A7290}" destId="{B5122B48-6D24-4FEF-B8DB-ACB7D306D632}" srcOrd="0" destOrd="0" parTransId="{19D26F7C-C111-46E6-B57A-5B6558D4E4CF}" sibTransId="{21131812-1813-43CA-97D7-9128E4FD898A}"/>
    <dgm:cxn modelId="{DC1B1285-1C32-4742-8932-6971F8C23376}" type="presOf" srcId="{E4D34923-2426-4480-A125-983331E1AE45}" destId="{6944E515-E165-4E05-BA41-AD6FCF47BB30}" srcOrd="0" destOrd="2" presId="urn:microsoft.com/office/officeart/2005/8/layout/process3"/>
    <dgm:cxn modelId="{389F5E88-B80F-47D0-9ED7-C275FDF8A034}" type="presOf" srcId="{84DCB1B6-59ED-48EC-B501-9A19F59C05F6}" destId="{9A6B741F-139D-44C8-97B8-71D39CBC807F}" srcOrd="0" destOrd="2" presId="urn:microsoft.com/office/officeart/2005/8/layout/process3"/>
    <dgm:cxn modelId="{1A874B90-7673-4E32-BEDA-2A08C663AD0E}" type="presOf" srcId="{B5122B48-6D24-4FEF-B8DB-ACB7D306D632}" destId="{96BEFEEC-D1C2-4A4E-AB12-8ACB25065B39}" srcOrd="0" destOrd="0" presId="urn:microsoft.com/office/officeart/2005/8/layout/process3"/>
    <dgm:cxn modelId="{8C35DBB2-4C59-4EFD-A09A-BB9C9559DC0F}" type="presOf" srcId="{6AB32B6C-F367-48EB-B7CC-D88826036F8E}" destId="{6944E515-E165-4E05-BA41-AD6FCF47BB30}" srcOrd="0" destOrd="3" presId="urn:microsoft.com/office/officeart/2005/8/layout/process3"/>
    <dgm:cxn modelId="{6A9731B6-6D53-44B8-891B-1CB34900E492}" srcId="{B5122B48-6D24-4FEF-B8DB-ACB7D306D632}" destId="{490C83CD-282B-471F-A297-030EF8124A33}" srcOrd="0" destOrd="0" parTransId="{93FE4C2F-618F-432D-A121-1BFD924C7808}" sibTransId="{F99714D9-3249-41D1-8E99-1C2641A06755}"/>
    <dgm:cxn modelId="{5619DBB8-87C2-4491-B056-ED4B34B21219}" type="presOf" srcId="{21131812-1813-43CA-97D7-9128E4FD898A}" destId="{52637DA5-4895-4D84-B9BE-E30AE4F6A398}" srcOrd="1" destOrd="0" presId="urn:microsoft.com/office/officeart/2005/8/layout/process3"/>
    <dgm:cxn modelId="{9C08CEBA-BA9A-4E88-9AEC-9D1417A46BA4}" type="presOf" srcId="{21131812-1813-43CA-97D7-9128E4FD898A}" destId="{B185C491-AAFD-4539-8AA2-1A6080415B83}" srcOrd="0" destOrd="0" presId="urn:microsoft.com/office/officeart/2005/8/layout/process3"/>
    <dgm:cxn modelId="{1EAB77C1-3E5A-4983-92E1-667301CAAB9F}" srcId="{B5122B48-6D24-4FEF-B8DB-ACB7D306D632}" destId="{36000A1A-FC04-4E10-BAA8-1D6F1122CB97}" srcOrd="4" destOrd="0" parTransId="{EEDE633F-A6CC-4EAE-BF44-7305ABC9F711}" sibTransId="{FDEAFB16-B403-449C-AF3C-F79FF5589BCE}"/>
    <dgm:cxn modelId="{0A6DC8CE-9DB7-4B8A-BA4F-307C6FA6AAF7}" type="presOf" srcId="{03053076-D2A3-4B64-B837-895CA0266FFE}" destId="{6944E515-E165-4E05-BA41-AD6FCF47BB30}" srcOrd="0" destOrd="0" presId="urn:microsoft.com/office/officeart/2005/8/layout/process3"/>
    <dgm:cxn modelId="{C76BE1CE-53F5-4A0E-981B-7D1CB00CBD31}" srcId="{B5122B48-6D24-4FEF-B8DB-ACB7D306D632}" destId="{9CFE6212-E71D-4B07-B357-BE6CD2FEC5A5}" srcOrd="3" destOrd="0" parTransId="{B2170012-236F-4853-A1C4-463B07A2DCEB}" sibTransId="{AB8DC3B7-ED95-4A5C-88C9-D072FA3ABF01}"/>
    <dgm:cxn modelId="{4F26FAD8-6EAA-4B26-B185-8F1CF6268C28}" srcId="{BC1CD83E-DFCE-47D1-9ADC-FD99EA5A7290}" destId="{A9441FDB-039B-4E06-A2BB-701D6BDCF42C}" srcOrd="1" destOrd="0" parTransId="{9A114420-D8A4-435D-932C-409CBCFE5DC2}" sibTransId="{349CE1CA-8EDD-441A-BC4B-96DA651F2681}"/>
    <dgm:cxn modelId="{A0739AE2-AA25-4FEC-A1F3-33FD70F1E626}" srcId="{A9441FDB-039B-4E06-A2BB-701D6BDCF42C}" destId="{1B084856-22E5-4839-8489-A61AB11665D1}" srcOrd="1" destOrd="0" parTransId="{6C452265-11B5-4A9E-8FF5-B0F0A83C0B24}" sibTransId="{74CA9A1F-6ECD-496F-8058-C1A645467326}"/>
    <dgm:cxn modelId="{2BBCA5E9-F913-4B0F-B101-B8ACEF3A3C61}" type="presOf" srcId="{B5122B48-6D24-4FEF-B8DB-ACB7D306D632}" destId="{2C375DCC-D325-462A-B140-9CA7F38857A8}" srcOrd="1" destOrd="0" presId="urn:microsoft.com/office/officeart/2005/8/layout/process3"/>
    <dgm:cxn modelId="{1C89CBED-4366-4028-8359-262A69138CB1}" type="presOf" srcId="{9CFE6212-E71D-4B07-B357-BE6CD2FEC5A5}" destId="{9A6B741F-139D-44C8-97B8-71D39CBC807F}" srcOrd="0" destOrd="3" presId="urn:microsoft.com/office/officeart/2005/8/layout/process3"/>
    <dgm:cxn modelId="{A456A1FB-378D-4CED-AE93-3DB453721E98}" srcId="{B5122B48-6D24-4FEF-B8DB-ACB7D306D632}" destId="{3772FC91-D193-4E20-928C-BE92C3EE2EAE}" srcOrd="1" destOrd="0" parTransId="{BF5BED14-6466-4760-8815-DD6F47ECA3A4}" sibTransId="{78D16235-E127-4752-A278-53372BA8BCD8}"/>
    <dgm:cxn modelId="{098BC3A6-3413-4E30-B9F8-956151AE9F89}" type="presParOf" srcId="{B62E61A1-FBC6-4C08-BF2B-266719205E3C}" destId="{C8EA0278-4061-42B4-92BB-9827713964C0}" srcOrd="0" destOrd="0" presId="urn:microsoft.com/office/officeart/2005/8/layout/process3"/>
    <dgm:cxn modelId="{1109057E-1049-45E4-AB25-C53A4DA6DB77}" type="presParOf" srcId="{C8EA0278-4061-42B4-92BB-9827713964C0}" destId="{96BEFEEC-D1C2-4A4E-AB12-8ACB25065B39}" srcOrd="0" destOrd="0" presId="urn:microsoft.com/office/officeart/2005/8/layout/process3"/>
    <dgm:cxn modelId="{23D8DB57-85C4-419A-9F18-27879A63CD15}" type="presParOf" srcId="{C8EA0278-4061-42B4-92BB-9827713964C0}" destId="{2C375DCC-D325-462A-B140-9CA7F38857A8}" srcOrd="1" destOrd="0" presId="urn:microsoft.com/office/officeart/2005/8/layout/process3"/>
    <dgm:cxn modelId="{99EF3449-1929-4AC5-961D-7093DC92A25E}" type="presParOf" srcId="{C8EA0278-4061-42B4-92BB-9827713964C0}" destId="{9A6B741F-139D-44C8-97B8-71D39CBC807F}" srcOrd="2" destOrd="0" presId="urn:microsoft.com/office/officeart/2005/8/layout/process3"/>
    <dgm:cxn modelId="{A2E2A14F-7238-4B85-AF2C-CFAE1F790B04}" type="presParOf" srcId="{B62E61A1-FBC6-4C08-BF2B-266719205E3C}" destId="{B185C491-AAFD-4539-8AA2-1A6080415B83}" srcOrd="1" destOrd="0" presId="urn:microsoft.com/office/officeart/2005/8/layout/process3"/>
    <dgm:cxn modelId="{28DE5CDC-A44E-461D-9D87-F02F787C6DD4}" type="presParOf" srcId="{B185C491-AAFD-4539-8AA2-1A6080415B83}" destId="{52637DA5-4895-4D84-B9BE-E30AE4F6A398}" srcOrd="0" destOrd="0" presId="urn:microsoft.com/office/officeart/2005/8/layout/process3"/>
    <dgm:cxn modelId="{DDBDF228-BFA1-42D5-824C-3C47B4B3034C}" type="presParOf" srcId="{B62E61A1-FBC6-4C08-BF2B-266719205E3C}" destId="{C364BBA3-4BCC-4380-B523-F01967918758}" srcOrd="2" destOrd="0" presId="urn:microsoft.com/office/officeart/2005/8/layout/process3"/>
    <dgm:cxn modelId="{348669DF-B744-4713-A1AD-ABDF8B77FB15}" type="presParOf" srcId="{C364BBA3-4BCC-4380-B523-F01967918758}" destId="{008BB722-6FE6-4024-A633-2A843C08EA65}" srcOrd="0" destOrd="0" presId="urn:microsoft.com/office/officeart/2005/8/layout/process3"/>
    <dgm:cxn modelId="{2D8B7497-349D-4E29-BF71-FB56BDF2AD4C}" type="presParOf" srcId="{C364BBA3-4BCC-4380-B523-F01967918758}" destId="{92EB4EA1-43BC-4250-A98D-20FB5FDB1501}" srcOrd="1" destOrd="0" presId="urn:microsoft.com/office/officeart/2005/8/layout/process3"/>
    <dgm:cxn modelId="{3ACA8AA1-9EF2-4DE3-BA94-4A2DC06CFCCA}" type="presParOf" srcId="{C364BBA3-4BCC-4380-B523-F01967918758}" destId="{6944E515-E165-4E05-BA41-AD6FCF47BB30}" srcOrd="2" destOrd="0" presId="urn:microsoft.com/office/officeart/2005/8/layout/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780C42-6301-487A-9D66-6C0224EF998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87F14839-2743-47E6-85A0-04C4EE107F92}">
      <dgm:prSet custT="1"/>
      <dgm:spPr>
        <a:effectLst>
          <a:outerShdw blurRad="63500" sx="102000" sy="102000" algn="ctr" rotWithShape="0">
            <a:prstClr val="black">
              <a:alpha val="40000"/>
            </a:prstClr>
          </a:outerShdw>
        </a:effectLst>
      </dgm:spPr>
      <dgm:t>
        <a:bodyPr/>
        <a:lstStyle/>
        <a:p>
          <a:r>
            <a:rPr lang="en-US" sz="2400" b="1" dirty="0">
              <a:effectLst>
                <a:outerShdw blurRad="38100" dist="38100" dir="2700000" algn="tl">
                  <a:srgbClr val="000000">
                    <a:alpha val="43137"/>
                  </a:srgbClr>
                </a:outerShdw>
              </a:effectLst>
            </a:rPr>
            <a:t>Monotonic Loading – Simulation Setup</a:t>
          </a:r>
          <a:endParaRPr lang="en-US" sz="2400" dirty="0">
            <a:effectLst>
              <a:outerShdw blurRad="38100" dist="38100" dir="2700000" algn="tl">
                <a:srgbClr val="000000">
                  <a:alpha val="43137"/>
                </a:srgbClr>
              </a:outerShdw>
            </a:effectLst>
          </a:endParaRPr>
        </a:p>
      </dgm:t>
    </dgm:pt>
    <dgm:pt modelId="{506D4B0C-6186-4A5D-93F5-E06889FE7068}" type="parTrans" cxnId="{E5017BA5-82A0-4171-AF9A-CD4AB7D8FD5D}">
      <dgm:prSet/>
      <dgm:spPr/>
      <dgm:t>
        <a:bodyPr/>
        <a:lstStyle/>
        <a:p>
          <a:endParaRPr lang="en-US"/>
        </a:p>
      </dgm:t>
    </dgm:pt>
    <dgm:pt modelId="{0E5E7D87-15EB-4BE6-9B26-CFEBFADA0D9A}" type="sibTrans" cxnId="{E5017BA5-82A0-4171-AF9A-CD4AB7D8FD5D}">
      <dgm:prSet/>
      <dgm:spPr/>
      <dgm:t>
        <a:bodyPr/>
        <a:lstStyle/>
        <a:p>
          <a:endParaRPr lang="en-US"/>
        </a:p>
      </dgm:t>
    </dgm:pt>
    <dgm:pt modelId="{54877F1B-CC0B-4319-AC25-F55D204D9B92}">
      <dgm:prSet custT="1"/>
      <dgm:spPr/>
      <dgm:t>
        <a:bodyPr/>
        <a:lstStyle/>
        <a:p>
          <a:endParaRPr lang="en-US" sz="1800" dirty="0"/>
        </a:p>
      </dgm:t>
    </dgm:pt>
    <dgm:pt modelId="{75228BAD-90C4-478B-9FD0-2F1D21E12B74}" type="parTrans" cxnId="{B08DC0DB-55CD-4654-95C6-2C3F351AFFC7}">
      <dgm:prSet/>
      <dgm:spPr/>
      <dgm:t>
        <a:bodyPr/>
        <a:lstStyle/>
        <a:p>
          <a:endParaRPr lang="en-US"/>
        </a:p>
      </dgm:t>
    </dgm:pt>
    <dgm:pt modelId="{A3FA093D-BF75-4C0D-8700-63B804B773BB}" type="sibTrans" cxnId="{B08DC0DB-55CD-4654-95C6-2C3F351AFFC7}">
      <dgm:prSet/>
      <dgm:spPr/>
      <dgm:t>
        <a:bodyPr/>
        <a:lstStyle/>
        <a:p>
          <a:endParaRPr lang="en-US"/>
        </a:p>
      </dgm:t>
    </dgm:pt>
    <dgm:pt modelId="{262F0287-22D6-4134-B889-A474BF0CFDDA}" type="pres">
      <dgm:prSet presAssocID="{55780C42-6301-487A-9D66-6C0224EF9988}" presName="linear" presStyleCnt="0">
        <dgm:presLayoutVars>
          <dgm:animLvl val="lvl"/>
          <dgm:resizeHandles val="exact"/>
        </dgm:presLayoutVars>
      </dgm:prSet>
      <dgm:spPr/>
    </dgm:pt>
    <dgm:pt modelId="{C07C3816-44C0-4328-951B-BE0382AC9178}" type="pres">
      <dgm:prSet presAssocID="{87F14839-2743-47E6-85A0-04C4EE107F92}" presName="parentText" presStyleLbl="node1" presStyleIdx="0" presStyleCnt="1" custLinFactNeighborY="21570">
        <dgm:presLayoutVars>
          <dgm:chMax val="0"/>
          <dgm:bulletEnabled val="1"/>
        </dgm:presLayoutVars>
      </dgm:prSet>
      <dgm:spPr/>
    </dgm:pt>
    <dgm:pt modelId="{5EF16383-B3EE-42F0-A1C1-72346914A364}" type="pres">
      <dgm:prSet presAssocID="{87F14839-2743-47E6-85A0-04C4EE107F92}" presName="childText" presStyleLbl="revTx" presStyleIdx="0" presStyleCnt="1">
        <dgm:presLayoutVars>
          <dgm:bulletEnabled val="1"/>
        </dgm:presLayoutVars>
      </dgm:prSet>
      <dgm:spPr/>
    </dgm:pt>
  </dgm:ptLst>
  <dgm:cxnLst>
    <dgm:cxn modelId="{BC498314-6E02-478F-B315-1001478A00B4}" type="presOf" srcId="{55780C42-6301-487A-9D66-6C0224EF9988}" destId="{262F0287-22D6-4134-B889-A474BF0CFDDA}" srcOrd="0" destOrd="0" presId="urn:microsoft.com/office/officeart/2005/8/layout/vList2"/>
    <dgm:cxn modelId="{0225F818-C4A3-41EA-98C9-30C318774EED}" type="presOf" srcId="{54877F1B-CC0B-4319-AC25-F55D204D9B92}" destId="{5EF16383-B3EE-42F0-A1C1-72346914A364}" srcOrd="0" destOrd="0" presId="urn:microsoft.com/office/officeart/2005/8/layout/vList2"/>
    <dgm:cxn modelId="{E5017BA5-82A0-4171-AF9A-CD4AB7D8FD5D}" srcId="{55780C42-6301-487A-9D66-6C0224EF9988}" destId="{87F14839-2743-47E6-85A0-04C4EE107F92}" srcOrd="0" destOrd="0" parTransId="{506D4B0C-6186-4A5D-93F5-E06889FE7068}" sibTransId="{0E5E7D87-15EB-4BE6-9B26-CFEBFADA0D9A}"/>
    <dgm:cxn modelId="{B08DC0DB-55CD-4654-95C6-2C3F351AFFC7}" srcId="{87F14839-2743-47E6-85A0-04C4EE107F92}" destId="{54877F1B-CC0B-4319-AC25-F55D204D9B92}" srcOrd="0" destOrd="0" parTransId="{75228BAD-90C4-478B-9FD0-2F1D21E12B74}" sibTransId="{A3FA093D-BF75-4C0D-8700-63B804B773BB}"/>
    <dgm:cxn modelId="{D0659EEA-C3E8-4379-B996-89C1A540CBD4}" type="presOf" srcId="{87F14839-2743-47E6-85A0-04C4EE107F92}" destId="{C07C3816-44C0-4328-951B-BE0382AC9178}" srcOrd="0" destOrd="0" presId="urn:microsoft.com/office/officeart/2005/8/layout/vList2"/>
    <dgm:cxn modelId="{47AB4304-F8D9-4B34-94DF-B82672C6FF28}" type="presParOf" srcId="{262F0287-22D6-4134-B889-A474BF0CFDDA}" destId="{C07C3816-44C0-4328-951B-BE0382AC9178}" srcOrd="0" destOrd="0" presId="urn:microsoft.com/office/officeart/2005/8/layout/vList2"/>
    <dgm:cxn modelId="{6D87EA62-4F77-439B-B194-7E1C79C7065D}" type="presParOf" srcId="{262F0287-22D6-4134-B889-A474BF0CFDDA}" destId="{5EF16383-B3EE-42F0-A1C1-72346914A364}"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780C42-6301-487A-9D66-6C0224EF998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87F14839-2743-47E6-85A0-04C4EE107F92}">
      <dgm:prSet custT="1"/>
      <dgm:spPr>
        <a:effectLst>
          <a:outerShdw blurRad="63500" sx="102000" sy="102000" algn="ctr" rotWithShape="0">
            <a:prstClr val="black">
              <a:alpha val="40000"/>
            </a:prstClr>
          </a:outerShdw>
        </a:effectLst>
      </dgm:spPr>
      <dgm:t>
        <a:bodyPr/>
        <a:lstStyle/>
        <a:p>
          <a:r>
            <a:rPr lang="en-US" sz="2400" b="1" dirty="0">
              <a:effectLst>
                <a:outerShdw blurRad="38100" dist="38100" dir="2700000" algn="tl">
                  <a:srgbClr val="000000">
                    <a:alpha val="43137"/>
                  </a:srgbClr>
                </a:outerShdw>
              </a:effectLst>
            </a:rPr>
            <a:t>Cyclic Loading (Chaboche)</a:t>
          </a:r>
          <a:endParaRPr lang="en-US" sz="2400" dirty="0">
            <a:effectLst>
              <a:outerShdw blurRad="38100" dist="38100" dir="2700000" algn="tl">
                <a:srgbClr val="000000">
                  <a:alpha val="43137"/>
                </a:srgbClr>
              </a:outerShdw>
            </a:effectLst>
          </a:endParaRPr>
        </a:p>
      </dgm:t>
    </dgm:pt>
    <dgm:pt modelId="{506D4B0C-6186-4A5D-93F5-E06889FE7068}" type="parTrans" cxnId="{E5017BA5-82A0-4171-AF9A-CD4AB7D8FD5D}">
      <dgm:prSet/>
      <dgm:spPr/>
      <dgm:t>
        <a:bodyPr/>
        <a:lstStyle/>
        <a:p>
          <a:endParaRPr lang="en-US"/>
        </a:p>
      </dgm:t>
    </dgm:pt>
    <dgm:pt modelId="{0E5E7D87-15EB-4BE6-9B26-CFEBFADA0D9A}" type="sibTrans" cxnId="{E5017BA5-82A0-4171-AF9A-CD4AB7D8FD5D}">
      <dgm:prSet/>
      <dgm:spPr/>
      <dgm:t>
        <a:bodyPr/>
        <a:lstStyle/>
        <a:p>
          <a:endParaRPr lang="en-US"/>
        </a:p>
      </dgm:t>
    </dgm:pt>
    <dgm:pt modelId="{54877F1B-CC0B-4319-AC25-F55D204D9B92}">
      <dgm:prSet custT="1"/>
      <dgm:spPr/>
      <dgm:t>
        <a:bodyPr/>
        <a:lstStyle/>
        <a:p>
          <a:endParaRPr lang="en-US" sz="1800" dirty="0"/>
        </a:p>
      </dgm:t>
    </dgm:pt>
    <dgm:pt modelId="{75228BAD-90C4-478B-9FD0-2F1D21E12B74}" type="parTrans" cxnId="{B08DC0DB-55CD-4654-95C6-2C3F351AFFC7}">
      <dgm:prSet/>
      <dgm:spPr/>
      <dgm:t>
        <a:bodyPr/>
        <a:lstStyle/>
        <a:p>
          <a:endParaRPr lang="en-US"/>
        </a:p>
      </dgm:t>
    </dgm:pt>
    <dgm:pt modelId="{A3FA093D-BF75-4C0D-8700-63B804B773BB}" type="sibTrans" cxnId="{B08DC0DB-55CD-4654-95C6-2C3F351AFFC7}">
      <dgm:prSet/>
      <dgm:spPr/>
      <dgm:t>
        <a:bodyPr/>
        <a:lstStyle/>
        <a:p>
          <a:endParaRPr lang="en-US"/>
        </a:p>
      </dgm:t>
    </dgm:pt>
    <dgm:pt modelId="{262F0287-22D6-4134-B889-A474BF0CFDDA}" type="pres">
      <dgm:prSet presAssocID="{55780C42-6301-487A-9D66-6C0224EF9988}" presName="linear" presStyleCnt="0">
        <dgm:presLayoutVars>
          <dgm:animLvl val="lvl"/>
          <dgm:resizeHandles val="exact"/>
        </dgm:presLayoutVars>
      </dgm:prSet>
      <dgm:spPr/>
    </dgm:pt>
    <dgm:pt modelId="{C07C3816-44C0-4328-951B-BE0382AC9178}" type="pres">
      <dgm:prSet presAssocID="{87F14839-2743-47E6-85A0-04C4EE107F92}" presName="parentText" presStyleLbl="node1" presStyleIdx="0" presStyleCnt="1" custLinFactNeighborY="83208">
        <dgm:presLayoutVars>
          <dgm:chMax val="0"/>
          <dgm:bulletEnabled val="1"/>
        </dgm:presLayoutVars>
      </dgm:prSet>
      <dgm:spPr/>
    </dgm:pt>
    <dgm:pt modelId="{5EF16383-B3EE-42F0-A1C1-72346914A364}" type="pres">
      <dgm:prSet presAssocID="{87F14839-2743-47E6-85A0-04C4EE107F92}" presName="childText" presStyleLbl="revTx" presStyleIdx="0" presStyleCnt="1">
        <dgm:presLayoutVars>
          <dgm:bulletEnabled val="1"/>
        </dgm:presLayoutVars>
      </dgm:prSet>
      <dgm:spPr/>
    </dgm:pt>
  </dgm:ptLst>
  <dgm:cxnLst>
    <dgm:cxn modelId="{BC498314-6E02-478F-B315-1001478A00B4}" type="presOf" srcId="{55780C42-6301-487A-9D66-6C0224EF9988}" destId="{262F0287-22D6-4134-B889-A474BF0CFDDA}" srcOrd="0" destOrd="0" presId="urn:microsoft.com/office/officeart/2005/8/layout/vList2"/>
    <dgm:cxn modelId="{0225F818-C4A3-41EA-98C9-30C318774EED}" type="presOf" srcId="{54877F1B-CC0B-4319-AC25-F55D204D9B92}" destId="{5EF16383-B3EE-42F0-A1C1-72346914A364}" srcOrd="0" destOrd="0" presId="urn:microsoft.com/office/officeart/2005/8/layout/vList2"/>
    <dgm:cxn modelId="{E5017BA5-82A0-4171-AF9A-CD4AB7D8FD5D}" srcId="{55780C42-6301-487A-9D66-6C0224EF9988}" destId="{87F14839-2743-47E6-85A0-04C4EE107F92}" srcOrd="0" destOrd="0" parTransId="{506D4B0C-6186-4A5D-93F5-E06889FE7068}" sibTransId="{0E5E7D87-15EB-4BE6-9B26-CFEBFADA0D9A}"/>
    <dgm:cxn modelId="{B08DC0DB-55CD-4654-95C6-2C3F351AFFC7}" srcId="{87F14839-2743-47E6-85A0-04C4EE107F92}" destId="{54877F1B-CC0B-4319-AC25-F55D204D9B92}" srcOrd="0" destOrd="0" parTransId="{75228BAD-90C4-478B-9FD0-2F1D21E12B74}" sibTransId="{A3FA093D-BF75-4C0D-8700-63B804B773BB}"/>
    <dgm:cxn modelId="{D0659EEA-C3E8-4379-B996-89C1A540CBD4}" type="presOf" srcId="{87F14839-2743-47E6-85A0-04C4EE107F92}" destId="{C07C3816-44C0-4328-951B-BE0382AC9178}" srcOrd="0" destOrd="0" presId="urn:microsoft.com/office/officeart/2005/8/layout/vList2"/>
    <dgm:cxn modelId="{47AB4304-F8D9-4B34-94DF-B82672C6FF28}" type="presParOf" srcId="{262F0287-22D6-4134-B889-A474BF0CFDDA}" destId="{C07C3816-44C0-4328-951B-BE0382AC9178}" srcOrd="0" destOrd="0" presId="urn:microsoft.com/office/officeart/2005/8/layout/vList2"/>
    <dgm:cxn modelId="{6D87EA62-4F77-439B-B194-7E1C79C7065D}" type="presParOf" srcId="{262F0287-22D6-4134-B889-A474BF0CFDDA}" destId="{5EF16383-B3EE-42F0-A1C1-72346914A364}"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C1CD83E-DFCE-47D1-9ADC-FD99EA5A7290}" type="doc">
      <dgm:prSet loTypeId="urn:microsoft.com/office/officeart/2005/8/layout/process3" loCatId="process" qsTypeId="urn:microsoft.com/office/officeart/2005/8/quickstyle/simple4" qsCatId="simple" csTypeId="urn:microsoft.com/office/officeart/2005/8/colors/accent1_2" csCatId="accent1" phldr="1"/>
      <dgm:spPr/>
      <dgm:t>
        <a:bodyPr/>
        <a:lstStyle/>
        <a:p>
          <a:endParaRPr lang="en-US"/>
        </a:p>
      </dgm:t>
    </dgm:pt>
    <dgm:pt modelId="{B5122B48-6D24-4FEF-B8DB-ACB7D306D632}">
      <dgm:prSet custT="1"/>
      <dgm:spPr>
        <a:effectLst>
          <a:outerShdw blurRad="63500" sx="102000" sy="102000" algn="ctr" rotWithShape="0">
            <a:prstClr val="black">
              <a:alpha val="40000"/>
            </a:prstClr>
          </a:outerShdw>
        </a:effectLst>
      </dgm:spPr>
      <dgm:t>
        <a:bodyPr/>
        <a:lstStyle/>
        <a:p>
          <a:r>
            <a:rPr lang="en-US" sz="1400" dirty="0">
              <a:effectLst>
                <a:outerShdw blurRad="38100" dist="38100" dir="2700000" algn="tl">
                  <a:srgbClr val="000000">
                    <a:alpha val="43137"/>
                  </a:srgbClr>
                </a:outerShdw>
              </a:effectLst>
            </a:rPr>
            <a:t>Elastic Region Analysis</a:t>
          </a:r>
        </a:p>
      </dgm:t>
    </dgm:pt>
    <dgm:pt modelId="{19D26F7C-C111-46E6-B57A-5B6558D4E4CF}" type="parTrans" cxnId="{E6D39181-10FB-4704-8A34-7491014011F4}">
      <dgm:prSet/>
      <dgm:spPr/>
      <dgm:t>
        <a:bodyPr/>
        <a:lstStyle/>
        <a:p>
          <a:endParaRPr lang="en-US"/>
        </a:p>
      </dgm:t>
    </dgm:pt>
    <dgm:pt modelId="{21131812-1813-43CA-97D7-9128E4FD898A}" type="sibTrans" cxnId="{E6D39181-10FB-4704-8A34-7491014011F4}">
      <dgm:prSet/>
      <dgm:spPr>
        <a:effectLst>
          <a:outerShdw blurRad="63500" sx="102000" sy="102000" algn="ctr" rotWithShape="0">
            <a:prstClr val="black">
              <a:alpha val="40000"/>
            </a:prstClr>
          </a:outerShdw>
        </a:effectLst>
      </dgm:spPr>
      <dgm:t>
        <a:bodyPr/>
        <a:lstStyle/>
        <a:p>
          <a:endParaRPr lang="en-US"/>
        </a:p>
      </dgm:t>
    </dgm:pt>
    <dgm:pt modelId="{A9441FDB-039B-4E06-A2BB-701D6BDCF42C}">
      <dgm:prSet custT="1"/>
      <dgm:spPr>
        <a:effectLst>
          <a:outerShdw blurRad="63500" sx="102000" sy="102000" algn="ctr" rotWithShape="0">
            <a:prstClr val="black">
              <a:alpha val="40000"/>
            </a:prstClr>
          </a:outerShdw>
        </a:effectLst>
      </dgm:spPr>
      <dgm:t>
        <a:bodyPr/>
        <a:lstStyle/>
        <a:p>
          <a:r>
            <a:rPr lang="en-US" sz="1400" dirty="0">
              <a:effectLst>
                <a:outerShdw blurRad="38100" dist="38100" dir="2700000" algn="tl">
                  <a:srgbClr val="000000">
                    <a:alpha val="43137"/>
                  </a:srgbClr>
                </a:outerShdw>
              </a:effectLst>
            </a:rPr>
            <a:t>Determine parameter types and numbers</a:t>
          </a:r>
        </a:p>
        <a:p>
          <a:endParaRPr lang="en-US" sz="1400" dirty="0">
            <a:effectLst>
              <a:outerShdw blurRad="38100" dist="38100" dir="2700000" algn="tl">
                <a:srgbClr val="000000">
                  <a:alpha val="43137"/>
                </a:srgbClr>
              </a:outerShdw>
            </a:effectLst>
          </a:endParaRPr>
        </a:p>
      </dgm:t>
    </dgm:pt>
    <dgm:pt modelId="{9A114420-D8A4-435D-932C-409CBCFE5DC2}" type="parTrans" cxnId="{4F26FAD8-6EAA-4B26-B185-8F1CF6268C28}">
      <dgm:prSet/>
      <dgm:spPr/>
      <dgm:t>
        <a:bodyPr/>
        <a:lstStyle/>
        <a:p>
          <a:endParaRPr lang="en-US"/>
        </a:p>
      </dgm:t>
    </dgm:pt>
    <dgm:pt modelId="{349CE1CA-8EDD-441A-BC4B-96DA651F2681}" type="sibTrans" cxnId="{4F26FAD8-6EAA-4B26-B185-8F1CF6268C28}">
      <dgm:prSet/>
      <dgm:spPr/>
      <dgm:t>
        <a:bodyPr/>
        <a:lstStyle/>
        <a:p>
          <a:endParaRPr lang="en-US"/>
        </a:p>
      </dgm:t>
    </dgm:pt>
    <dgm:pt modelId="{490C83CD-282B-471F-A297-030EF8124A33}">
      <dgm:prSet/>
      <dgm:spPr>
        <a:effectLst>
          <a:outerShdw blurRad="63500" sx="102000" sy="102000" algn="ctr" rotWithShape="0">
            <a:prstClr val="black">
              <a:alpha val="40000"/>
            </a:prstClr>
          </a:outerShdw>
        </a:effectLst>
      </dgm:spPr>
      <dgm:t>
        <a:bodyPr/>
        <a:lstStyle/>
        <a:p>
          <a:endParaRPr lang="en-US" b="0" dirty="0">
            <a:effectLst/>
          </a:endParaRPr>
        </a:p>
      </dgm:t>
    </dgm:pt>
    <dgm:pt modelId="{93FE4C2F-618F-432D-A121-1BFD924C7808}" type="parTrans" cxnId="{6A9731B6-6D53-44B8-891B-1CB34900E492}">
      <dgm:prSet/>
      <dgm:spPr/>
      <dgm:t>
        <a:bodyPr/>
        <a:lstStyle/>
        <a:p>
          <a:endParaRPr lang="en-US"/>
        </a:p>
      </dgm:t>
    </dgm:pt>
    <dgm:pt modelId="{F99714D9-3249-41D1-8E99-1C2641A06755}" type="sibTrans" cxnId="{6A9731B6-6D53-44B8-891B-1CB34900E492}">
      <dgm:prSet/>
      <dgm:spPr/>
      <dgm:t>
        <a:bodyPr/>
        <a:lstStyle/>
        <a:p>
          <a:endParaRPr lang="en-US"/>
        </a:p>
      </dgm:t>
    </dgm:pt>
    <dgm:pt modelId="{3772FC91-D193-4E20-928C-BE92C3EE2EAE}">
      <dgm:prSet/>
      <dgm:spPr>
        <a:effectLst>
          <a:outerShdw blurRad="63500" sx="102000" sy="102000" algn="ctr" rotWithShape="0">
            <a:prstClr val="black">
              <a:alpha val="40000"/>
            </a:prstClr>
          </a:outerShdw>
        </a:effectLst>
      </dgm:spPr>
      <dgm:t>
        <a:bodyPr/>
        <a:lstStyle/>
        <a:p>
          <a:pPr>
            <a:buFont typeface="Arial" panose="020B0604020202020204" pitchFamily="34" charset="0"/>
            <a:buChar char="•"/>
          </a:pPr>
          <a:r>
            <a:rPr lang="en-US" b="0" dirty="0">
              <a:effectLst/>
            </a:rPr>
            <a:t>Determine elastic region</a:t>
          </a:r>
        </a:p>
      </dgm:t>
    </dgm:pt>
    <dgm:pt modelId="{BF5BED14-6466-4760-8815-DD6F47ECA3A4}" type="parTrans" cxnId="{A456A1FB-378D-4CED-AE93-3DB453721E98}">
      <dgm:prSet/>
      <dgm:spPr/>
      <dgm:t>
        <a:bodyPr/>
        <a:lstStyle/>
        <a:p>
          <a:endParaRPr lang="en-US"/>
        </a:p>
      </dgm:t>
    </dgm:pt>
    <dgm:pt modelId="{78D16235-E127-4752-A278-53372BA8BCD8}" type="sibTrans" cxnId="{A456A1FB-378D-4CED-AE93-3DB453721E98}">
      <dgm:prSet/>
      <dgm:spPr/>
      <dgm:t>
        <a:bodyPr/>
        <a:lstStyle/>
        <a:p>
          <a:endParaRPr lang="en-US"/>
        </a:p>
      </dgm:t>
    </dgm:pt>
    <dgm:pt modelId="{84DCB1B6-59ED-48EC-B501-9A19F59C05F6}">
      <dgm:prSet/>
      <dgm:spPr>
        <a:effectLst>
          <a:outerShdw blurRad="63500" sx="102000" sy="102000" algn="ctr" rotWithShape="0">
            <a:prstClr val="black">
              <a:alpha val="40000"/>
            </a:prstClr>
          </a:outerShdw>
        </a:effectLst>
      </dgm:spPr>
      <dgm:t>
        <a:bodyPr/>
        <a:lstStyle/>
        <a:p>
          <a:pPr>
            <a:buFont typeface="Arial" panose="020B0604020202020204" pitchFamily="34" charset="0"/>
            <a:buChar char="•"/>
          </a:pPr>
          <a:r>
            <a:rPr lang="en-US" b="0" dirty="0">
              <a:effectLst/>
            </a:rPr>
            <a:t>Determine Elastic Modulus from linear fit</a:t>
          </a:r>
        </a:p>
      </dgm:t>
    </dgm:pt>
    <dgm:pt modelId="{1BF46831-A72C-4762-ADD5-4058B89503D5}" type="parTrans" cxnId="{7754224A-9453-42D5-BCEB-251147B48925}">
      <dgm:prSet/>
      <dgm:spPr/>
      <dgm:t>
        <a:bodyPr/>
        <a:lstStyle/>
        <a:p>
          <a:endParaRPr lang="en-US"/>
        </a:p>
      </dgm:t>
    </dgm:pt>
    <dgm:pt modelId="{48EAD43F-72EC-417F-8DDD-FCCDFA9A49C7}" type="sibTrans" cxnId="{7754224A-9453-42D5-BCEB-251147B48925}">
      <dgm:prSet/>
      <dgm:spPr/>
      <dgm:t>
        <a:bodyPr/>
        <a:lstStyle/>
        <a:p>
          <a:endParaRPr lang="en-US"/>
        </a:p>
      </dgm:t>
    </dgm:pt>
    <dgm:pt modelId="{9CFE6212-E71D-4B07-B357-BE6CD2FEC5A5}">
      <dgm:prSet/>
      <dgm:spPr>
        <a:effectLst>
          <a:outerShdw blurRad="63500" sx="102000" sy="102000" algn="ctr" rotWithShape="0">
            <a:prstClr val="black">
              <a:alpha val="40000"/>
            </a:prstClr>
          </a:outerShdw>
        </a:effectLst>
      </dgm:spPr>
      <dgm:t>
        <a:bodyPr/>
        <a:lstStyle/>
        <a:p>
          <a:pPr>
            <a:buFont typeface="Arial" panose="020B0604020202020204" pitchFamily="34" charset="0"/>
            <a:buChar char="•"/>
          </a:pPr>
          <a:r>
            <a:rPr lang="en-US" b="0" dirty="0">
              <a:effectLst/>
            </a:rPr>
            <a:t>Construct 0.2% Offset</a:t>
          </a:r>
        </a:p>
      </dgm:t>
    </dgm:pt>
    <dgm:pt modelId="{B2170012-236F-4853-A1C4-463B07A2DCEB}" type="parTrans" cxnId="{C76BE1CE-53F5-4A0E-981B-7D1CB00CBD31}">
      <dgm:prSet/>
      <dgm:spPr/>
      <dgm:t>
        <a:bodyPr/>
        <a:lstStyle/>
        <a:p>
          <a:endParaRPr lang="en-US"/>
        </a:p>
      </dgm:t>
    </dgm:pt>
    <dgm:pt modelId="{AB8DC3B7-ED95-4A5C-88C9-D072FA3ABF01}" type="sibTrans" cxnId="{C76BE1CE-53F5-4A0E-981B-7D1CB00CBD31}">
      <dgm:prSet/>
      <dgm:spPr/>
      <dgm:t>
        <a:bodyPr/>
        <a:lstStyle/>
        <a:p>
          <a:endParaRPr lang="en-US"/>
        </a:p>
      </dgm:t>
    </dgm:pt>
    <mc:AlternateContent xmlns:mc="http://schemas.openxmlformats.org/markup-compatibility/2006" xmlns:a14="http://schemas.microsoft.com/office/drawing/2010/main">
      <mc:Choice Requires="a14">
        <dgm:pt modelId="{36000A1A-FC04-4E10-BAA8-1D6F1122CB97}">
          <dgm:prSet/>
          <dgm:spPr>
            <a:effectLst>
              <a:outerShdw blurRad="63500" sx="102000" sy="102000" algn="ctr" rotWithShape="0">
                <a:prstClr val="black">
                  <a:alpha val="40000"/>
                </a:prstClr>
              </a:outerShdw>
            </a:effectLst>
          </dgm:spPr>
          <dgm:t>
            <a:bodyPr/>
            <a:lstStyle/>
            <a:p>
              <a:pPr>
                <a:buFont typeface="Arial" panose="020B0604020202020204" pitchFamily="34" charset="0"/>
                <a:buChar char="•"/>
              </a:pPr>
              <a:r>
                <a:rPr lang="en-US" b="0" dirty="0">
                  <a:effectLst/>
                </a:rPr>
                <a:t>Determine initial yield point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𝜎</m:t>
                      </m:r>
                    </m:e>
                    <m:sub>
                      <m:r>
                        <a:rPr lang="en-US" b="0" i="1" smtClean="0">
                          <a:effectLst/>
                          <a:latin typeface="Cambria Math" panose="02040503050406030204" pitchFamily="18" charset="0"/>
                        </a:rPr>
                        <m:t>𝑦𝑜</m:t>
                      </m:r>
                    </m:sub>
                  </m:sSub>
                </m:oMath>
              </a14:m>
              <a:endParaRPr lang="en-US" b="0" dirty="0">
                <a:effectLst/>
              </a:endParaRPr>
            </a:p>
          </dgm:t>
        </dgm:pt>
      </mc:Choice>
      <mc:Fallback xmlns="">
        <dgm:pt modelId="{36000A1A-FC04-4E10-BAA8-1D6F1122CB97}">
          <dgm:prSet/>
          <dgm:spPr>
            <a:effectLst>
              <a:outerShdw blurRad="63500" sx="102000" sy="102000" algn="ctr" rotWithShape="0">
                <a:prstClr val="black">
                  <a:alpha val="40000"/>
                </a:prstClr>
              </a:outerShdw>
            </a:effectLst>
          </dgm:spPr>
          <dgm:t>
            <a:bodyPr/>
            <a:lstStyle/>
            <a:p>
              <a:pPr>
                <a:buFont typeface="Arial" panose="020B0604020202020204" pitchFamily="34" charset="0"/>
                <a:buChar char="•"/>
              </a:pPr>
              <a:r>
                <a:rPr lang="en-US" b="0" dirty="0">
                  <a:effectLst/>
                </a:rPr>
                <a:t>Determine initial yield point </a:t>
              </a:r>
              <a:r>
                <a:rPr lang="en-US" b="0" i="0">
                  <a:effectLst/>
                  <a:latin typeface="Cambria Math" panose="02040503050406030204" pitchFamily="18" charset="0"/>
                </a:rPr>
                <a:t>𝜎_𝑦𝑜</a:t>
              </a:r>
              <a:endParaRPr lang="en-US" b="0" dirty="0">
                <a:effectLst/>
              </a:endParaRPr>
            </a:p>
          </dgm:t>
        </dgm:pt>
      </mc:Fallback>
    </mc:AlternateContent>
    <dgm:pt modelId="{EEDE633F-A6CC-4EAE-BF44-7305ABC9F711}" type="parTrans" cxnId="{1EAB77C1-3E5A-4983-92E1-667301CAAB9F}">
      <dgm:prSet/>
      <dgm:spPr/>
      <dgm:t>
        <a:bodyPr/>
        <a:lstStyle/>
        <a:p>
          <a:endParaRPr lang="en-US"/>
        </a:p>
      </dgm:t>
    </dgm:pt>
    <dgm:pt modelId="{FDEAFB16-B403-449C-AF3C-F79FF5589BCE}" type="sibTrans" cxnId="{1EAB77C1-3E5A-4983-92E1-667301CAAB9F}">
      <dgm:prSet/>
      <dgm:spPr/>
      <dgm:t>
        <a:bodyPr/>
        <a:lstStyle/>
        <a:p>
          <a:endParaRPr lang="en-US"/>
        </a:p>
      </dgm:t>
    </dgm:pt>
    <dgm:pt modelId="{1B084856-22E5-4839-8489-A61AB11665D1}">
      <dgm:prSet/>
      <dgm:spPr>
        <a:effectLst>
          <a:outerShdw blurRad="63500" sx="102000" sy="102000" algn="ctr" rotWithShape="0">
            <a:prstClr val="black">
              <a:alpha val="40000"/>
            </a:prstClr>
          </a:outerShdw>
        </a:effectLst>
      </dgm:spPr>
      <dgm:t>
        <a:bodyPr/>
        <a:lstStyle/>
        <a:p>
          <a:r>
            <a:rPr lang="en-US" dirty="0">
              <a:effectLst/>
            </a:rPr>
            <a:t>Determine to use Q and b for isotropic expansion.</a:t>
          </a:r>
        </a:p>
      </dgm:t>
    </dgm:pt>
    <dgm:pt modelId="{6C452265-11B5-4A9E-8FF5-B0F0A83C0B24}" type="parTrans" cxnId="{A0739AE2-AA25-4FEC-A1F3-33FD70F1E626}">
      <dgm:prSet/>
      <dgm:spPr/>
      <dgm:t>
        <a:bodyPr/>
        <a:lstStyle/>
        <a:p>
          <a:endParaRPr lang="en-US"/>
        </a:p>
      </dgm:t>
    </dgm:pt>
    <dgm:pt modelId="{74CA9A1F-6ECD-496F-8058-C1A645467326}" type="sibTrans" cxnId="{A0739AE2-AA25-4FEC-A1F3-33FD70F1E626}">
      <dgm:prSet/>
      <dgm:spPr/>
      <dgm:t>
        <a:bodyPr/>
        <a:lstStyle/>
        <a:p>
          <a:endParaRPr lang="en-US"/>
        </a:p>
      </dgm:t>
    </dgm:pt>
    <dgm:pt modelId="{338FBFB0-33AE-4DDF-9CA5-C6E6DAD7D1BB}">
      <dgm:prSet/>
      <dgm:spPr>
        <a:effectLst>
          <a:outerShdw blurRad="63500" sx="102000" sy="102000" algn="ctr" rotWithShape="0">
            <a:prstClr val="black">
              <a:alpha val="40000"/>
            </a:prstClr>
          </a:outerShdw>
        </a:effectLst>
      </dgm:spPr>
      <dgm:t>
        <a:bodyPr/>
        <a:lstStyle/>
        <a:p>
          <a:endParaRPr lang="en-US" dirty="0">
            <a:effectLst/>
          </a:endParaRPr>
        </a:p>
      </dgm:t>
    </dgm:pt>
    <dgm:pt modelId="{07198D22-DE61-4E88-929E-09BFAC97B46D}" type="parTrans" cxnId="{3AA13F20-11E0-4E9D-BBB3-89ED37ECED15}">
      <dgm:prSet/>
      <dgm:spPr/>
      <dgm:t>
        <a:bodyPr/>
        <a:lstStyle/>
        <a:p>
          <a:endParaRPr lang="en-US"/>
        </a:p>
      </dgm:t>
    </dgm:pt>
    <dgm:pt modelId="{297CE1B5-8612-44A2-8FFD-DB1C6795F96A}" type="sibTrans" cxnId="{3AA13F20-11E0-4E9D-BBB3-89ED37ECED15}">
      <dgm:prSet/>
      <dgm:spPr/>
      <dgm:t>
        <a:bodyPr/>
        <a:lstStyle/>
        <a:p>
          <a:endParaRPr lang="en-US"/>
        </a:p>
      </dgm:t>
    </dgm:pt>
    <mc:AlternateContent xmlns:mc="http://schemas.openxmlformats.org/markup-compatibility/2006" xmlns:a14="http://schemas.microsoft.com/office/drawing/2010/main">
      <mc:Choice Requires="a14">
        <dgm:pt modelId="{03053076-D2A3-4B64-B837-895CA0266FFE}">
          <dgm:prSet/>
          <dgm:spPr>
            <a:effectLst>
              <a:outerShdw blurRad="63500" sx="102000" sy="102000" algn="ctr" rotWithShape="0">
                <a:prstClr val="black">
                  <a:alpha val="40000"/>
                </a:prstClr>
              </a:outerShdw>
            </a:effectLst>
          </dgm:spPr>
          <dgm:t>
            <a:bodyPr/>
            <a:lstStyle/>
            <a:p>
              <a:r>
                <a:rPr lang="en-US" dirty="0">
                  <a:effectLst/>
                </a:rPr>
                <a:t>Determine number of back-stress components numbers (</a:t>
              </a:r>
              <a:r>
                <a:rPr lang="en-US" dirty="0" err="1">
                  <a:effectLst/>
                </a:rPr>
                <a:t>i</a:t>
              </a:r>
              <a:r>
                <a:rPr lang="en-US" dirty="0">
                  <a:effectLst/>
                </a:rPr>
                <a:t> = 2) -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𝛾</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 </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𝐶</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 </m:t>
                  </m:r>
                </m:oMath>
              </a14:m>
              <a:endParaRPr lang="en-US" dirty="0">
                <a:effectLst/>
              </a:endParaRPr>
            </a:p>
          </dgm:t>
        </dgm:pt>
      </mc:Choice>
      <mc:Fallback xmlns="">
        <dgm:pt modelId="{03053076-D2A3-4B64-B837-895CA0266FFE}">
          <dgm:prSet/>
          <dgm:spPr>
            <a:effectLst>
              <a:outerShdw blurRad="63500" sx="102000" sy="102000" algn="ctr" rotWithShape="0">
                <a:prstClr val="black">
                  <a:alpha val="40000"/>
                </a:prstClr>
              </a:outerShdw>
            </a:effectLst>
          </dgm:spPr>
          <dgm:t>
            <a:bodyPr/>
            <a:lstStyle/>
            <a:p>
              <a:r>
                <a:rPr lang="en-US" dirty="0">
                  <a:effectLst/>
                </a:rPr>
                <a:t>Determine number of back-stress components numbers (</a:t>
              </a:r>
              <a:r>
                <a:rPr lang="en-US" dirty="0" err="1">
                  <a:effectLst/>
                </a:rPr>
                <a:t>i</a:t>
              </a:r>
              <a:r>
                <a:rPr lang="en-US" dirty="0">
                  <a:effectLst/>
                </a:rPr>
                <a:t> = 2) -   </a:t>
              </a:r>
              <a:r>
                <a:rPr lang="en-US" b="0" i="0">
                  <a:effectLst/>
                  <a:latin typeface="Cambria Math" panose="02040503050406030204" pitchFamily="18" charset="0"/>
                </a:rPr>
                <a:t>𝛾_𝑖, 𝐶_𝑖  </a:t>
              </a:r>
              <a:endParaRPr lang="en-US" dirty="0">
                <a:effectLst/>
              </a:endParaRPr>
            </a:p>
          </dgm:t>
        </dgm:pt>
      </mc:Fallback>
    </mc:AlternateContent>
    <dgm:pt modelId="{F378BE63-566A-454E-9EE1-D2A8661DB405}" type="sibTrans" cxnId="{8DD8CE38-3A52-427A-8D74-1CDE714D8B19}">
      <dgm:prSet/>
      <dgm:spPr/>
      <dgm:t>
        <a:bodyPr/>
        <a:lstStyle/>
        <a:p>
          <a:endParaRPr lang="en-US"/>
        </a:p>
      </dgm:t>
    </dgm:pt>
    <dgm:pt modelId="{CB366A24-C072-4DBE-A357-011CF4DEC249}" type="parTrans" cxnId="{8DD8CE38-3A52-427A-8D74-1CDE714D8B19}">
      <dgm:prSet/>
      <dgm:spPr/>
      <dgm:t>
        <a:bodyPr/>
        <a:lstStyle/>
        <a:p>
          <a:endParaRPr lang="en-US"/>
        </a:p>
      </dgm:t>
    </dgm:pt>
    <dgm:pt modelId="{1C165324-6FD2-4537-9D38-AC5F3A910FE5}">
      <dgm:prSet/>
      <dgm:spPr>
        <a:effectLst>
          <a:outerShdw blurRad="63500" sx="102000" sy="102000" algn="ctr" rotWithShape="0">
            <a:prstClr val="black">
              <a:alpha val="40000"/>
            </a:prstClr>
          </a:outerShdw>
        </a:effectLst>
      </dgm:spPr>
      <dgm:t>
        <a:bodyPr/>
        <a:lstStyle/>
        <a:p>
          <a:pPr>
            <a:buNone/>
          </a:pPr>
          <a:r>
            <a:rPr lang="en-US" dirty="0">
              <a:effectLst/>
            </a:rPr>
            <a:t>…using until stabilized loops</a:t>
          </a:r>
        </a:p>
      </dgm:t>
    </dgm:pt>
    <dgm:pt modelId="{94672D86-487B-4470-9784-5789B5A46496}" type="parTrans" cxnId="{2D8C0318-8030-40E8-A2A9-3E4846A47755}">
      <dgm:prSet/>
      <dgm:spPr/>
    </dgm:pt>
    <dgm:pt modelId="{F2688E83-3245-4AD3-8D85-9FA3738600B3}" type="sibTrans" cxnId="{2D8C0318-8030-40E8-A2A9-3E4846A47755}">
      <dgm:prSet/>
      <dgm:spPr/>
    </dgm:pt>
    <dgm:pt modelId="{B62E61A1-FBC6-4C08-BF2B-266719205E3C}" type="pres">
      <dgm:prSet presAssocID="{BC1CD83E-DFCE-47D1-9ADC-FD99EA5A7290}" presName="linearFlow" presStyleCnt="0">
        <dgm:presLayoutVars>
          <dgm:dir/>
          <dgm:animLvl val="lvl"/>
          <dgm:resizeHandles val="exact"/>
        </dgm:presLayoutVars>
      </dgm:prSet>
      <dgm:spPr/>
    </dgm:pt>
    <dgm:pt modelId="{C8EA0278-4061-42B4-92BB-9827713964C0}" type="pres">
      <dgm:prSet presAssocID="{B5122B48-6D24-4FEF-B8DB-ACB7D306D632}" presName="composite" presStyleCnt="0"/>
      <dgm:spPr/>
    </dgm:pt>
    <dgm:pt modelId="{96BEFEEC-D1C2-4A4E-AB12-8ACB25065B39}" type="pres">
      <dgm:prSet presAssocID="{B5122B48-6D24-4FEF-B8DB-ACB7D306D632}" presName="parTx" presStyleLbl="node1" presStyleIdx="0" presStyleCnt="2">
        <dgm:presLayoutVars>
          <dgm:chMax val="0"/>
          <dgm:chPref val="0"/>
          <dgm:bulletEnabled val="1"/>
        </dgm:presLayoutVars>
      </dgm:prSet>
      <dgm:spPr/>
    </dgm:pt>
    <dgm:pt modelId="{2C375DCC-D325-462A-B140-9CA7F38857A8}" type="pres">
      <dgm:prSet presAssocID="{B5122B48-6D24-4FEF-B8DB-ACB7D306D632}" presName="parSh" presStyleLbl="node1" presStyleIdx="0" presStyleCnt="2" custScaleX="113651" custScaleY="127360"/>
      <dgm:spPr/>
    </dgm:pt>
    <dgm:pt modelId="{9A6B741F-139D-44C8-97B8-71D39CBC807F}" type="pres">
      <dgm:prSet presAssocID="{B5122B48-6D24-4FEF-B8DB-ACB7D306D632}" presName="desTx" presStyleLbl="fgAcc1" presStyleIdx="0" presStyleCnt="2" custScaleX="123580" custScaleY="83007" custLinFactNeighborY="-2051">
        <dgm:presLayoutVars>
          <dgm:bulletEnabled val="1"/>
        </dgm:presLayoutVars>
      </dgm:prSet>
      <dgm:spPr/>
    </dgm:pt>
    <dgm:pt modelId="{B185C491-AAFD-4539-8AA2-1A6080415B83}" type="pres">
      <dgm:prSet presAssocID="{21131812-1813-43CA-97D7-9128E4FD898A}" presName="sibTrans" presStyleLbl="sibTrans2D1" presStyleIdx="0" presStyleCnt="1" custAng="21585863" custScaleX="110471" custScaleY="119853" custLinFactNeighborX="7829" custLinFactNeighborY="59393"/>
      <dgm:spPr/>
    </dgm:pt>
    <dgm:pt modelId="{52637DA5-4895-4D84-B9BE-E30AE4F6A398}" type="pres">
      <dgm:prSet presAssocID="{21131812-1813-43CA-97D7-9128E4FD898A}" presName="connTx" presStyleLbl="sibTrans2D1" presStyleIdx="0" presStyleCnt="1"/>
      <dgm:spPr/>
    </dgm:pt>
    <dgm:pt modelId="{C364BBA3-4BCC-4380-B523-F01967918758}" type="pres">
      <dgm:prSet presAssocID="{A9441FDB-039B-4E06-A2BB-701D6BDCF42C}" presName="composite" presStyleCnt="0"/>
      <dgm:spPr/>
    </dgm:pt>
    <dgm:pt modelId="{008BB722-6FE6-4024-A633-2A843C08EA65}" type="pres">
      <dgm:prSet presAssocID="{A9441FDB-039B-4E06-A2BB-701D6BDCF42C}" presName="parTx" presStyleLbl="node1" presStyleIdx="0" presStyleCnt="2">
        <dgm:presLayoutVars>
          <dgm:chMax val="0"/>
          <dgm:chPref val="0"/>
          <dgm:bulletEnabled val="1"/>
        </dgm:presLayoutVars>
      </dgm:prSet>
      <dgm:spPr/>
    </dgm:pt>
    <dgm:pt modelId="{92EB4EA1-43BC-4250-A98D-20FB5FDB1501}" type="pres">
      <dgm:prSet presAssocID="{A9441FDB-039B-4E06-A2BB-701D6BDCF42C}" presName="parSh" presStyleLbl="node1" presStyleIdx="1" presStyleCnt="2" custScaleX="118679" custScaleY="126904" custLinFactNeighborY="3634"/>
      <dgm:spPr/>
    </dgm:pt>
    <dgm:pt modelId="{6944E515-E165-4E05-BA41-AD6FCF47BB30}" type="pres">
      <dgm:prSet presAssocID="{A9441FDB-039B-4E06-A2BB-701D6BDCF42C}" presName="desTx" presStyleLbl="fgAcc1" presStyleIdx="1" presStyleCnt="2" custScaleX="125649" custScaleY="83338" custLinFactNeighborX="-180" custLinFactNeighborY="-860">
        <dgm:presLayoutVars>
          <dgm:bulletEnabled val="1"/>
        </dgm:presLayoutVars>
      </dgm:prSet>
      <dgm:spPr/>
    </dgm:pt>
  </dgm:ptLst>
  <dgm:cxnLst>
    <dgm:cxn modelId="{46C5CD01-EC3A-4FC2-B2CA-4D15A67F2C60}" type="presOf" srcId="{490C83CD-282B-471F-A297-030EF8124A33}" destId="{9A6B741F-139D-44C8-97B8-71D39CBC807F}" srcOrd="0" destOrd="0" presId="urn:microsoft.com/office/officeart/2005/8/layout/process3"/>
    <dgm:cxn modelId="{5331CE09-7552-40A2-BF1A-59F598586FE5}" type="presOf" srcId="{3772FC91-D193-4E20-928C-BE92C3EE2EAE}" destId="{9A6B741F-139D-44C8-97B8-71D39CBC807F}" srcOrd="0" destOrd="1" presId="urn:microsoft.com/office/officeart/2005/8/layout/process3"/>
    <dgm:cxn modelId="{2D8C0318-8030-40E8-A2A9-3E4846A47755}" srcId="{A9441FDB-039B-4E06-A2BB-701D6BDCF42C}" destId="{1C165324-6FD2-4537-9D38-AC5F3A910FE5}" srcOrd="3" destOrd="0" parTransId="{94672D86-487B-4470-9784-5789B5A46496}" sibTransId="{F2688E83-3245-4AD3-8D85-9FA3738600B3}"/>
    <dgm:cxn modelId="{C9B5F71D-169B-4A0B-A6DB-30B7E8CA9BE5}" type="presOf" srcId="{A9441FDB-039B-4E06-A2BB-701D6BDCF42C}" destId="{92EB4EA1-43BC-4250-A98D-20FB5FDB1501}" srcOrd="1" destOrd="0" presId="urn:microsoft.com/office/officeart/2005/8/layout/process3"/>
    <dgm:cxn modelId="{3AA13F20-11E0-4E9D-BBB3-89ED37ECED15}" srcId="{A9441FDB-039B-4E06-A2BB-701D6BDCF42C}" destId="{338FBFB0-33AE-4DDF-9CA5-C6E6DAD7D1BB}" srcOrd="0" destOrd="0" parTransId="{07198D22-DE61-4E88-929E-09BFAC97B46D}" sibTransId="{297CE1B5-8612-44A2-8FFD-DB1C6795F96A}"/>
    <dgm:cxn modelId="{24D3D436-EBAC-457A-8538-13C15E632295}" type="presOf" srcId="{338FBFB0-33AE-4DDF-9CA5-C6E6DAD7D1BB}" destId="{6944E515-E165-4E05-BA41-AD6FCF47BB30}" srcOrd="0" destOrd="0" presId="urn:microsoft.com/office/officeart/2005/8/layout/process3"/>
    <dgm:cxn modelId="{8DD8CE38-3A52-427A-8D74-1CDE714D8B19}" srcId="{A9441FDB-039B-4E06-A2BB-701D6BDCF42C}" destId="{03053076-D2A3-4B64-B837-895CA0266FFE}" srcOrd="1" destOrd="0" parTransId="{CB366A24-C072-4DBE-A357-011CF4DEC249}" sibTransId="{F378BE63-566A-454E-9EE1-D2A8661DB405}"/>
    <dgm:cxn modelId="{C7EB8839-56BA-49A8-A624-EE702E523B52}" type="presOf" srcId="{A9441FDB-039B-4E06-A2BB-701D6BDCF42C}" destId="{008BB722-6FE6-4024-A633-2A843C08EA65}" srcOrd="0" destOrd="0" presId="urn:microsoft.com/office/officeart/2005/8/layout/process3"/>
    <dgm:cxn modelId="{C7392A5D-546B-4798-B81D-2735422B99EF}" type="presOf" srcId="{36000A1A-FC04-4E10-BAA8-1D6F1122CB97}" destId="{9A6B741F-139D-44C8-97B8-71D39CBC807F}" srcOrd="0" destOrd="4" presId="urn:microsoft.com/office/officeart/2005/8/layout/process3"/>
    <dgm:cxn modelId="{7754224A-9453-42D5-BCEB-251147B48925}" srcId="{B5122B48-6D24-4FEF-B8DB-ACB7D306D632}" destId="{84DCB1B6-59ED-48EC-B501-9A19F59C05F6}" srcOrd="2" destOrd="0" parTransId="{1BF46831-A72C-4762-ADD5-4058B89503D5}" sibTransId="{48EAD43F-72EC-417F-8DDD-FCCDFA9A49C7}"/>
    <dgm:cxn modelId="{737B396F-1EB4-420F-95A3-17F1246A193A}" type="presOf" srcId="{1B084856-22E5-4839-8489-A61AB11665D1}" destId="{6944E515-E165-4E05-BA41-AD6FCF47BB30}" srcOrd="0" destOrd="2" presId="urn:microsoft.com/office/officeart/2005/8/layout/process3"/>
    <dgm:cxn modelId="{4C840874-3328-467C-B20A-428E7182C5FB}" type="presOf" srcId="{BC1CD83E-DFCE-47D1-9ADC-FD99EA5A7290}" destId="{B62E61A1-FBC6-4C08-BF2B-266719205E3C}" srcOrd="0" destOrd="0" presId="urn:microsoft.com/office/officeart/2005/8/layout/process3"/>
    <dgm:cxn modelId="{E6D39181-10FB-4704-8A34-7491014011F4}" srcId="{BC1CD83E-DFCE-47D1-9ADC-FD99EA5A7290}" destId="{B5122B48-6D24-4FEF-B8DB-ACB7D306D632}" srcOrd="0" destOrd="0" parTransId="{19D26F7C-C111-46E6-B57A-5B6558D4E4CF}" sibTransId="{21131812-1813-43CA-97D7-9128E4FD898A}"/>
    <dgm:cxn modelId="{389F5E88-B80F-47D0-9ED7-C275FDF8A034}" type="presOf" srcId="{84DCB1B6-59ED-48EC-B501-9A19F59C05F6}" destId="{9A6B741F-139D-44C8-97B8-71D39CBC807F}" srcOrd="0" destOrd="2" presId="urn:microsoft.com/office/officeart/2005/8/layout/process3"/>
    <dgm:cxn modelId="{1A874B90-7673-4E32-BEDA-2A08C663AD0E}" type="presOf" srcId="{B5122B48-6D24-4FEF-B8DB-ACB7D306D632}" destId="{96BEFEEC-D1C2-4A4E-AB12-8ACB25065B39}" srcOrd="0" destOrd="0" presId="urn:microsoft.com/office/officeart/2005/8/layout/process3"/>
    <dgm:cxn modelId="{6A9731B6-6D53-44B8-891B-1CB34900E492}" srcId="{B5122B48-6D24-4FEF-B8DB-ACB7D306D632}" destId="{490C83CD-282B-471F-A297-030EF8124A33}" srcOrd="0" destOrd="0" parTransId="{93FE4C2F-618F-432D-A121-1BFD924C7808}" sibTransId="{F99714D9-3249-41D1-8E99-1C2641A06755}"/>
    <dgm:cxn modelId="{5619DBB8-87C2-4491-B056-ED4B34B21219}" type="presOf" srcId="{21131812-1813-43CA-97D7-9128E4FD898A}" destId="{52637DA5-4895-4D84-B9BE-E30AE4F6A398}" srcOrd="1" destOrd="0" presId="urn:microsoft.com/office/officeart/2005/8/layout/process3"/>
    <dgm:cxn modelId="{9C08CEBA-BA9A-4E88-9AEC-9D1417A46BA4}" type="presOf" srcId="{21131812-1813-43CA-97D7-9128E4FD898A}" destId="{B185C491-AAFD-4539-8AA2-1A6080415B83}" srcOrd="0" destOrd="0" presId="urn:microsoft.com/office/officeart/2005/8/layout/process3"/>
    <dgm:cxn modelId="{1EAB77C1-3E5A-4983-92E1-667301CAAB9F}" srcId="{B5122B48-6D24-4FEF-B8DB-ACB7D306D632}" destId="{36000A1A-FC04-4E10-BAA8-1D6F1122CB97}" srcOrd="4" destOrd="0" parTransId="{EEDE633F-A6CC-4EAE-BF44-7305ABC9F711}" sibTransId="{FDEAFB16-B403-449C-AF3C-F79FF5589BCE}"/>
    <dgm:cxn modelId="{0A6DC8CE-9DB7-4B8A-BA4F-307C6FA6AAF7}" type="presOf" srcId="{03053076-D2A3-4B64-B837-895CA0266FFE}" destId="{6944E515-E165-4E05-BA41-AD6FCF47BB30}" srcOrd="0" destOrd="1" presId="urn:microsoft.com/office/officeart/2005/8/layout/process3"/>
    <dgm:cxn modelId="{C76BE1CE-53F5-4A0E-981B-7D1CB00CBD31}" srcId="{B5122B48-6D24-4FEF-B8DB-ACB7D306D632}" destId="{9CFE6212-E71D-4B07-B357-BE6CD2FEC5A5}" srcOrd="3" destOrd="0" parTransId="{B2170012-236F-4853-A1C4-463B07A2DCEB}" sibTransId="{AB8DC3B7-ED95-4A5C-88C9-D072FA3ABF01}"/>
    <dgm:cxn modelId="{4F26FAD8-6EAA-4B26-B185-8F1CF6268C28}" srcId="{BC1CD83E-DFCE-47D1-9ADC-FD99EA5A7290}" destId="{A9441FDB-039B-4E06-A2BB-701D6BDCF42C}" srcOrd="1" destOrd="0" parTransId="{9A114420-D8A4-435D-932C-409CBCFE5DC2}" sibTransId="{349CE1CA-8EDD-441A-BC4B-96DA651F2681}"/>
    <dgm:cxn modelId="{A0739AE2-AA25-4FEC-A1F3-33FD70F1E626}" srcId="{A9441FDB-039B-4E06-A2BB-701D6BDCF42C}" destId="{1B084856-22E5-4839-8489-A61AB11665D1}" srcOrd="2" destOrd="0" parTransId="{6C452265-11B5-4A9E-8FF5-B0F0A83C0B24}" sibTransId="{74CA9A1F-6ECD-496F-8058-C1A645467326}"/>
    <dgm:cxn modelId="{2BBCA5E9-F913-4B0F-B101-B8ACEF3A3C61}" type="presOf" srcId="{B5122B48-6D24-4FEF-B8DB-ACB7D306D632}" destId="{2C375DCC-D325-462A-B140-9CA7F38857A8}" srcOrd="1" destOrd="0" presId="urn:microsoft.com/office/officeart/2005/8/layout/process3"/>
    <dgm:cxn modelId="{1C89CBED-4366-4028-8359-262A69138CB1}" type="presOf" srcId="{9CFE6212-E71D-4B07-B357-BE6CD2FEC5A5}" destId="{9A6B741F-139D-44C8-97B8-71D39CBC807F}" srcOrd="0" destOrd="3" presId="urn:microsoft.com/office/officeart/2005/8/layout/process3"/>
    <dgm:cxn modelId="{7B2112F7-C20E-4558-A72D-2A7BB4174C9E}" type="presOf" srcId="{1C165324-6FD2-4537-9D38-AC5F3A910FE5}" destId="{6944E515-E165-4E05-BA41-AD6FCF47BB30}" srcOrd="0" destOrd="3" presId="urn:microsoft.com/office/officeart/2005/8/layout/process3"/>
    <dgm:cxn modelId="{A456A1FB-378D-4CED-AE93-3DB453721E98}" srcId="{B5122B48-6D24-4FEF-B8DB-ACB7D306D632}" destId="{3772FC91-D193-4E20-928C-BE92C3EE2EAE}" srcOrd="1" destOrd="0" parTransId="{BF5BED14-6466-4760-8815-DD6F47ECA3A4}" sibTransId="{78D16235-E127-4752-A278-53372BA8BCD8}"/>
    <dgm:cxn modelId="{098BC3A6-3413-4E30-B9F8-956151AE9F89}" type="presParOf" srcId="{B62E61A1-FBC6-4C08-BF2B-266719205E3C}" destId="{C8EA0278-4061-42B4-92BB-9827713964C0}" srcOrd="0" destOrd="0" presId="urn:microsoft.com/office/officeart/2005/8/layout/process3"/>
    <dgm:cxn modelId="{1109057E-1049-45E4-AB25-C53A4DA6DB77}" type="presParOf" srcId="{C8EA0278-4061-42B4-92BB-9827713964C0}" destId="{96BEFEEC-D1C2-4A4E-AB12-8ACB25065B39}" srcOrd="0" destOrd="0" presId="urn:microsoft.com/office/officeart/2005/8/layout/process3"/>
    <dgm:cxn modelId="{23D8DB57-85C4-419A-9F18-27879A63CD15}" type="presParOf" srcId="{C8EA0278-4061-42B4-92BB-9827713964C0}" destId="{2C375DCC-D325-462A-B140-9CA7F38857A8}" srcOrd="1" destOrd="0" presId="urn:microsoft.com/office/officeart/2005/8/layout/process3"/>
    <dgm:cxn modelId="{99EF3449-1929-4AC5-961D-7093DC92A25E}" type="presParOf" srcId="{C8EA0278-4061-42B4-92BB-9827713964C0}" destId="{9A6B741F-139D-44C8-97B8-71D39CBC807F}" srcOrd="2" destOrd="0" presId="urn:microsoft.com/office/officeart/2005/8/layout/process3"/>
    <dgm:cxn modelId="{A2E2A14F-7238-4B85-AF2C-CFAE1F790B04}" type="presParOf" srcId="{B62E61A1-FBC6-4C08-BF2B-266719205E3C}" destId="{B185C491-AAFD-4539-8AA2-1A6080415B83}" srcOrd="1" destOrd="0" presId="urn:microsoft.com/office/officeart/2005/8/layout/process3"/>
    <dgm:cxn modelId="{28DE5CDC-A44E-461D-9D87-F02F787C6DD4}" type="presParOf" srcId="{B185C491-AAFD-4539-8AA2-1A6080415B83}" destId="{52637DA5-4895-4D84-B9BE-E30AE4F6A398}" srcOrd="0" destOrd="0" presId="urn:microsoft.com/office/officeart/2005/8/layout/process3"/>
    <dgm:cxn modelId="{DDBDF228-BFA1-42D5-824C-3C47B4B3034C}" type="presParOf" srcId="{B62E61A1-FBC6-4C08-BF2B-266719205E3C}" destId="{C364BBA3-4BCC-4380-B523-F01967918758}" srcOrd="2" destOrd="0" presId="urn:microsoft.com/office/officeart/2005/8/layout/process3"/>
    <dgm:cxn modelId="{348669DF-B744-4713-A1AD-ABDF8B77FB15}" type="presParOf" srcId="{C364BBA3-4BCC-4380-B523-F01967918758}" destId="{008BB722-6FE6-4024-A633-2A843C08EA65}" srcOrd="0" destOrd="0" presId="urn:microsoft.com/office/officeart/2005/8/layout/process3"/>
    <dgm:cxn modelId="{2D8B7497-349D-4E29-BF71-FB56BDF2AD4C}" type="presParOf" srcId="{C364BBA3-4BCC-4380-B523-F01967918758}" destId="{92EB4EA1-43BC-4250-A98D-20FB5FDB1501}" srcOrd="1" destOrd="0" presId="urn:microsoft.com/office/officeart/2005/8/layout/process3"/>
    <dgm:cxn modelId="{3ACA8AA1-9EF2-4DE3-BA94-4A2DC06CFCCA}" type="presParOf" srcId="{C364BBA3-4BCC-4380-B523-F01967918758}" destId="{6944E515-E165-4E05-BA41-AD6FCF47BB30}" srcOrd="2" destOrd="0" presId="urn:microsoft.com/office/officeart/2005/8/layout/process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C1CD83E-DFCE-47D1-9ADC-FD99EA5A7290}"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B5122B48-6D24-4FEF-B8DB-ACB7D306D632}">
      <dgm:prSet custT="1"/>
      <dgm:spPr/>
      <dgm:t>
        <a:bodyPr/>
        <a:lstStyle/>
        <a:p>
          <a:r>
            <a:rPr lang="en-US" sz="1600" dirty="0">
              <a:effectLst>
                <a:outerShdw blurRad="38100" dist="38100" dir="2700000" algn="tl">
                  <a:srgbClr val="000000">
                    <a:alpha val="43137"/>
                  </a:srgbClr>
                </a:outerShdw>
              </a:effectLst>
            </a:rPr>
            <a:t>Elastic Region Analysis</a:t>
          </a:r>
        </a:p>
      </dgm:t>
    </dgm:pt>
    <dgm:pt modelId="{19D26F7C-C111-46E6-B57A-5B6558D4E4CF}" type="parTrans" cxnId="{E6D39181-10FB-4704-8A34-7491014011F4}">
      <dgm:prSet/>
      <dgm:spPr/>
      <dgm:t>
        <a:bodyPr/>
        <a:lstStyle/>
        <a:p>
          <a:endParaRPr lang="en-US"/>
        </a:p>
      </dgm:t>
    </dgm:pt>
    <dgm:pt modelId="{21131812-1813-43CA-97D7-9128E4FD898A}" type="sibTrans" cxnId="{E6D39181-10FB-4704-8A34-7491014011F4}">
      <dgm:prSet/>
      <dgm:spPr/>
      <dgm:t>
        <a:bodyPr/>
        <a:lstStyle/>
        <a:p>
          <a:endParaRPr lang="en-US"/>
        </a:p>
      </dgm:t>
    </dgm:pt>
    <dgm:pt modelId="{A9441FDB-039B-4E06-A2BB-701D6BDCF42C}">
      <dgm:prSet custT="1"/>
      <dgm:spPr/>
      <dgm:t>
        <a:bodyPr/>
        <a:lstStyle/>
        <a:p>
          <a:endParaRPr lang="en-US" sz="1600" dirty="0">
            <a:effectLst>
              <a:outerShdw blurRad="38100" dist="38100" dir="2700000" algn="tl">
                <a:srgbClr val="000000">
                  <a:alpha val="43137"/>
                </a:srgbClr>
              </a:outerShdw>
            </a:effectLst>
          </a:endParaRPr>
        </a:p>
      </dgm:t>
    </dgm:pt>
    <dgm:pt modelId="{9A114420-D8A4-435D-932C-409CBCFE5DC2}" type="parTrans" cxnId="{4F26FAD8-6EAA-4B26-B185-8F1CF6268C28}">
      <dgm:prSet/>
      <dgm:spPr/>
      <dgm:t>
        <a:bodyPr/>
        <a:lstStyle/>
        <a:p>
          <a:endParaRPr lang="en-US"/>
        </a:p>
      </dgm:t>
    </dgm:pt>
    <dgm:pt modelId="{349CE1CA-8EDD-441A-BC4B-96DA651F2681}" type="sibTrans" cxnId="{4F26FAD8-6EAA-4B26-B185-8F1CF6268C28}">
      <dgm:prSet/>
      <dgm:spPr/>
      <dgm:t>
        <a:bodyPr/>
        <a:lstStyle/>
        <a:p>
          <a:endParaRPr lang="en-US"/>
        </a:p>
      </dgm:t>
    </dgm:pt>
    <dgm:pt modelId="{490C83CD-282B-471F-A297-030EF8124A33}">
      <dgm:prSet/>
      <dgm:spPr>
        <a:blipFill>
          <a:blip xmlns:r="http://schemas.openxmlformats.org/officeDocument/2006/relationships" r:embed="rId1"/>
          <a:stretch>
            <a:fillRect/>
          </a:stretch>
        </a:blipFill>
      </dgm:spPr>
      <dgm:t>
        <a:bodyPr/>
        <a:lstStyle/>
        <a:p>
          <a:r>
            <a:rPr lang="en-US">
              <a:noFill/>
            </a:rPr>
            <a:t> </a:t>
          </a:r>
        </a:p>
      </dgm:t>
    </dgm:pt>
    <dgm:pt modelId="{93FE4C2F-618F-432D-A121-1BFD924C7808}" type="parTrans" cxnId="{6A9731B6-6D53-44B8-891B-1CB34900E492}">
      <dgm:prSet/>
      <dgm:spPr/>
      <dgm:t>
        <a:bodyPr/>
        <a:lstStyle/>
        <a:p>
          <a:endParaRPr lang="en-US"/>
        </a:p>
      </dgm:t>
    </dgm:pt>
    <dgm:pt modelId="{F99714D9-3249-41D1-8E99-1C2641A06755}" type="sibTrans" cxnId="{6A9731B6-6D53-44B8-891B-1CB34900E492}">
      <dgm:prSet/>
      <dgm:spPr/>
      <dgm:t>
        <a:bodyPr/>
        <a:lstStyle/>
        <a:p>
          <a:endParaRPr lang="en-US"/>
        </a:p>
      </dgm:t>
    </dgm:pt>
    <dgm:pt modelId="{3772FC91-D193-4E20-928C-BE92C3EE2EAE}">
      <dgm:prSet/>
      <dgm:spPr/>
      <dgm:t>
        <a:bodyPr/>
        <a:lstStyle/>
        <a:p>
          <a:r>
            <a:rPr lang="en-US">
              <a:noFill/>
            </a:rPr>
            <a:t> </a:t>
          </a:r>
        </a:p>
      </dgm:t>
    </dgm:pt>
    <dgm:pt modelId="{BF5BED14-6466-4760-8815-DD6F47ECA3A4}" type="parTrans" cxnId="{A456A1FB-378D-4CED-AE93-3DB453721E98}">
      <dgm:prSet/>
      <dgm:spPr/>
      <dgm:t>
        <a:bodyPr/>
        <a:lstStyle/>
        <a:p>
          <a:endParaRPr lang="en-US"/>
        </a:p>
      </dgm:t>
    </dgm:pt>
    <dgm:pt modelId="{78D16235-E127-4752-A278-53372BA8BCD8}" type="sibTrans" cxnId="{A456A1FB-378D-4CED-AE93-3DB453721E98}">
      <dgm:prSet/>
      <dgm:spPr/>
      <dgm:t>
        <a:bodyPr/>
        <a:lstStyle/>
        <a:p>
          <a:endParaRPr lang="en-US"/>
        </a:p>
      </dgm:t>
    </dgm:pt>
    <dgm:pt modelId="{84DCB1B6-59ED-48EC-B501-9A19F59C05F6}">
      <dgm:prSet/>
      <dgm:spPr/>
      <dgm:t>
        <a:bodyPr/>
        <a:lstStyle/>
        <a:p>
          <a:r>
            <a:rPr lang="en-US">
              <a:noFill/>
            </a:rPr>
            <a:t> </a:t>
          </a:r>
        </a:p>
      </dgm:t>
    </dgm:pt>
    <dgm:pt modelId="{1BF46831-A72C-4762-ADD5-4058B89503D5}" type="parTrans" cxnId="{7754224A-9453-42D5-BCEB-251147B48925}">
      <dgm:prSet/>
      <dgm:spPr/>
      <dgm:t>
        <a:bodyPr/>
        <a:lstStyle/>
        <a:p>
          <a:endParaRPr lang="en-US"/>
        </a:p>
      </dgm:t>
    </dgm:pt>
    <dgm:pt modelId="{48EAD43F-72EC-417F-8DDD-FCCDFA9A49C7}" type="sibTrans" cxnId="{7754224A-9453-42D5-BCEB-251147B48925}">
      <dgm:prSet/>
      <dgm:spPr/>
      <dgm:t>
        <a:bodyPr/>
        <a:lstStyle/>
        <a:p>
          <a:endParaRPr lang="en-US"/>
        </a:p>
      </dgm:t>
    </dgm:pt>
    <dgm:pt modelId="{9CFE6212-E71D-4B07-B357-BE6CD2FEC5A5}">
      <dgm:prSet/>
      <dgm:spPr/>
      <dgm:t>
        <a:bodyPr/>
        <a:lstStyle/>
        <a:p>
          <a:r>
            <a:rPr lang="en-US">
              <a:noFill/>
            </a:rPr>
            <a:t> </a:t>
          </a:r>
        </a:p>
      </dgm:t>
    </dgm:pt>
    <dgm:pt modelId="{B2170012-236F-4853-A1C4-463B07A2DCEB}" type="parTrans" cxnId="{C76BE1CE-53F5-4A0E-981B-7D1CB00CBD31}">
      <dgm:prSet/>
      <dgm:spPr/>
      <dgm:t>
        <a:bodyPr/>
        <a:lstStyle/>
        <a:p>
          <a:endParaRPr lang="en-US"/>
        </a:p>
      </dgm:t>
    </dgm:pt>
    <dgm:pt modelId="{AB8DC3B7-ED95-4A5C-88C9-D072FA3ABF01}" type="sibTrans" cxnId="{C76BE1CE-53F5-4A0E-981B-7D1CB00CBD31}">
      <dgm:prSet/>
      <dgm:spPr/>
      <dgm:t>
        <a:bodyPr/>
        <a:lstStyle/>
        <a:p>
          <a:endParaRPr lang="en-US"/>
        </a:p>
      </dgm:t>
    </dgm:pt>
    <dgm:pt modelId="{36000A1A-FC04-4E10-BAA8-1D6F1122CB97}">
      <dgm:prSet/>
      <dgm:spPr/>
      <dgm:t>
        <a:bodyPr/>
        <a:lstStyle/>
        <a:p>
          <a:r>
            <a:rPr lang="en-US">
              <a:noFill/>
            </a:rPr>
            <a:t> </a:t>
          </a:r>
        </a:p>
      </dgm:t>
    </dgm:pt>
    <dgm:pt modelId="{EEDE633F-A6CC-4EAE-BF44-7305ABC9F711}" type="parTrans" cxnId="{1EAB77C1-3E5A-4983-92E1-667301CAAB9F}">
      <dgm:prSet/>
      <dgm:spPr/>
      <dgm:t>
        <a:bodyPr/>
        <a:lstStyle/>
        <a:p>
          <a:endParaRPr lang="en-US"/>
        </a:p>
      </dgm:t>
    </dgm:pt>
    <dgm:pt modelId="{FDEAFB16-B403-449C-AF3C-F79FF5589BCE}" type="sibTrans" cxnId="{1EAB77C1-3E5A-4983-92E1-667301CAAB9F}">
      <dgm:prSet/>
      <dgm:spPr/>
      <dgm:t>
        <a:bodyPr/>
        <a:lstStyle/>
        <a:p>
          <a:endParaRPr lang="en-US"/>
        </a:p>
      </dgm:t>
    </dgm:pt>
    <dgm:pt modelId="{03053076-D2A3-4B64-B837-895CA0266FFE}">
      <dgm:prSet/>
      <dgm:spPr>
        <a:blipFill>
          <a:blip xmlns:r="http://schemas.openxmlformats.org/officeDocument/2006/relationships" r:embed="rId2"/>
          <a:stretch>
            <a:fillRect/>
          </a:stretch>
        </a:blipFill>
      </dgm:spPr>
      <dgm:t>
        <a:bodyPr/>
        <a:lstStyle/>
        <a:p>
          <a:r>
            <a:rPr lang="en-US">
              <a:noFill/>
            </a:rPr>
            <a:t> </a:t>
          </a:r>
        </a:p>
      </dgm:t>
    </dgm:pt>
    <dgm:pt modelId="{CB366A24-C072-4DBE-A357-011CF4DEC249}" type="parTrans" cxnId="{8DD8CE38-3A52-427A-8D74-1CDE714D8B19}">
      <dgm:prSet/>
      <dgm:spPr/>
      <dgm:t>
        <a:bodyPr/>
        <a:lstStyle/>
        <a:p>
          <a:endParaRPr lang="en-US"/>
        </a:p>
      </dgm:t>
    </dgm:pt>
    <dgm:pt modelId="{F378BE63-566A-454E-9EE1-D2A8661DB405}" type="sibTrans" cxnId="{8DD8CE38-3A52-427A-8D74-1CDE714D8B19}">
      <dgm:prSet/>
      <dgm:spPr/>
      <dgm:t>
        <a:bodyPr/>
        <a:lstStyle/>
        <a:p>
          <a:endParaRPr lang="en-US"/>
        </a:p>
      </dgm:t>
    </dgm:pt>
    <dgm:pt modelId="{1B084856-22E5-4839-8489-A61AB11665D1}">
      <dgm:prSet/>
      <dgm:spPr/>
      <dgm:t>
        <a:bodyPr/>
        <a:lstStyle/>
        <a:p>
          <a:r>
            <a:rPr lang="en-US">
              <a:noFill/>
            </a:rPr>
            <a:t> </a:t>
          </a:r>
        </a:p>
      </dgm:t>
    </dgm:pt>
    <dgm:pt modelId="{6C452265-11B5-4A9E-8FF5-B0F0A83C0B24}" type="parTrans" cxnId="{A0739AE2-AA25-4FEC-A1F3-33FD70F1E626}">
      <dgm:prSet/>
      <dgm:spPr/>
      <dgm:t>
        <a:bodyPr/>
        <a:lstStyle/>
        <a:p>
          <a:endParaRPr lang="en-US"/>
        </a:p>
      </dgm:t>
    </dgm:pt>
    <dgm:pt modelId="{74CA9A1F-6ECD-496F-8058-C1A645467326}" type="sibTrans" cxnId="{A0739AE2-AA25-4FEC-A1F3-33FD70F1E626}">
      <dgm:prSet/>
      <dgm:spPr/>
      <dgm:t>
        <a:bodyPr/>
        <a:lstStyle/>
        <a:p>
          <a:endParaRPr lang="en-US"/>
        </a:p>
      </dgm:t>
    </dgm:pt>
    <dgm:pt modelId="{E4D34923-2426-4480-A125-983331E1AE45}">
      <dgm:prSet/>
      <dgm:spPr/>
      <dgm:t>
        <a:bodyPr/>
        <a:lstStyle/>
        <a:p>
          <a:r>
            <a:rPr lang="en-US">
              <a:noFill/>
            </a:rPr>
            <a:t> </a:t>
          </a:r>
        </a:p>
      </dgm:t>
    </dgm:pt>
    <dgm:pt modelId="{EC1CC1D3-C650-447B-9D92-40093841145F}" type="parTrans" cxnId="{4639FB00-B8CA-449E-B029-8C7B6A4CC4EB}">
      <dgm:prSet/>
      <dgm:spPr/>
      <dgm:t>
        <a:bodyPr/>
        <a:lstStyle/>
        <a:p>
          <a:endParaRPr lang="en-US"/>
        </a:p>
      </dgm:t>
    </dgm:pt>
    <dgm:pt modelId="{56BD7074-A8D7-45F6-8B75-6E7321BA7E12}" type="sibTrans" cxnId="{4639FB00-B8CA-449E-B029-8C7B6A4CC4EB}">
      <dgm:prSet/>
      <dgm:spPr/>
      <dgm:t>
        <a:bodyPr/>
        <a:lstStyle/>
        <a:p>
          <a:endParaRPr lang="en-US"/>
        </a:p>
      </dgm:t>
    </dgm:pt>
    <dgm:pt modelId="{6AB32B6C-F367-48EB-B7CC-D88826036F8E}">
      <dgm:prSet/>
      <dgm:spPr/>
      <dgm:t>
        <a:bodyPr/>
        <a:lstStyle/>
        <a:p>
          <a:r>
            <a:rPr lang="en-US">
              <a:noFill/>
            </a:rPr>
            <a:t> </a:t>
          </a:r>
        </a:p>
      </dgm:t>
    </dgm:pt>
    <dgm:pt modelId="{4316D327-96EF-46B9-B8C8-3827E20A2944}" type="parTrans" cxnId="{C37C6E0E-EB27-4EE4-8A73-3BB5E3080394}">
      <dgm:prSet/>
      <dgm:spPr/>
      <dgm:t>
        <a:bodyPr/>
        <a:lstStyle/>
        <a:p>
          <a:endParaRPr lang="en-US"/>
        </a:p>
      </dgm:t>
    </dgm:pt>
    <dgm:pt modelId="{67970F9B-E5A2-4EE8-BD3A-0ACB1DFF067E}" type="sibTrans" cxnId="{C37C6E0E-EB27-4EE4-8A73-3BB5E3080394}">
      <dgm:prSet/>
      <dgm:spPr/>
      <dgm:t>
        <a:bodyPr/>
        <a:lstStyle/>
        <a:p>
          <a:endParaRPr lang="en-US"/>
        </a:p>
      </dgm:t>
    </dgm:pt>
    <dgm:pt modelId="{B62E61A1-FBC6-4C08-BF2B-266719205E3C}" type="pres">
      <dgm:prSet presAssocID="{BC1CD83E-DFCE-47D1-9ADC-FD99EA5A7290}" presName="linearFlow" presStyleCnt="0">
        <dgm:presLayoutVars>
          <dgm:dir/>
          <dgm:animLvl val="lvl"/>
          <dgm:resizeHandles val="exact"/>
        </dgm:presLayoutVars>
      </dgm:prSet>
      <dgm:spPr/>
    </dgm:pt>
    <dgm:pt modelId="{C8EA0278-4061-42B4-92BB-9827713964C0}" type="pres">
      <dgm:prSet presAssocID="{B5122B48-6D24-4FEF-B8DB-ACB7D306D632}" presName="composite" presStyleCnt="0"/>
      <dgm:spPr/>
    </dgm:pt>
    <dgm:pt modelId="{96BEFEEC-D1C2-4A4E-AB12-8ACB25065B39}" type="pres">
      <dgm:prSet presAssocID="{B5122B48-6D24-4FEF-B8DB-ACB7D306D632}" presName="parTx" presStyleLbl="node1" presStyleIdx="0" presStyleCnt="2">
        <dgm:presLayoutVars>
          <dgm:chMax val="0"/>
          <dgm:chPref val="0"/>
          <dgm:bulletEnabled val="1"/>
        </dgm:presLayoutVars>
      </dgm:prSet>
      <dgm:spPr/>
    </dgm:pt>
    <dgm:pt modelId="{2C375DCC-D325-462A-B140-9CA7F38857A8}" type="pres">
      <dgm:prSet presAssocID="{B5122B48-6D24-4FEF-B8DB-ACB7D306D632}" presName="parSh" presStyleLbl="node1" presStyleIdx="0" presStyleCnt="2" custScaleX="113651" custScaleY="127360"/>
      <dgm:spPr/>
    </dgm:pt>
    <dgm:pt modelId="{9A6B741F-139D-44C8-97B8-71D39CBC807F}" type="pres">
      <dgm:prSet presAssocID="{B5122B48-6D24-4FEF-B8DB-ACB7D306D632}" presName="desTx" presStyleLbl="fgAcc1" presStyleIdx="0" presStyleCnt="2" custScaleX="125231" custScaleY="84324">
        <dgm:presLayoutVars>
          <dgm:bulletEnabled val="1"/>
        </dgm:presLayoutVars>
      </dgm:prSet>
      <dgm:spPr/>
    </dgm:pt>
    <dgm:pt modelId="{B185C491-AAFD-4539-8AA2-1A6080415B83}" type="pres">
      <dgm:prSet presAssocID="{21131812-1813-43CA-97D7-9128E4FD898A}" presName="sibTrans" presStyleLbl="sibTrans2D1" presStyleIdx="0" presStyleCnt="1" custLinFactNeighborY="23508"/>
      <dgm:spPr/>
    </dgm:pt>
    <dgm:pt modelId="{52637DA5-4895-4D84-B9BE-E30AE4F6A398}" type="pres">
      <dgm:prSet presAssocID="{21131812-1813-43CA-97D7-9128E4FD898A}" presName="connTx" presStyleLbl="sibTrans2D1" presStyleIdx="0" presStyleCnt="1"/>
      <dgm:spPr/>
    </dgm:pt>
    <dgm:pt modelId="{C364BBA3-4BCC-4380-B523-F01967918758}" type="pres">
      <dgm:prSet presAssocID="{A9441FDB-039B-4E06-A2BB-701D6BDCF42C}" presName="composite" presStyleCnt="0"/>
      <dgm:spPr/>
    </dgm:pt>
    <dgm:pt modelId="{008BB722-6FE6-4024-A633-2A843C08EA65}" type="pres">
      <dgm:prSet presAssocID="{A9441FDB-039B-4E06-A2BB-701D6BDCF42C}" presName="parTx" presStyleLbl="node1" presStyleIdx="0" presStyleCnt="2">
        <dgm:presLayoutVars>
          <dgm:chMax val="0"/>
          <dgm:chPref val="0"/>
          <dgm:bulletEnabled val="1"/>
        </dgm:presLayoutVars>
      </dgm:prSet>
      <dgm:spPr/>
    </dgm:pt>
    <dgm:pt modelId="{92EB4EA1-43BC-4250-A98D-20FB5FDB1501}" type="pres">
      <dgm:prSet presAssocID="{A9441FDB-039B-4E06-A2BB-701D6BDCF42C}" presName="parSh" presStyleLbl="node1" presStyleIdx="1" presStyleCnt="2" custScaleX="116763" custScaleY="138684" custLinFactNeighborX="-5190" custLinFactNeighborY="-12525"/>
      <dgm:spPr/>
    </dgm:pt>
    <dgm:pt modelId="{6944E515-E165-4E05-BA41-AD6FCF47BB30}" type="pres">
      <dgm:prSet presAssocID="{A9441FDB-039B-4E06-A2BB-701D6BDCF42C}" presName="desTx" presStyleLbl="fgAcc1" presStyleIdx="1" presStyleCnt="2" custScaleX="131637" custScaleY="82951" custLinFactNeighborX="6691" custLinFactNeighborY="-2632">
        <dgm:presLayoutVars>
          <dgm:bulletEnabled val="1"/>
        </dgm:presLayoutVars>
      </dgm:prSet>
      <dgm:spPr/>
    </dgm:pt>
  </dgm:ptLst>
  <dgm:cxnLst>
    <dgm:cxn modelId="{4639FB00-B8CA-449E-B029-8C7B6A4CC4EB}" srcId="{A9441FDB-039B-4E06-A2BB-701D6BDCF42C}" destId="{E4D34923-2426-4480-A125-983331E1AE45}" srcOrd="2" destOrd="0" parTransId="{EC1CC1D3-C650-447B-9D92-40093841145F}" sibTransId="{56BD7074-A8D7-45F6-8B75-6E7321BA7E12}"/>
    <dgm:cxn modelId="{46C5CD01-EC3A-4FC2-B2CA-4D15A67F2C60}" type="presOf" srcId="{490C83CD-282B-471F-A297-030EF8124A33}" destId="{9A6B741F-139D-44C8-97B8-71D39CBC807F}" srcOrd="0" destOrd="0" presId="urn:microsoft.com/office/officeart/2005/8/layout/process3"/>
    <dgm:cxn modelId="{5331CE09-7552-40A2-BF1A-59F598586FE5}" type="presOf" srcId="{3772FC91-D193-4E20-928C-BE92C3EE2EAE}" destId="{9A6B741F-139D-44C8-97B8-71D39CBC807F}" srcOrd="0" destOrd="1" presId="urn:microsoft.com/office/officeart/2005/8/layout/process3"/>
    <dgm:cxn modelId="{C37C6E0E-EB27-4EE4-8A73-3BB5E3080394}" srcId="{A9441FDB-039B-4E06-A2BB-701D6BDCF42C}" destId="{6AB32B6C-F367-48EB-B7CC-D88826036F8E}" srcOrd="3" destOrd="0" parTransId="{4316D327-96EF-46B9-B8C8-3827E20A2944}" sibTransId="{67970F9B-E5A2-4EE8-BD3A-0ACB1DFF067E}"/>
    <dgm:cxn modelId="{C9B5F71D-169B-4A0B-A6DB-30B7E8CA9BE5}" type="presOf" srcId="{A9441FDB-039B-4E06-A2BB-701D6BDCF42C}" destId="{92EB4EA1-43BC-4250-A98D-20FB5FDB1501}" srcOrd="1" destOrd="0" presId="urn:microsoft.com/office/officeart/2005/8/layout/process3"/>
    <dgm:cxn modelId="{8DD8CE38-3A52-427A-8D74-1CDE714D8B19}" srcId="{A9441FDB-039B-4E06-A2BB-701D6BDCF42C}" destId="{03053076-D2A3-4B64-B837-895CA0266FFE}" srcOrd="0" destOrd="0" parTransId="{CB366A24-C072-4DBE-A357-011CF4DEC249}" sibTransId="{F378BE63-566A-454E-9EE1-D2A8661DB405}"/>
    <dgm:cxn modelId="{C7EB8839-56BA-49A8-A624-EE702E523B52}" type="presOf" srcId="{A9441FDB-039B-4E06-A2BB-701D6BDCF42C}" destId="{008BB722-6FE6-4024-A633-2A843C08EA65}" srcOrd="0" destOrd="0" presId="urn:microsoft.com/office/officeart/2005/8/layout/process3"/>
    <dgm:cxn modelId="{C7392A5D-546B-4798-B81D-2735422B99EF}" type="presOf" srcId="{36000A1A-FC04-4E10-BAA8-1D6F1122CB97}" destId="{9A6B741F-139D-44C8-97B8-71D39CBC807F}" srcOrd="0" destOrd="4" presId="urn:microsoft.com/office/officeart/2005/8/layout/process3"/>
    <dgm:cxn modelId="{7754224A-9453-42D5-BCEB-251147B48925}" srcId="{B5122B48-6D24-4FEF-B8DB-ACB7D306D632}" destId="{84DCB1B6-59ED-48EC-B501-9A19F59C05F6}" srcOrd="2" destOrd="0" parTransId="{1BF46831-A72C-4762-ADD5-4058B89503D5}" sibTransId="{48EAD43F-72EC-417F-8DDD-FCCDFA9A49C7}"/>
    <dgm:cxn modelId="{737B396F-1EB4-420F-95A3-17F1246A193A}" type="presOf" srcId="{1B084856-22E5-4839-8489-A61AB11665D1}" destId="{6944E515-E165-4E05-BA41-AD6FCF47BB30}" srcOrd="0" destOrd="1" presId="urn:microsoft.com/office/officeart/2005/8/layout/process3"/>
    <dgm:cxn modelId="{4C840874-3328-467C-B20A-428E7182C5FB}" type="presOf" srcId="{BC1CD83E-DFCE-47D1-9ADC-FD99EA5A7290}" destId="{B62E61A1-FBC6-4C08-BF2B-266719205E3C}" srcOrd="0" destOrd="0" presId="urn:microsoft.com/office/officeart/2005/8/layout/process3"/>
    <dgm:cxn modelId="{E6D39181-10FB-4704-8A34-7491014011F4}" srcId="{BC1CD83E-DFCE-47D1-9ADC-FD99EA5A7290}" destId="{B5122B48-6D24-4FEF-B8DB-ACB7D306D632}" srcOrd="0" destOrd="0" parTransId="{19D26F7C-C111-46E6-B57A-5B6558D4E4CF}" sibTransId="{21131812-1813-43CA-97D7-9128E4FD898A}"/>
    <dgm:cxn modelId="{DC1B1285-1C32-4742-8932-6971F8C23376}" type="presOf" srcId="{E4D34923-2426-4480-A125-983331E1AE45}" destId="{6944E515-E165-4E05-BA41-AD6FCF47BB30}" srcOrd="0" destOrd="2" presId="urn:microsoft.com/office/officeart/2005/8/layout/process3"/>
    <dgm:cxn modelId="{389F5E88-B80F-47D0-9ED7-C275FDF8A034}" type="presOf" srcId="{84DCB1B6-59ED-48EC-B501-9A19F59C05F6}" destId="{9A6B741F-139D-44C8-97B8-71D39CBC807F}" srcOrd="0" destOrd="2" presId="urn:microsoft.com/office/officeart/2005/8/layout/process3"/>
    <dgm:cxn modelId="{1A874B90-7673-4E32-BEDA-2A08C663AD0E}" type="presOf" srcId="{B5122B48-6D24-4FEF-B8DB-ACB7D306D632}" destId="{96BEFEEC-D1C2-4A4E-AB12-8ACB25065B39}" srcOrd="0" destOrd="0" presId="urn:microsoft.com/office/officeart/2005/8/layout/process3"/>
    <dgm:cxn modelId="{8C35DBB2-4C59-4EFD-A09A-BB9C9559DC0F}" type="presOf" srcId="{6AB32B6C-F367-48EB-B7CC-D88826036F8E}" destId="{6944E515-E165-4E05-BA41-AD6FCF47BB30}" srcOrd="0" destOrd="3" presId="urn:microsoft.com/office/officeart/2005/8/layout/process3"/>
    <dgm:cxn modelId="{6A9731B6-6D53-44B8-891B-1CB34900E492}" srcId="{B5122B48-6D24-4FEF-B8DB-ACB7D306D632}" destId="{490C83CD-282B-471F-A297-030EF8124A33}" srcOrd="0" destOrd="0" parTransId="{93FE4C2F-618F-432D-A121-1BFD924C7808}" sibTransId="{F99714D9-3249-41D1-8E99-1C2641A06755}"/>
    <dgm:cxn modelId="{5619DBB8-87C2-4491-B056-ED4B34B21219}" type="presOf" srcId="{21131812-1813-43CA-97D7-9128E4FD898A}" destId="{52637DA5-4895-4D84-B9BE-E30AE4F6A398}" srcOrd="1" destOrd="0" presId="urn:microsoft.com/office/officeart/2005/8/layout/process3"/>
    <dgm:cxn modelId="{9C08CEBA-BA9A-4E88-9AEC-9D1417A46BA4}" type="presOf" srcId="{21131812-1813-43CA-97D7-9128E4FD898A}" destId="{B185C491-AAFD-4539-8AA2-1A6080415B83}" srcOrd="0" destOrd="0" presId="urn:microsoft.com/office/officeart/2005/8/layout/process3"/>
    <dgm:cxn modelId="{1EAB77C1-3E5A-4983-92E1-667301CAAB9F}" srcId="{B5122B48-6D24-4FEF-B8DB-ACB7D306D632}" destId="{36000A1A-FC04-4E10-BAA8-1D6F1122CB97}" srcOrd="4" destOrd="0" parTransId="{EEDE633F-A6CC-4EAE-BF44-7305ABC9F711}" sibTransId="{FDEAFB16-B403-449C-AF3C-F79FF5589BCE}"/>
    <dgm:cxn modelId="{0A6DC8CE-9DB7-4B8A-BA4F-307C6FA6AAF7}" type="presOf" srcId="{03053076-D2A3-4B64-B837-895CA0266FFE}" destId="{6944E515-E165-4E05-BA41-AD6FCF47BB30}" srcOrd="0" destOrd="0" presId="urn:microsoft.com/office/officeart/2005/8/layout/process3"/>
    <dgm:cxn modelId="{C76BE1CE-53F5-4A0E-981B-7D1CB00CBD31}" srcId="{B5122B48-6D24-4FEF-B8DB-ACB7D306D632}" destId="{9CFE6212-E71D-4B07-B357-BE6CD2FEC5A5}" srcOrd="3" destOrd="0" parTransId="{B2170012-236F-4853-A1C4-463B07A2DCEB}" sibTransId="{AB8DC3B7-ED95-4A5C-88C9-D072FA3ABF01}"/>
    <dgm:cxn modelId="{4F26FAD8-6EAA-4B26-B185-8F1CF6268C28}" srcId="{BC1CD83E-DFCE-47D1-9ADC-FD99EA5A7290}" destId="{A9441FDB-039B-4E06-A2BB-701D6BDCF42C}" srcOrd="1" destOrd="0" parTransId="{9A114420-D8A4-435D-932C-409CBCFE5DC2}" sibTransId="{349CE1CA-8EDD-441A-BC4B-96DA651F2681}"/>
    <dgm:cxn modelId="{A0739AE2-AA25-4FEC-A1F3-33FD70F1E626}" srcId="{A9441FDB-039B-4E06-A2BB-701D6BDCF42C}" destId="{1B084856-22E5-4839-8489-A61AB11665D1}" srcOrd="1" destOrd="0" parTransId="{6C452265-11B5-4A9E-8FF5-B0F0A83C0B24}" sibTransId="{74CA9A1F-6ECD-496F-8058-C1A645467326}"/>
    <dgm:cxn modelId="{2BBCA5E9-F913-4B0F-B101-B8ACEF3A3C61}" type="presOf" srcId="{B5122B48-6D24-4FEF-B8DB-ACB7D306D632}" destId="{2C375DCC-D325-462A-B140-9CA7F38857A8}" srcOrd="1" destOrd="0" presId="urn:microsoft.com/office/officeart/2005/8/layout/process3"/>
    <dgm:cxn modelId="{1C89CBED-4366-4028-8359-262A69138CB1}" type="presOf" srcId="{9CFE6212-E71D-4B07-B357-BE6CD2FEC5A5}" destId="{9A6B741F-139D-44C8-97B8-71D39CBC807F}" srcOrd="0" destOrd="3" presId="urn:microsoft.com/office/officeart/2005/8/layout/process3"/>
    <dgm:cxn modelId="{A456A1FB-378D-4CED-AE93-3DB453721E98}" srcId="{B5122B48-6D24-4FEF-B8DB-ACB7D306D632}" destId="{3772FC91-D193-4E20-928C-BE92C3EE2EAE}" srcOrd="1" destOrd="0" parTransId="{BF5BED14-6466-4760-8815-DD6F47ECA3A4}" sibTransId="{78D16235-E127-4752-A278-53372BA8BCD8}"/>
    <dgm:cxn modelId="{098BC3A6-3413-4E30-B9F8-956151AE9F89}" type="presParOf" srcId="{B62E61A1-FBC6-4C08-BF2B-266719205E3C}" destId="{C8EA0278-4061-42B4-92BB-9827713964C0}" srcOrd="0" destOrd="0" presId="urn:microsoft.com/office/officeart/2005/8/layout/process3"/>
    <dgm:cxn modelId="{1109057E-1049-45E4-AB25-C53A4DA6DB77}" type="presParOf" srcId="{C8EA0278-4061-42B4-92BB-9827713964C0}" destId="{96BEFEEC-D1C2-4A4E-AB12-8ACB25065B39}" srcOrd="0" destOrd="0" presId="urn:microsoft.com/office/officeart/2005/8/layout/process3"/>
    <dgm:cxn modelId="{23D8DB57-85C4-419A-9F18-27879A63CD15}" type="presParOf" srcId="{C8EA0278-4061-42B4-92BB-9827713964C0}" destId="{2C375DCC-D325-462A-B140-9CA7F38857A8}" srcOrd="1" destOrd="0" presId="urn:microsoft.com/office/officeart/2005/8/layout/process3"/>
    <dgm:cxn modelId="{99EF3449-1929-4AC5-961D-7093DC92A25E}" type="presParOf" srcId="{C8EA0278-4061-42B4-92BB-9827713964C0}" destId="{9A6B741F-139D-44C8-97B8-71D39CBC807F}" srcOrd="2" destOrd="0" presId="urn:microsoft.com/office/officeart/2005/8/layout/process3"/>
    <dgm:cxn modelId="{A2E2A14F-7238-4B85-AF2C-CFAE1F790B04}" type="presParOf" srcId="{B62E61A1-FBC6-4C08-BF2B-266719205E3C}" destId="{B185C491-AAFD-4539-8AA2-1A6080415B83}" srcOrd="1" destOrd="0" presId="urn:microsoft.com/office/officeart/2005/8/layout/process3"/>
    <dgm:cxn modelId="{28DE5CDC-A44E-461D-9D87-F02F787C6DD4}" type="presParOf" srcId="{B185C491-AAFD-4539-8AA2-1A6080415B83}" destId="{52637DA5-4895-4D84-B9BE-E30AE4F6A398}" srcOrd="0" destOrd="0" presId="urn:microsoft.com/office/officeart/2005/8/layout/process3"/>
    <dgm:cxn modelId="{DDBDF228-BFA1-42D5-824C-3C47B4B3034C}" type="presParOf" srcId="{B62E61A1-FBC6-4C08-BF2B-266719205E3C}" destId="{C364BBA3-4BCC-4380-B523-F01967918758}" srcOrd="2" destOrd="0" presId="urn:microsoft.com/office/officeart/2005/8/layout/process3"/>
    <dgm:cxn modelId="{348669DF-B744-4713-A1AD-ABDF8B77FB15}" type="presParOf" srcId="{C364BBA3-4BCC-4380-B523-F01967918758}" destId="{008BB722-6FE6-4024-A633-2A843C08EA65}" srcOrd="0" destOrd="0" presId="urn:microsoft.com/office/officeart/2005/8/layout/process3"/>
    <dgm:cxn modelId="{2D8B7497-349D-4E29-BF71-FB56BDF2AD4C}" type="presParOf" srcId="{C364BBA3-4BCC-4380-B523-F01967918758}" destId="{92EB4EA1-43BC-4250-A98D-20FB5FDB1501}" srcOrd="1" destOrd="0" presId="urn:microsoft.com/office/officeart/2005/8/layout/process3"/>
    <dgm:cxn modelId="{3ACA8AA1-9EF2-4DE3-BA94-4A2DC06CFCCA}" type="presParOf" srcId="{C364BBA3-4BCC-4380-B523-F01967918758}" destId="{6944E515-E165-4E05-BA41-AD6FCF47BB30}" srcOrd="2" destOrd="0" presId="urn:microsoft.com/office/officeart/2005/8/layout/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C1CD83E-DFCE-47D1-9ADC-FD99EA5A7290}" type="doc">
      <dgm:prSet loTypeId="urn:microsoft.com/office/officeart/2005/8/layout/process3" loCatId="process" qsTypeId="urn:microsoft.com/office/officeart/2005/8/quickstyle/simple4" qsCatId="simple" csTypeId="urn:microsoft.com/office/officeart/2005/8/colors/accent1_2" csCatId="accent1" phldr="1"/>
      <dgm:spPr/>
      <dgm:t>
        <a:bodyPr/>
        <a:lstStyle/>
        <a:p>
          <a:endParaRPr lang="en-US"/>
        </a:p>
      </dgm:t>
    </dgm:pt>
    <dgm:pt modelId="{B5122B48-6D24-4FEF-B8DB-ACB7D306D632}">
      <dgm:prSet custT="1"/>
      <dgm:spPr>
        <a:effectLst>
          <a:outerShdw blurRad="63500" sx="102000" sy="102000" algn="ctr" rotWithShape="0">
            <a:prstClr val="black">
              <a:alpha val="40000"/>
            </a:prstClr>
          </a:outerShdw>
        </a:effectLst>
      </dgm:spPr>
      <dgm:t>
        <a:bodyPr/>
        <a:lstStyle/>
        <a:p>
          <a:r>
            <a:rPr lang="en-US" sz="1400" dirty="0">
              <a:effectLst>
                <a:outerShdw blurRad="38100" dist="38100" dir="2700000" algn="tl">
                  <a:srgbClr val="000000">
                    <a:alpha val="43137"/>
                  </a:srgbClr>
                </a:outerShdw>
              </a:effectLst>
            </a:rPr>
            <a:t>Elastic Region Analysis</a:t>
          </a:r>
        </a:p>
      </dgm:t>
    </dgm:pt>
    <dgm:pt modelId="{19D26F7C-C111-46E6-B57A-5B6558D4E4CF}" type="parTrans" cxnId="{E6D39181-10FB-4704-8A34-7491014011F4}">
      <dgm:prSet/>
      <dgm:spPr/>
      <dgm:t>
        <a:bodyPr/>
        <a:lstStyle/>
        <a:p>
          <a:endParaRPr lang="en-US"/>
        </a:p>
      </dgm:t>
    </dgm:pt>
    <dgm:pt modelId="{21131812-1813-43CA-97D7-9128E4FD898A}" type="sibTrans" cxnId="{E6D39181-10FB-4704-8A34-7491014011F4}">
      <dgm:prSet/>
      <dgm:spPr>
        <a:effectLst>
          <a:outerShdw blurRad="63500" sx="102000" sy="102000" algn="ctr" rotWithShape="0">
            <a:prstClr val="black">
              <a:alpha val="40000"/>
            </a:prstClr>
          </a:outerShdw>
        </a:effectLst>
      </dgm:spPr>
      <dgm:t>
        <a:bodyPr/>
        <a:lstStyle/>
        <a:p>
          <a:endParaRPr lang="en-US"/>
        </a:p>
      </dgm:t>
    </dgm:pt>
    <dgm:pt modelId="{A9441FDB-039B-4E06-A2BB-701D6BDCF42C}">
      <dgm:prSet custT="1"/>
      <dgm:spPr>
        <a:effectLst>
          <a:outerShdw blurRad="63500" sx="102000" sy="102000" algn="ctr" rotWithShape="0">
            <a:prstClr val="black">
              <a:alpha val="40000"/>
            </a:prstClr>
          </a:outerShdw>
        </a:effectLst>
      </dgm:spPr>
      <dgm:t>
        <a:bodyPr/>
        <a:lstStyle/>
        <a:p>
          <a:r>
            <a:rPr lang="en-US" sz="1400" dirty="0">
              <a:effectLst>
                <a:outerShdw blurRad="38100" dist="38100" dir="2700000" algn="tl">
                  <a:srgbClr val="000000">
                    <a:alpha val="43137"/>
                  </a:srgbClr>
                </a:outerShdw>
              </a:effectLst>
            </a:rPr>
            <a:t>Determine parameter types and numbers</a:t>
          </a:r>
        </a:p>
        <a:p>
          <a:endParaRPr lang="en-US" sz="1400" dirty="0">
            <a:effectLst>
              <a:outerShdw blurRad="38100" dist="38100" dir="2700000" algn="tl">
                <a:srgbClr val="000000">
                  <a:alpha val="43137"/>
                </a:srgbClr>
              </a:outerShdw>
            </a:effectLst>
          </a:endParaRPr>
        </a:p>
      </dgm:t>
    </dgm:pt>
    <dgm:pt modelId="{9A114420-D8A4-435D-932C-409CBCFE5DC2}" type="parTrans" cxnId="{4F26FAD8-6EAA-4B26-B185-8F1CF6268C28}">
      <dgm:prSet/>
      <dgm:spPr/>
      <dgm:t>
        <a:bodyPr/>
        <a:lstStyle/>
        <a:p>
          <a:endParaRPr lang="en-US"/>
        </a:p>
      </dgm:t>
    </dgm:pt>
    <dgm:pt modelId="{349CE1CA-8EDD-441A-BC4B-96DA651F2681}" type="sibTrans" cxnId="{4F26FAD8-6EAA-4B26-B185-8F1CF6268C28}">
      <dgm:prSet/>
      <dgm:spPr/>
      <dgm:t>
        <a:bodyPr/>
        <a:lstStyle/>
        <a:p>
          <a:endParaRPr lang="en-US"/>
        </a:p>
      </dgm:t>
    </dgm:pt>
    <dgm:pt modelId="{490C83CD-282B-471F-A297-030EF8124A33}">
      <dgm:prSet/>
      <dgm:spPr>
        <a:blipFill>
          <a:blip xmlns:r="http://schemas.openxmlformats.org/officeDocument/2006/relationships" r:embed="rId1"/>
          <a:stretch>
            <a:fillRect/>
          </a:stretch>
        </a:blipFill>
        <a:effectLst>
          <a:outerShdw blurRad="63500" sx="102000" sy="102000" algn="ctr" rotWithShape="0">
            <a:prstClr val="black">
              <a:alpha val="40000"/>
            </a:prstClr>
          </a:outerShdw>
        </a:effectLst>
      </dgm:spPr>
      <dgm:t>
        <a:bodyPr/>
        <a:lstStyle/>
        <a:p>
          <a:r>
            <a:rPr lang="en-US">
              <a:noFill/>
            </a:rPr>
            <a:t> </a:t>
          </a:r>
        </a:p>
      </dgm:t>
    </dgm:pt>
    <dgm:pt modelId="{93FE4C2F-618F-432D-A121-1BFD924C7808}" type="parTrans" cxnId="{6A9731B6-6D53-44B8-891B-1CB34900E492}">
      <dgm:prSet/>
      <dgm:spPr/>
      <dgm:t>
        <a:bodyPr/>
        <a:lstStyle/>
        <a:p>
          <a:endParaRPr lang="en-US"/>
        </a:p>
      </dgm:t>
    </dgm:pt>
    <dgm:pt modelId="{F99714D9-3249-41D1-8E99-1C2641A06755}" type="sibTrans" cxnId="{6A9731B6-6D53-44B8-891B-1CB34900E492}">
      <dgm:prSet/>
      <dgm:spPr/>
      <dgm:t>
        <a:bodyPr/>
        <a:lstStyle/>
        <a:p>
          <a:endParaRPr lang="en-US"/>
        </a:p>
      </dgm:t>
    </dgm:pt>
    <dgm:pt modelId="{3772FC91-D193-4E20-928C-BE92C3EE2EAE}">
      <dgm:prSet/>
      <dgm:spPr>
        <a:effectLst>
          <a:outerShdw blurRad="63500" sx="102000" sy="102000" algn="ctr" rotWithShape="0">
            <a:prstClr val="black">
              <a:alpha val="40000"/>
            </a:prstClr>
          </a:outerShdw>
        </a:effectLst>
      </dgm:spPr>
      <dgm:t>
        <a:bodyPr/>
        <a:lstStyle/>
        <a:p>
          <a:r>
            <a:rPr lang="en-US">
              <a:noFill/>
            </a:rPr>
            <a:t> </a:t>
          </a:r>
        </a:p>
      </dgm:t>
    </dgm:pt>
    <dgm:pt modelId="{BF5BED14-6466-4760-8815-DD6F47ECA3A4}" type="parTrans" cxnId="{A456A1FB-378D-4CED-AE93-3DB453721E98}">
      <dgm:prSet/>
      <dgm:spPr/>
      <dgm:t>
        <a:bodyPr/>
        <a:lstStyle/>
        <a:p>
          <a:endParaRPr lang="en-US"/>
        </a:p>
      </dgm:t>
    </dgm:pt>
    <dgm:pt modelId="{78D16235-E127-4752-A278-53372BA8BCD8}" type="sibTrans" cxnId="{A456A1FB-378D-4CED-AE93-3DB453721E98}">
      <dgm:prSet/>
      <dgm:spPr/>
      <dgm:t>
        <a:bodyPr/>
        <a:lstStyle/>
        <a:p>
          <a:endParaRPr lang="en-US"/>
        </a:p>
      </dgm:t>
    </dgm:pt>
    <dgm:pt modelId="{84DCB1B6-59ED-48EC-B501-9A19F59C05F6}">
      <dgm:prSet/>
      <dgm:spPr>
        <a:effectLst>
          <a:outerShdw blurRad="63500" sx="102000" sy="102000" algn="ctr" rotWithShape="0">
            <a:prstClr val="black">
              <a:alpha val="40000"/>
            </a:prstClr>
          </a:outerShdw>
        </a:effectLst>
      </dgm:spPr>
      <dgm:t>
        <a:bodyPr/>
        <a:lstStyle/>
        <a:p>
          <a:r>
            <a:rPr lang="en-US">
              <a:noFill/>
            </a:rPr>
            <a:t> </a:t>
          </a:r>
        </a:p>
      </dgm:t>
    </dgm:pt>
    <dgm:pt modelId="{1BF46831-A72C-4762-ADD5-4058B89503D5}" type="parTrans" cxnId="{7754224A-9453-42D5-BCEB-251147B48925}">
      <dgm:prSet/>
      <dgm:spPr/>
      <dgm:t>
        <a:bodyPr/>
        <a:lstStyle/>
        <a:p>
          <a:endParaRPr lang="en-US"/>
        </a:p>
      </dgm:t>
    </dgm:pt>
    <dgm:pt modelId="{48EAD43F-72EC-417F-8DDD-FCCDFA9A49C7}" type="sibTrans" cxnId="{7754224A-9453-42D5-BCEB-251147B48925}">
      <dgm:prSet/>
      <dgm:spPr/>
      <dgm:t>
        <a:bodyPr/>
        <a:lstStyle/>
        <a:p>
          <a:endParaRPr lang="en-US"/>
        </a:p>
      </dgm:t>
    </dgm:pt>
    <dgm:pt modelId="{9CFE6212-E71D-4B07-B357-BE6CD2FEC5A5}">
      <dgm:prSet/>
      <dgm:spPr>
        <a:effectLst>
          <a:outerShdw blurRad="63500" sx="102000" sy="102000" algn="ctr" rotWithShape="0">
            <a:prstClr val="black">
              <a:alpha val="40000"/>
            </a:prstClr>
          </a:outerShdw>
        </a:effectLst>
      </dgm:spPr>
      <dgm:t>
        <a:bodyPr/>
        <a:lstStyle/>
        <a:p>
          <a:r>
            <a:rPr lang="en-US">
              <a:noFill/>
            </a:rPr>
            <a:t> </a:t>
          </a:r>
        </a:p>
      </dgm:t>
    </dgm:pt>
    <dgm:pt modelId="{B2170012-236F-4853-A1C4-463B07A2DCEB}" type="parTrans" cxnId="{C76BE1CE-53F5-4A0E-981B-7D1CB00CBD31}">
      <dgm:prSet/>
      <dgm:spPr/>
      <dgm:t>
        <a:bodyPr/>
        <a:lstStyle/>
        <a:p>
          <a:endParaRPr lang="en-US"/>
        </a:p>
      </dgm:t>
    </dgm:pt>
    <dgm:pt modelId="{AB8DC3B7-ED95-4A5C-88C9-D072FA3ABF01}" type="sibTrans" cxnId="{C76BE1CE-53F5-4A0E-981B-7D1CB00CBD31}">
      <dgm:prSet/>
      <dgm:spPr/>
      <dgm:t>
        <a:bodyPr/>
        <a:lstStyle/>
        <a:p>
          <a:endParaRPr lang="en-US"/>
        </a:p>
      </dgm:t>
    </dgm:pt>
    <dgm:pt modelId="{36000A1A-FC04-4E10-BAA8-1D6F1122CB97}">
      <dgm:prSet/>
      <dgm:spPr>
        <a:effectLst>
          <a:outerShdw blurRad="63500" sx="102000" sy="102000" algn="ctr" rotWithShape="0">
            <a:prstClr val="black">
              <a:alpha val="40000"/>
            </a:prstClr>
          </a:outerShdw>
        </a:effectLst>
      </dgm:spPr>
      <dgm:t>
        <a:bodyPr/>
        <a:lstStyle/>
        <a:p>
          <a:r>
            <a:rPr lang="en-US">
              <a:noFill/>
            </a:rPr>
            <a:t> </a:t>
          </a:r>
        </a:p>
      </dgm:t>
    </dgm:pt>
    <dgm:pt modelId="{EEDE633F-A6CC-4EAE-BF44-7305ABC9F711}" type="parTrans" cxnId="{1EAB77C1-3E5A-4983-92E1-667301CAAB9F}">
      <dgm:prSet/>
      <dgm:spPr/>
      <dgm:t>
        <a:bodyPr/>
        <a:lstStyle/>
        <a:p>
          <a:endParaRPr lang="en-US"/>
        </a:p>
      </dgm:t>
    </dgm:pt>
    <dgm:pt modelId="{FDEAFB16-B403-449C-AF3C-F79FF5589BCE}" type="sibTrans" cxnId="{1EAB77C1-3E5A-4983-92E1-667301CAAB9F}">
      <dgm:prSet/>
      <dgm:spPr/>
      <dgm:t>
        <a:bodyPr/>
        <a:lstStyle/>
        <a:p>
          <a:endParaRPr lang="en-US"/>
        </a:p>
      </dgm:t>
    </dgm:pt>
    <dgm:pt modelId="{1B084856-22E5-4839-8489-A61AB11665D1}">
      <dgm:prSet/>
      <dgm:spPr>
        <a:effectLst>
          <a:outerShdw blurRad="63500" sx="102000" sy="102000" algn="ctr" rotWithShape="0">
            <a:prstClr val="black">
              <a:alpha val="40000"/>
            </a:prstClr>
          </a:outerShdw>
        </a:effectLst>
      </dgm:spPr>
      <dgm:t>
        <a:bodyPr/>
        <a:lstStyle/>
        <a:p>
          <a:r>
            <a:rPr lang="en-US">
              <a:noFill/>
            </a:rPr>
            <a:t> </a:t>
          </a:r>
        </a:p>
      </dgm:t>
    </dgm:pt>
    <dgm:pt modelId="{6C452265-11B5-4A9E-8FF5-B0F0A83C0B24}" type="parTrans" cxnId="{A0739AE2-AA25-4FEC-A1F3-33FD70F1E626}">
      <dgm:prSet/>
      <dgm:spPr/>
      <dgm:t>
        <a:bodyPr/>
        <a:lstStyle/>
        <a:p>
          <a:endParaRPr lang="en-US"/>
        </a:p>
      </dgm:t>
    </dgm:pt>
    <dgm:pt modelId="{74CA9A1F-6ECD-496F-8058-C1A645467326}" type="sibTrans" cxnId="{A0739AE2-AA25-4FEC-A1F3-33FD70F1E626}">
      <dgm:prSet/>
      <dgm:spPr/>
      <dgm:t>
        <a:bodyPr/>
        <a:lstStyle/>
        <a:p>
          <a:endParaRPr lang="en-US"/>
        </a:p>
      </dgm:t>
    </dgm:pt>
    <dgm:pt modelId="{338FBFB0-33AE-4DDF-9CA5-C6E6DAD7D1BB}">
      <dgm:prSet/>
      <dgm:spPr>
        <a:blipFill>
          <a:blip xmlns:r="http://schemas.openxmlformats.org/officeDocument/2006/relationships" r:embed="rId2"/>
          <a:stretch>
            <a:fillRect/>
          </a:stretch>
        </a:blipFill>
        <a:effectLst>
          <a:outerShdw blurRad="63500" sx="102000" sy="102000" algn="ctr" rotWithShape="0">
            <a:prstClr val="black">
              <a:alpha val="40000"/>
            </a:prstClr>
          </a:outerShdw>
        </a:effectLst>
      </dgm:spPr>
      <dgm:t>
        <a:bodyPr/>
        <a:lstStyle/>
        <a:p>
          <a:r>
            <a:rPr lang="en-US">
              <a:noFill/>
            </a:rPr>
            <a:t> </a:t>
          </a:r>
        </a:p>
      </dgm:t>
    </dgm:pt>
    <dgm:pt modelId="{07198D22-DE61-4E88-929E-09BFAC97B46D}" type="parTrans" cxnId="{3AA13F20-11E0-4E9D-BBB3-89ED37ECED15}">
      <dgm:prSet/>
      <dgm:spPr/>
      <dgm:t>
        <a:bodyPr/>
        <a:lstStyle/>
        <a:p>
          <a:endParaRPr lang="en-US"/>
        </a:p>
      </dgm:t>
    </dgm:pt>
    <dgm:pt modelId="{297CE1B5-8612-44A2-8FFD-DB1C6795F96A}" type="sibTrans" cxnId="{3AA13F20-11E0-4E9D-BBB3-89ED37ECED15}">
      <dgm:prSet/>
      <dgm:spPr/>
      <dgm:t>
        <a:bodyPr/>
        <a:lstStyle/>
        <a:p>
          <a:endParaRPr lang="en-US"/>
        </a:p>
      </dgm:t>
    </dgm:pt>
    <dgm:pt modelId="{03053076-D2A3-4B64-B837-895CA0266FFE}">
      <dgm:prSet/>
      <dgm:spPr>
        <a:effectLst>
          <a:outerShdw blurRad="63500" sx="102000" sy="102000" algn="ctr" rotWithShape="0">
            <a:prstClr val="black">
              <a:alpha val="40000"/>
            </a:prstClr>
          </a:outerShdw>
        </a:effectLst>
      </dgm:spPr>
      <dgm:t>
        <a:bodyPr/>
        <a:lstStyle/>
        <a:p>
          <a:r>
            <a:rPr lang="en-US">
              <a:noFill/>
            </a:rPr>
            <a:t> </a:t>
          </a:r>
        </a:p>
      </dgm:t>
    </dgm:pt>
    <dgm:pt modelId="{F378BE63-566A-454E-9EE1-D2A8661DB405}" type="sibTrans" cxnId="{8DD8CE38-3A52-427A-8D74-1CDE714D8B19}">
      <dgm:prSet/>
      <dgm:spPr/>
      <dgm:t>
        <a:bodyPr/>
        <a:lstStyle/>
        <a:p>
          <a:endParaRPr lang="en-US"/>
        </a:p>
      </dgm:t>
    </dgm:pt>
    <dgm:pt modelId="{CB366A24-C072-4DBE-A357-011CF4DEC249}" type="parTrans" cxnId="{8DD8CE38-3A52-427A-8D74-1CDE714D8B19}">
      <dgm:prSet/>
      <dgm:spPr/>
      <dgm:t>
        <a:bodyPr/>
        <a:lstStyle/>
        <a:p>
          <a:endParaRPr lang="en-US"/>
        </a:p>
      </dgm:t>
    </dgm:pt>
    <dgm:pt modelId="{1C165324-6FD2-4537-9D38-AC5F3A910FE5}">
      <dgm:prSet/>
      <dgm:spPr>
        <a:effectLst>
          <a:outerShdw blurRad="63500" sx="102000" sy="102000" algn="ctr" rotWithShape="0">
            <a:prstClr val="black">
              <a:alpha val="40000"/>
            </a:prstClr>
          </a:outerShdw>
        </a:effectLst>
      </dgm:spPr>
      <dgm:t>
        <a:bodyPr/>
        <a:lstStyle/>
        <a:p>
          <a:r>
            <a:rPr lang="en-US">
              <a:noFill/>
            </a:rPr>
            <a:t> </a:t>
          </a:r>
        </a:p>
      </dgm:t>
    </dgm:pt>
    <dgm:pt modelId="{94672D86-487B-4470-9784-5789B5A46496}" type="parTrans" cxnId="{2D8C0318-8030-40E8-A2A9-3E4846A47755}">
      <dgm:prSet/>
      <dgm:spPr/>
    </dgm:pt>
    <dgm:pt modelId="{F2688E83-3245-4AD3-8D85-9FA3738600B3}" type="sibTrans" cxnId="{2D8C0318-8030-40E8-A2A9-3E4846A47755}">
      <dgm:prSet/>
      <dgm:spPr/>
    </dgm:pt>
    <dgm:pt modelId="{B62E61A1-FBC6-4C08-BF2B-266719205E3C}" type="pres">
      <dgm:prSet presAssocID="{BC1CD83E-DFCE-47D1-9ADC-FD99EA5A7290}" presName="linearFlow" presStyleCnt="0">
        <dgm:presLayoutVars>
          <dgm:dir/>
          <dgm:animLvl val="lvl"/>
          <dgm:resizeHandles val="exact"/>
        </dgm:presLayoutVars>
      </dgm:prSet>
      <dgm:spPr/>
    </dgm:pt>
    <dgm:pt modelId="{C8EA0278-4061-42B4-92BB-9827713964C0}" type="pres">
      <dgm:prSet presAssocID="{B5122B48-6D24-4FEF-B8DB-ACB7D306D632}" presName="composite" presStyleCnt="0"/>
      <dgm:spPr/>
    </dgm:pt>
    <dgm:pt modelId="{96BEFEEC-D1C2-4A4E-AB12-8ACB25065B39}" type="pres">
      <dgm:prSet presAssocID="{B5122B48-6D24-4FEF-B8DB-ACB7D306D632}" presName="parTx" presStyleLbl="node1" presStyleIdx="0" presStyleCnt="2">
        <dgm:presLayoutVars>
          <dgm:chMax val="0"/>
          <dgm:chPref val="0"/>
          <dgm:bulletEnabled val="1"/>
        </dgm:presLayoutVars>
      </dgm:prSet>
      <dgm:spPr/>
    </dgm:pt>
    <dgm:pt modelId="{2C375DCC-D325-462A-B140-9CA7F38857A8}" type="pres">
      <dgm:prSet presAssocID="{B5122B48-6D24-4FEF-B8DB-ACB7D306D632}" presName="parSh" presStyleLbl="node1" presStyleIdx="0" presStyleCnt="2" custScaleX="113651" custScaleY="127360"/>
      <dgm:spPr/>
    </dgm:pt>
    <dgm:pt modelId="{9A6B741F-139D-44C8-97B8-71D39CBC807F}" type="pres">
      <dgm:prSet presAssocID="{B5122B48-6D24-4FEF-B8DB-ACB7D306D632}" presName="desTx" presStyleLbl="fgAcc1" presStyleIdx="0" presStyleCnt="2" custScaleX="123580" custScaleY="83007" custLinFactNeighborY="-2051">
        <dgm:presLayoutVars>
          <dgm:bulletEnabled val="1"/>
        </dgm:presLayoutVars>
      </dgm:prSet>
      <dgm:spPr/>
    </dgm:pt>
    <dgm:pt modelId="{B185C491-AAFD-4539-8AA2-1A6080415B83}" type="pres">
      <dgm:prSet presAssocID="{21131812-1813-43CA-97D7-9128E4FD898A}" presName="sibTrans" presStyleLbl="sibTrans2D1" presStyleIdx="0" presStyleCnt="1" custAng="21585863" custScaleX="110471" custScaleY="119853" custLinFactNeighborX="7829" custLinFactNeighborY="59393"/>
      <dgm:spPr/>
    </dgm:pt>
    <dgm:pt modelId="{52637DA5-4895-4D84-B9BE-E30AE4F6A398}" type="pres">
      <dgm:prSet presAssocID="{21131812-1813-43CA-97D7-9128E4FD898A}" presName="connTx" presStyleLbl="sibTrans2D1" presStyleIdx="0" presStyleCnt="1"/>
      <dgm:spPr/>
    </dgm:pt>
    <dgm:pt modelId="{C364BBA3-4BCC-4380-B523-F01967918758}" type="pres">
      <dgm:prSet presAssocID="{A9441FDB-039B-4E06-A2BB-701D6BDCF42C}" presName="composite" presStyleCnt="0"/>
      <dgm:spPr/>
    </dgm:pt>
    <dgm:pt modelId="{008BB722-6FE6-4024-A633-2A843C08EA65}" type="pres">
      <dgm:prSet presAssocID="{A9441FDB-039B-4E06-A2BB-701D6BDCF42C}" presName="parTx" presStyleLbl="node1" presStyleIdx="0" presStyleCnt="2">
        <dgm:presLayoutVars>
          <dgm:chMax val="0"/>
          <dgm:chPref val="0"/>
          <dgm:bulletEnabled val="1"/>
        </dgm:presLayoutVars>
      </dgm:prSet>
      <dgm:spPr/>
    </dgm:pt>
    <dgm:pt modelId="{92EB4EA1-43BC-4250-A98D-20FB5FDB1501}" type="pres">
      <dgm:prSet presAssocID="{A9441FDB-039B-4E06-A2BB-701D6BDCF42C}" presName="parSh" presStyleLbl="node1" presStyleIdx="1" presStyleCnt="2" custScaleX="118679" custScaleY="126904" custLinFactNeighborY="3634"/>
      <dgm:spPr/>
    </dgm:pt>
    <dgm:pt modelId="{6944E515-E165-4E05-BA41-AD6FCF47BB30}" type="pres">
      <dgm:prSet presAssocID="{A9441FDB-039B-4E06-A2BB-701D6BDCF42C}" presName="desTx" presStyleLbl="fgAcc1" presStyleIdx="1" presStyleCnt="2" custScaleX="125649" custScaleY="83338" custLinFactNeighborX="-180" custLinFactNeighborY="-860">
        <dgm:presLayoutVars>
          <dgm:bulletEnabled val="1"/>
        </dgm:presLayoutVars>
      </dgm:prSet>
      <dgm:spPr/>
    </dgm:pt>
  </dgm:ptLst>
  <dgm:cxnLst>
    <dgm:cxn modelId="{46C5CD01-EC3A-4FC2-B2CA-4D15A67F2C60}" type="presOf" srcId="{490C83CD-282B-471F-A297-030EF8124A33}" destId="{9A6B741F-139D-44C8-97B8-71D39CBC807F}" srcOrd="0" destOrd="0" presId="urn:microsoft.com/office/officeart/2005/8/layout/process3"/>
    <dgm:cxn modelId="{5331CE09-7552-40A2-BF1A-59F598586FE5}" type="presOf" srcId="{3772FC91-D193-4E20-928C-BE92C3EE2EAE}" destId="{9A6B741F-139D-44C8-97B8-71D39CBC807F}" srcOrd="0" destOrd="1" presId="urn:microsoft.com/office/officeart/2005/8/layout/process3"/>
    <dgm:cxn modelId="{2D8C0318-8030-40E8-A2A9-3E4846A47755}" srcId="{A9441FDB-039B-4E06-A2BB-701D6BDCF42C}" destId="{1C165324-6FD2-4537-9D38-AC5F3A910FE5}" srcOrd="3" destOrd="0" parTransId="{94672D86-487B-4470-9784-5789B5A46496}" sibTransId="{F2688E83-3245-4AD3-8D85-9FA3738600B3}"/>
    <dgm:cxn modelId="{C9B5F71D-169B-4A0B-A6DB-30B7E8CA9BE5}" type="presOf" srcId="{A9441FDB-039B-4E06-A2BB-701D6BDCF42C}" destId="{92EB4EA1-43BC-4250-A98D-20FB5FDB1501}" srcOrd="1" destOrd="0" presId="urn:microsoft.com/office/officeart/2005/8/layout/process3"/>
    <dgm:cxn modelId="{3AA13F20-11E0-4E9D-BBB3-89ED37ECED15}" srcId="{A9441FDB-039B-4E06-A2BB-701D6BDCF42C}" destId="{338FBFB0-33AE-4DDF-9CA5-C6E6DAD7D1BB}" srcOrd="0" destOrd="0" parTransId="{07198D22-DE61-4E88-929E-09BFAC97B46D}" sibTransId="{297CE1B5-8612-44A2-8FFD-DB1C6795F96A}"/>
    <dgm:cxn modelId="{24D3D436-EBAC-457A-8538-13C15E632295}" type="presOf" srcId="{338FBFB0-33AE-4DDF-9CA5-C6E6DAD7D1BB}" destId="{6944E515-E165-4E05-BA41-AD6FCF47BB30}" srcOrd="0" destOrd="0" presId="urn:microsoft.com/office/officeart/2005/8/layout/process3"/>
    <dgm:cxn modelId="{8DD8CE38-3A52-427A-8D74-1CDE714D8B19}" srcId="{A9441FDB-039B-4E06-A2BB-701D6BDCF42C}" destId="{03053076-D2A3-4B64-B837-895CA0266FFE}" srcOrd="1" destOrd="0" parTransId="{CB366A24-C072-4DBE-A357-011CF4DEC249}" sibTransId="{F378BE63-566A-454E-9EE1-D2A8661DB405}"/>
    <dgm:cxn modelId="{C7EB8839-56BA-49A8-A624-EE702E523B52}" type="presOf" srcId="{A9441FDB-039B-4E06-A2BB-701D6BDCF42C}" destId="{008BB722-6FE6-4024-A633-2A843C08EA65}" srcOrd="0" destOrd="0" presId="urn:microsoft.com/office/officeart/2005/8/layout/process3"/>
    <dgm:cxn modelId="{C7392A5D-546B-4798-B81D-2735422B99EF}" type="presOf" srcId="{36000A1A-FC04-4E10-BAA8-1D6F1122CB97}" destId="{9A6B741F-139D-44C8-97B8-71D39CBC807F}" srcOrd="0" destOrd="4" presId="urn:microsoft.com/office/officeart/2005/8/layout/process3"/>
    <dgm:cxn modelId="{7754224A-9453-42D5-BCEB-251147B48925}" srcId="{B5122B48-6D24-4FEF-B8DB-ACB7D306D632}" destId="{84DCB1B6-59ED-48EC-B501-9A19F59C05F6}" srcOrd="2" destOrd="0" parTransId="{1BF46831-A72C-4762-ADD5-4058B89503D5}" sibTransId="{48EAD43F-72EC-417F-8DDD-FCCDFA9A49C7}"/>
    <dgm:cxn modelId="{737B396F-1EB4-420F-95A3-17F1246A193A}" type="presOf" srcId="{1B084856-22E5-4839-8489-A61AB11665D1}" destId="{6944E515-E165-4E05-BA41-AD6FCF47BB30}" srcOrd="0" destOrd="2" presId="urn:microsoft.com/office/officeart/2005/8/layout/process3"/>
    <dgm:cxn modelId="{4C840874-3328-467C-B20A-428E7182C5FB}" type="presOf" srcId="{BC1CD83E-DFCE-47D1-9ADC-FD99EA5A7290}" destId="{B62E61A1-FBC6-4C08-BF2B-266719205E3C}" srcOrd="0" destOrd="0" presId="urn:microsoft.com/office/officeart/2005/8/layout/process3"/>
    <dgm:cxn modelId="{E6D39181-10FB-4704-8A34-7491014011F4}" srcId="{BC1CD83E-DFCE-47D1-9ADC-FD99EA5A7290}" destId="{B5122B48-6D24-4FEF-B8DB-ACB7D306D632}" srcOrd="0" destOrd="0" parTransId="{19D26F7C-C111-46E6-B57A-5B6558D4E4CF}" sibTransId="{21131812-1813-43CA-97D7-9128E4FD898A}"/>
    <dgm:cxn modelId="{389F5E88-B80F-47D0-9ED7-C275FDF8A034}" type="presOf" srcId="{84DCB1B6-59ED-48EC-B501-9A19F59C05F6}" destId="{9A6B741F-139D-44C8-97B8-71D39CBC807F}" srcOrd="0" destOrd="2" presId="urn:microsoft.com/office/officeart/2005/8/layout/process3"/>
    <dgm:cxn modelId="{1A874B90-7673-4E32-BEDA-2A08C663AD0E}" type="presOf" srcId="{B5122B48-6D24-4FEF-B8DB-ACB7D306D632}" destId="{96BEFEEC-D1C2-4A4E-AB12-8ACB25065B39}" srcOrd="0" destOrd="0" presId="urn:microsoft.com/office/officeart/2005/8/layout/process3"/>
    <dgm:cxn modelId="{6A9731B6-6D53-44B8-891B-1CB34900E492}" srcId="{B5122B48-6D24-4FEF-B8DB-ACB7D306D632}" destId="{490C83CD-282B-471F-A297-030EF8124A33}" srcOrd="0" destOrd="0" parTransId="{93FE4C2F-618F-432D-A121-1BFD924C7808}" sibTransId="{F99714D9-3249-41D1-8E99-1C2641A06755}"/>
    <dgm:cxn modelId="{5619DBB8-87C2-4491-B056-ED4B34B21219}" type="presOf" srcId="{21131812-1813-43CA-97D7-9128E4FD898A}" destId="{52637DA5-4895-4D84-B9BE-E30AE4F6A398}" srcOrd="1" destOrd="0" presId="urn:microsoft.com/office/officeart/2005/8/layout/process3"/>
    <dgm:cxn modelId="{9C08CEBA-BA9A-4E88-9AEC-9D1417A46BA4}" type="presOf" srcId="{21131812-1813-43CA-97D7-9128E4FD898A}" destId="{B185C491-AAFD-4539-8AA2-1A6080415B83}" srcOrd="0" destOrd="0" presId="urn:microsoft.com/office/officeart/2005/8/layout/process3"/>
    <dgm:cxn modelId="{1EAB77C1-3E5A-4983-92E1-667301CAAB9F}" srcId="{B5122B48-6D24-4FEF-B8DB-ACB7D306D632}" destId="{36000A1A-FC04-4E10-BAA8-1D6F1122CB97}" srcOrd="4" destOrd="0" parTransId="{EEDE633F-A6CC-4EAE-BF44-7305ABC9F711}" sibTransId="{FDEAFB16-B403-449C-AF3C-F79FF5589BCE}"/>
    <dgm:cxn modelId="{0A6DC8CE-9DB7-4B8A-BA4F-307C6FA6AAF7}" type="presOf" srcId="{03053076-D2A3-4B64-B837-895CA0266FFE}" destId="{6944E515-E165-4E05-BA41-AD6FCF47BB30}" srcOrd="0" destOrd="1" presId="urn:microsoft.com/office/officeart/2005/8/layout/process3"/>
    <dgm:cxn modelId="{C76BE1CE-53F5-4A0E-981B-7D1CB00CBD31}" srcId="{B5122B48-6D24-4FEF-B8DB-ACB7D306D632}" destId="{9CFE6212-E71D-4B07-B357-BE6CD2FEC5A5}" srcOrd="3" destOrd="0" parTransId="{B2170012-236F-4853-A1C4-463B07A2DCEB}" sibTransId="{AB8DC3B7-ED95-4A5C-88C9-D072FA3ABF01}"/>
    <dgm:cxn modelId="{4F26FAD8-6EAA-4B26-B185-8F1CF6268C28}" srcId="{BC1CD83E-DFCE-47D1-9ADC-FD99EA5A7290}" destId="{A9441FDB-039B-4E06-A2BB-701D6BDCF42C}" srcOrd="1" destOrd="0" parTransId="{9A114420-D8A4-435D-932C-409CBCFE5DC2}" sibTransId="{349CE1CA-8EDD-441A-BC4B-96DA651F2681}"/>
    <dgm:cxn modelId="{A0739AE2-AA25-4FEC-A1F3-33FD70F1E626}" srcId="{A9441FDB-039B-4E06-A2BB-701D6BDCF42C}" destId="{1B084856-22E5-4839-8489-A61AB11665D1}" srcOrd="2" destOrd="0" parTransId="{6C452265-11B5-4A9E-8FF5-B0F0A83C0B24}" sibTransId="{74CA9A1F-6ECD-496F-8058-C1A645467326}"/>
    <dgm:cxn modelId="{2BBCA5E9-F913-4B0F-B101-B8ACEF3A3C61}" type="presOf" srcId="{B5122B48-6D24-4FEF-B8DB-ACB7D306D632}" destId="{2C375DCC-D325-462A-B140-9CA7F38857A8}" srcOrd="1" destOrd="0" presId="urn:microsoft.com/office/officeart/2005/8/layout/process3"/>
    <dgm:cxn modelId="{1C89CBED-4366-4028-8359-262A69138CB1}" type="presOf" srcId="{9CFE6212-E71D-4B07-B357-BE6CD2FEC5A5}" destId="{9A6B741F-139D-44C8-97B8-71D39CBC807F}" srcOrd="0" destOrd="3" presId="urn:microsoft.com/office/officeart/2005/8/layout/process3"/>
    <dgm:cxn modelId="{7B2112F7-C20E-4558-A72D-2A7BB4174C9E}" type="presOf" srcId="{1C165324-6FD2-4537-9D38-AC5F3A910FE5}" destId="{6944E515-E165-4E05-BA41-AD6FCF47BB30}" srcOrd="0" destOrd="3" presId="urn:microsoft.com/office/officeart/2005/8/layout/process3"/>
    <dgm:cxn modelId="{A456A1FB-378D-4CED-AE93-3DB453721E98}" srcId="{B5122B48-6D24-4FEF-B8DB-ACB7D306D632}" destId="{3772FC91-D193-4E20-928C-BE92C3EE2EAE}" srcOrd="1" destOrd="0" parTransId="{BF5BED14-6466-4760-8815-DD6F47ECA3A4}" sibTransId="{78D16235-E127-4752-A278-53372BA8BCD8}"/>
    <dgm:cxn modelId="{098BC3A6-3413-4E30-B9F8-956151AE9F89}" type="presParOf" srcId="{B62E61A1-FBC6-4C08-BF2B-266719205E3C}" destId="{C8EA0278-4061-42B4-92BB-9827713964C0}" srcOrd="0" destOrd="0" presId="urn:microsoft.com/office/officeart/2005/8/layout/process3"/>
    <dgm:cxn modelId="{1109057E-1049-45E4-AB25-C53A4DA6DB77}" type="presParOf" srcId="{C8EA0278-4061-42B4-92BB-9827713964C0}" destId="{96BEFEEC-D1C2-4A4E-AB12-8ACB25065B39}" srcOrd="0" destOrd="0" presId="urn:microsoft.com/office/officeart/2005/8/layout/process3"/>
    <dgm:cxn modelId="{23D8DB57-85C4-419A-9F18-27879A63CD15}" type="presParOf" srcId="{C8EA0278-4061-42B4-92BB-9827713964C0}" destId="{2C375DCC-D325-462A-B140-9CA7F38857A8}" srcOrd="1" destOrd="0" presId="urn:microsoft.com/office/officeart/2005/8/layout/process3"/>
    <dgm:cxn modelId="{99EF3449-1929-4AC5-961D-7093DC92A25E}" type="presParOf" srcId="{C8EA0278-4061-42B4-92BB-9827713964C0}" destId="{9A6B741F-139D-44C8-97B8-71D39CBC807F}" srcOrd="2" destOrd="0" presId="urn:microsoft.com/office/officeart/2005/8/layout/process3"/>
    <dgm:cxn modelId="{A2E2A14F-7238-4B85-AF2C-CFAE1F790B04}" type="presParOf" srcId="{B62E61A1-FBC6-4C08-BF2B-266719205E3C}" destId="{B185C491-AAFD-4539-8AA2-1A6080415B83}" srcOrd="1" destOrd="0" presId="urn:microsoft.com/office/officeart/2005/8/layout/process3"/>
    <dgm:cxn modelId="{28DE5CDC-A44E-461D-9D87-F02F787C6DD4}" type="presParOf" srcId="{B185C491-AAFD-4539-8AA2-1A6080415B83}" destId="{52637DA5-4895-4D84-B9BE-E30AE4F6A398}" srcOrd="0" destOrd="0" presId="urn:microsoft.com/office/officeart/2005/8/layout/process3"/>
    <dgm:cxn modelId="{DDBDF228-BFA1-42D5-824C-3C47B4B3034C}" type="presParOf" srcId="{B62E61A1-FBC6-4C08-BF2B-266719205E3C}" destId="{C364BBA3-4BCC-4380-B523-F01967918758}" srcOrd="2" destOrd="0" presId="urn:microsoft.com/office/officeart/2005/8/layout/process3"/>
    <dgm:cxn modelId="{348669DF-B744-4713-A1AD-ABDF8B77FB15}" type="presParOf" srcId="{C364BBA3-4BCC-4380-B523-F01967918758}" destId="{008BB722-6FE6-4024-A633-2A843C08EA65}" srcOrd="0" destOrd="0" presId="urn:microsoft.com/office/officeart/2005/8/layout/process3"/>
    <dgm:cxn modelId="{2D8B7497-349D-4E29-BF71-FB56BDF2AD4C}" type="presParOf" srcId="{C364BBA3-4BCC-4380-B523-F01967918758}" destId="{92EB4EA1-43BC-4250-A98D-20FB5FDB1501}" srcOrd="1" destOrd="0" presId="urn:microsoft.com/office/officeart/2005/8/layout/process3"/>
    <dgm:cxn modelId="{3ACA8AA1-9EF2-4DE3-BA94-4A2DC06CFCCA}" type="presParOf" srcId="{C364BBA3-4BCC-4380-B523-F01967918758}" destId="{6944E515-E165-4E05-BA41-AD6FCF47BB30}" srcOrd="2" destOrd="0" presId="urn:microsoft.com/office/officeart/2005/8/layout/process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D4EF2E9-863D-4C76-A433-52297ACB4C9E}" type="doc">
      <dgm:prSet loTypeId="urn:microsoft.com/office/officeart/2011/layout/HexagonRadial" loCatId="cycle" qsTypeId="urn:microsoft.com/office/officeart/2005/8/quickstyle/simple5" qsCatId="simple" csTypeId="urn:microsoft.com/office/officeart/2005/8/colors/accent1_1" csCatId="accent1" phldr="1"/>
      <dgm:spPr/>
      <dgm:t>
        <a:bodyPr/>
        <a:lstStyle/>
        <a:p>
          <a:endParaRPr lang="en-US"/>
        </a:p>
      </dgm:t>
    </dgm:pt>
    <dgm:pt modelId="{1BA8091F-5854-4695-94D0-9D72A3439505}">
      <dgm:prSet phldrT="[Text]" custT="1"/>
      <dgm:spPr/>
      <dgm:t>
        <a:bodyPr/>
        <a:lstStyle/>
        <a:p>
          <a:r>
            <a:rPr lang="en-US" sz="1400" b="1" i="0" baseline="0" dirty="0">
              <a:effectLst/>
            </a:rPr>
            <a:t>Empirical Models</a:t>
          </a:r>
        </a:p>
        <a:p>
          <a:endParaRPr lang="en-US" sz="1400" b="1" i="0" baseline="0" dirty="0">
            <a:effectLst/>
          </a:endParaRPr>
        </a:p>
        <a:p>
          <a:r>
            <a:rPr lang="en-US" sz="1400" b="0" i="0" baseline="0" dirty="0">
              <a:effectLst/>
            </a:rPr>
            <a:t>(Young’s Modulus, E = 210,289.53 MPa </a:t>
          </a:r>
        </a:p>
        <a:p>
          <a:r>
            <a:rPr lang="en-US" sz="1400" b="0" i="0" baseline="0" dirty="0">
              <a:effectLst/>
            </a:rPr>
            <a:t>Yield Stress,  </a:t>
          </a:r>
          <a:r>
            <a:rPr lang="el-GR" sz="1400" b="0" i="0" baseline="0" dirty="0">
              <a:effectLst/>
              <a:latin typeface="+mn-lt"/>
            </a:rPr>
            <a:t>σ₀ </a:t>
          </a:r>
          <a:r>
            <a:rPr lang="en-US" sz="1400" b="0" i="0" baseline="0" dirty="0">
              <a:effectLst/>
            </a:rPr>
            <a:t>= 1,051.95 MPa)</a:t>
          </a:r>
          <a:endParaRPr lang="en-US" sz="1400" b="0" dirty="0"/>
        </a:p>
      </dgm:t>
    </dgm:pt>
    <dgm:pt modelId="{C013BEA9-8EB4-4632-AB4B-837941923A36}" type="parTrans" cxnId="{C72DC286-E659-40D4-96B9-36675985ADE3}">
      <dgm:prSet/>
      <dgm:spPr/>
      <dgm:t>
        <a:bodyPr/>
        <a:lstStyle/>
        <a:p>
          <a:endParaRPr lang="en-US"/>
        </a:p>
      </dgm:t>
    </dgm:pt>
    <dgm:pt modelId="{4A6B7447-AC24-4968-86E1-C03D0F4E481F}" type="sibTrans" cxnId="{C72DC286-E659-40D4-96B9-36675985ADE3}">
      <dgm:prSet/>
      <dgm:spPr/>
      <dgm:t>
        <a:bodyPr/>
        <a:lstStyle/>
        <a:p>
          <a:endParaRPr lang="en-US"/>
        </a:p>
      </dgm:t>
    </dgm:pt>
    <dgm:pt modelId="{CAFAF8D6-4D7A-4A73-A3CA-AA0EB3940399}">
      <dgm:prSet phldrT="[Text]"/>
      <dgm:spPr/>
      <dgm:t>
        <a:bodyPr/>
        <a:lstStyle/>
        <a:p>
          <a:r>
            <a:rPr lang="en-US" b="1" i="0" baseline="0">
              <a:effectLst/>
              <a:latin typeface="+mn-lt"/>
            </a:rPr>
            <a:t>Hollomon</a:t>
          </a:r>
        </a:p>
        <a:p>
          <a:r>
            <a:rPr lang="el-GR" b="0" i="0" baseline="0">
              <a:effectLst/>
              <a:latin typeface="+mn-lt"/>
            </a:rPr>
            <a:t>σ = </a:t>
          </a:r>
          <a:r>
            <a:rPr lang="en-US" b="0" i="0" baseline="0">
              <a:effectLst/>
              <a:latin typeface="+mn-lt"/>
            </a:rPr>
            <a:t>K·</a:t>
          </a:r>
          <a:r>
            <a:rPr lang="el-GR" b="0" i="0" baseline="0">
              <a:effectLst/>
              <a:latin typeface="+mn-lt"/>
            </a:rPr>
            <a:t>ε</a:t>
          </a:r>
          <a:r>
            <a:rPr lang="en-US" b="0" i="0" baseline="0">
              <a:effectLst/>
              <a:latin typeface="+mn-lt"/>
            </a:rPr>
            <a:t>ⁿ</a:t>
          </a:r>
          <a:endParaRPr lang="en-US" dirty="0"/>
        </a:p>
      </dgm:t>
    </dgm:pt>
    <dgm:pt modelId="{A8EF9CA8-20A3-444C-A019-5D577618ECDB}" type="parTrans" cxnId="{4B3842C2-FE5E-417A-BA3A-75F93EE17838}">
      <dgm:prSet/>
      <dgm:spPr/>
      <dgm:t>
        <a:bodyPr/>
        <a:lstStyle/>
        <a:p>
          <a:endParaRPr lang="en-US"/>
        </a:p>
      </dgm:t>
    </dgm:pt>
    <dgm:pt modelId="{81F5757F-D171-4A0F-970A-F365462A0B30}" type="sibTrans" cxnId="{4B3842C2-FE5E-417A-BA3A-75F93EE17838}">
      <dgm:prSet/>
      <dgm:spPr/>
      <dgm:t>
        <a:bodyPr/>
        <a:lstStyle/>
        <a:p>
          <a:endParaRPr lang="en-US"/>
        </a:p>
      </dgm:t>
    </dgm:pt>
    <dgm:pt modelId="{6E99857E-FA2E-4BBA-BEF2-F5AB8C8E3509}">
      <dgm:prSet phldrT="[Text]"/>
      <dgm:spPr/>
      <dgm:t>
        <a:bodyPr/>
        <a:lstStyle/>
        <a:p>
          <a:r>
            <a:rPr lang="en-US" b="1">
              <a:effectLst/>
              <a:latin typeface="+mn-lt"/>
            </a:rPr>
            <a:t>Ludwik</a:t>
          </a:r>
        </a:p>
        <a:p>
          <a:r>
            <a:rPr lang="el-GR" b="0" i="0" baseline="0">
              <a:effectLst/>
              <a:latin typeface="+mn-lt"/>
            </a:rPr>
            <a:t>σ = σ₀</a:t>
          </a:r>
          <a:r>
            <a:rPr lang="en-US" b="0" i="0" baseline="0">
              <a:effectLst/>
              <a:latin typeface="+mn-lt"/>
            </a:rPr>
            <a:t> + K·</a:t>
          </a:r>
          <a:r>
            <a:rPr lang="el-GR" b="0" i="0" baseline="0">
              <a:effectLst/>
              <a:latin typeface="+mn-lt"/>
            </a:rPr>
            <a:t>ε</a:t>
          </a:r>
          <a:r>
            <a:rPr lang="en-US" b="0" i="0" baseline="0">
              <a:effectLst/>
              <a:latin typeface="+mn-lt"/>
            </a:rPr>
            <a:t>ⁿ</a:t>
          </a:r>
          <a:endParaRPr lang="en-US" dirty="0"/>
        </a:p>
      </dgm:t>
    </dgm:pt>
    <dgm:pt modelId="{F8BF65E3-10A1-4458-AA4F-16D4064A3D0F}" type="parTrans" cxnId="{1F12E08B-A41F-4DF8-8318-6E808C7BF841}">
      <dgm:prSet/>
      <dgm:spPr/>
      <dgm:t>
        <a:bodyPr/>
        <a:lstStyle/>
        <a:p>
          <a:endParaRPr lang="en-US"/>
        </a:p>
      </dgm:t>
    </dgm:pt>
    <dgm:pt modelId="{C587EBC5-771C-493C-8B0A-5F35E560A5F0}" type="sibTrans" cxnId="{1F12E08B-A41F-4DF8-8318-6E808C7BF841}">
      <dgm:prSet/>
      <dgm:spPr/>
      <dgm:t>
        <a:bodyPr/>
        <a:lstStyle/>
        <a:p>
          <a:endParaRPr lang="en-US"/>
        </a:p>
      </dgm:t>
    </dgm:pt>
    <dgm:pt modelId="{78C0B931-F16A-468D-939B-1CE2E6CA73AB}">
      <dgm:prSet phldrT="[Text]"/>
      <dgm:spPr/>
      <dgm:t>
        <a:bodyPr/>
        <a:lstStyle/>
        <a:p>
          <a:r>
            <a:rPr lang="en-US" b="1" i="0" baseline="0">
              <a:effectLst/>
              <a:latin typeface="+mn-lt"/>
            </a:rPr>
            <a:t>Swift</a:t>
          </a:r>
        </a:p>
        <a:p>
          <a:r>
            <a:rPr lang="el-GR" b="0" i="0" baseline="0">
              <a:effectLst/>
              <a:latin typeface="+mn-lt"/>
            </a:rPr>
            <a:t>σ = </a:t>
          </a:r>
          <a:r>
            <a:rPr lang="en-US" b="0" i="0" baseline="0">
              <a:effectLst/>
              <a:latin typeface="+mn-lt"/>
            </a:rPr>
            <a:t>K(</a:t>
          </a:r>
          <a:r>
            <a:rPr lang="el-GR" b="0" i="0" baseline="0">
              <a:effectLst/>
              <a:latin typeface="+mn-lt"/>
            </a:rPr>
            <a:t>ε + ε₀)</a:t>
          </a:r>
          <a:r>
            <a:rPr lang="en-US" b="0" i="0" baseline="0">
              <a:effectLst/>
              <a:latin typeface="+mn-lt"/>
            </a:rPr>
            <a:t>ⁿ</a:t>
          </a:r>
          <a:endParaRPr lang="en-US" dirty="0"/>
        </a:p>
      </dgm:t>
    </dgm:pt>
    <dgm:pt modelId="{089127FC-15AF-4BD2-99B1-06892FA67D9D}" type="parTrans" cxnId="{A4CF436C-E3D1-4F8E-8BF7-4FC0B36AFECE}">
      <dgm:prSet/>
      <dgm:spPr/>
      <dgm:t>
        <a:bodyPr/>
        <a:lstStyle/>
        <a:p>
          <a:endParaRPr lang="en-US"/>
        </a:p>
      </dgm:t>
    </dgm:pt>
    <dgm:pt modelId="{AD899001-8E22-4881-A1CA-88E18FF3715F}" type="sibTrans" cxnId="{A4CF436C-E3D1-4F8E-8BF7-4FC0B36AFECE}">
      <dgm:prSet/>
      <dgm:spPr/>
      <dgm:t>
        <a:bodyPr/>
        <a:lstStyle/>
        <a:p>
          <a:endParaRPr lang="en-US"/>
        </a:p>
      </dgm:t>
    </dgm:pt>
    <mc:AlternateContent xmlns:mc="http://schemas.openxmlformats.org/markup-compatibility/2006" xmlns:a14="http://schemas.microsoft.com/office/drawing/2010/main">
      <mc:Choice Requires="a14">
        <dgm:pt modelId="{DF0219BF-601D-401C-AF76-4DBE74E009B4}">
          <dgm:prSet phldrT="[Text]"/>
          <dgm:spPr/>
          <dgm:t>
            <a:bodyPr/>
            <a:lstStyle/>
            <a:p>
              <a:r>
                <a:rPr lang="en-US" b="0" i="0" baseline="0" dirty="0">
                  <a:effectLst/>
                  <a:latin typeface="+mn-lt"/>
                </a:rPr>
                <a:t>Voce</a:t>
              </a:r>
            </a:p>
            <a:p>
              <a:r>
                <a:rPr lang="el-GR" b="0" i="0" baseline="0" dirty="0">
                  <a:effectLst/>
                  <a:latin typeface="+mn-lt"/>
                </a:rPr>
                <a:t>σ = σ₀ + (</a:t>
              </a:r>
              <a14:m>
                <m:oMath xmlns:m="http://schemas.openxmlformats.org/officeDocument/2006/math">
                  <m:sSub>
                    <m:sSubPr>
                      <m:ctrlPr>
                        <a:rPr lang="en-US" b="0" i="1" baseline="0">
                          <a:effectLst/>
                          <a:latin typeface="Cambria Math" panose="02040503050406030204" pitchFamily="18" charset="0"/>
                        </a:rPr>
                      </m:ctrlPr>
                    </m:sSubPr>
                    <m:e>
                      <m:r>
                        <m:rPr>
                          <m:nor/>
                        </m:rPr>
                        <a:rPr lang="el-GR" b="0">
                          <a:effectLst/>
                          <a:latin typeface="+mn-lt"/>
                        </a:rPr>
                        <m:t>σ</m:t>
                      </m:r>
                    </m:e>
                    <m:sub>
                      <m:r>
                        <a:rPr lang="en-US" b="0" i="1">
                          <a:effectLst/>
                          <a:latin typeface="Cambria Math" panose="02040503050406030204" pitchFamily="18" charset="0"/>
                        </a:rPr>
                        <m:t>𝑠</m:t>
                      </m:r>
                    </m:sub>
                  </m:sSub>
                </m:oMath>
              </a14:m>
              <a:r>
                <a:rPr lang="en-US" b="0" i="0" baseline="0" dirty="0">
                  <a:effectLst/>
                  <a:latin typeface="+mn-lt"/>
                </a:rPr>
                <a:t> − </a:t>
              </a:r>
              <a:r>
                <a:rPr lang="el-GR" b="0" i="0" baseline="0" dirty="0">
                  <a:effectLst/>
                  <a:latin typeface="+mn-lt"/>
                </a:rPr>
                <a:t>σ₀)(1 − </a:t>
              </a:r>
              <a14:m>
                <m:oMath xmlns:m="http://schemas.openxmlformats.org/officeDocument/2006/math">
                  <m:sSup>
                    <m:sSupPr>
                      <m:ctrlPr>
                        <a:rPr lang="en-US" b="0" i="1" baseline="0">
                          <a:effectLst/>
                          <a:latin typeface="Cambria Math" panose="02040503050406030204" pitchFamily="18" charset="0"/>
                        </a:rPr>
                      </m:ctrlPr>
                    </m:sSupPr>
                    <m:e>
                      <m:r>
                        <a:rPr lang="en-US" b="0" i="1" baseline="0">
                          <a:effectLst/>
                          <a:latin typeface="Cambria Math" panose="02040503050406030204" pitchFamily="18" charset="0"/>
                        </a:rPr>
                        <m:t>𝑒</m:t>
                      </m:r>
                    </m:e>
                    <m:sup>
                      <m:r>
                        <a:rPr lang="en-US" b="0" i="1">
                          <a:effectLst/>
                          <a:latin typeface="Cambria Math" panose="02040503050406030204" pitchFamily="18" charset="0"/>
                        </a:rPr>
                        <m:t>−</m:t>
                      </m:r>
                      <m:r>
                        <a:rPr lang="el-GR" b="0" i="1">
                          <a:effectLst/>
                          <a:latin typeface="Cambria Math" panose="02040503050406030204" pitchFamily="18" charset="0"/>
                        </a:rPr>
                        <m:t>𝛽𝜀</m:t>
                      </m:r>
                    </m:sup>
                  </m:sSup>
                  <m:r>
                    <a:rPr lang="el-GR" b="0" i="1" baseline="0">
                      <a:effectLst/>
                      <a:latin typeface="Cambria Math" panose="02040503050406030204" pitchFamily="18" charset="0"/>
                    </a:rPr>
                    <m:t>)</m:t>
                  </m:r>
                </m:oMath>
              </a14:m>
              <a:endParaRPr lang="en-US" dirty="0"/>
            </a:p>
          </dgm:t>
        </dgm:pt>
      </mc:Choice>
      <mc:Fallback xmlns="">
        <dgm:pt modelId="{DF0219BF-601D-401C-AF76-4DBE74E009B4}">
          <dgm:prSet phldrT="[Text]"/>
          <dgm:spPr/>
          <dgm:t>
            <a:bodyPr/>
            <a:lstStyle/>
            <a:p>
              <a:r>
                <a:rPr lang="en-US" b="0" i="0" baseline="0" dirty="0">
                  <a:effectLst/>
                  <a:latin typeface="+mn-lt"/>
                </a:rPr>
                <a:t>Voce</a:t>
              </a:r>
            </a:p>
            <a:p>
              <a:r>
                <a:rPr lang="el-GR" b="0" i="0" baseline="0" dirty="0">
                  <a:effectLst/>
                  <a:latin typeface="+mn-lt"/>
                </a:rPr>
                <a:t>σ = σ₀ + (</a:t>
              </a:r>
              <a:r>
                <a:rPr lang="el-GR" b="0" i="0">
                  <a:effectLst/>
                  <a:latin typeface="+mn-lt"/>
                </a:rPr>
                <a:t>"σ</a:t>
              </a:r>
              <a:r>
                <a:rPr lang="el-GR" b="0" i="0">
                  <a:effectLst/>
                  <a:latin typeface="Cambria Math" panose="02040503050406030204" pitchFamily="18" charset="0"/>
                </a:rPr>
                <a:t>" </a:t>
              </a:r>
              <a:r>
                <a:rPr lang="en-US" b="0" i="0" baseline="0">
                  <a:effectLst/>
                  <a:latin typeface="Cambria Math" panose="02040503050406030204" pitchFamily="18" charset="0"/>
                </a:rPr>
                <a:t>_</a:t>
              </a:r>
              <a:r>
                <a:rPr lang="en-US" b="0" i="0">
                  <a:effectLst/>
                  <a:latin typeface="Cambria Math" panose="02040503050406030204" pitchFamily="18" charset="0"/>
                </a:rPr>
                <a:t>𝑠</a:t>
              </a:r>
              <a:r>
                <a:rPr lang="en-US" b="0" i="0" baseline="0" dirty="0">
                  <a:effectLst/>
                  <a:latin typeface="+mn-lt"/>
                </a:rPr>
                <a:t> − </a:t>
              </a:r>
              <a:r>
                <a:rPr lang="el-GR" b="0" i="0" baseline="0" dirty="0">
                  <a:effectLst/>
                  <a:latin typeface="+mn-lt"/>
                </a:rPr>
                <a:t>σ₀)(1 − </a:t>
              </a:r>
              <a:r>
                <a:rPr lang="en-US" b="0" i="0" baseline="0">
                  <a:effectLst/>
                  <a:latin typeface="Cambria Math" panose="02040503050406030204" pitchFamily="18" charset="0"/>
                </a:rPr>
                <a:t>𝑒^(</a:t>
              </a:r>
              <a:r>
                <a:rPr lang="en-US" b="0" i="0">
                  <a:effectLst/>
                  <a:latin typeface="Cambria Math" panose="02040503050406030204" pitchFamily="18" charset="0"/>
                </a:rPr>
                <a:t>−</a:t>
              </a:r>
              <a:r>
                <a:rPr lang="el-GR" b="0" i="0">
                  <a:effectLst/>
                  <a:latin typeface="Cambria Math" panose="02040503050406030204" pitchFamily="18" charset="0"/>
                </a:rPr>
                <a:t>𝛽𝜀</a:t>
              </a:r>
              <a:r>
                <a:rPr lang="en-US" b="0" i="0" baseline="0">
                  <a:effectLst/>
                  <a:latin typeface="Cambria Math" panose="02040503050406030204" pitchFamily="18" charset="0"/>
                </a:rPr>
                <a:t>)</a:t>
              </a:r>
              <a:r>
                <a:rPr lang="el-GR" b="0" i="0" baseline="0">
                  <a:effectLst/>
                  <a:latin typeface="Cambria Math" panose="02040503050406030204" pitchFamily="18" charset="0"/>
                </a:rPr>
                <a:t>)</a:t>
              </a:r>
              <a:endParaRPr lang="en-US" dirty="0"/>
            </a:p>
          </dgm:t>
        </dgm:pt>
      </mc:Fallback>
    </mc:AlternateContent>
    <dgm:pt modelId="{91F85C2E-2E02-412C-A61A-F971E64CCDB9}" type="parTrans" cxnId="{23916D38-18B7-4DEB-A995-79414CAF6F5E}">
      <dgm:prSet/>
      <dgm:spPr/>
      <dgm:t>
        <a:bodyPr/>
        <a:lstStyle/>
        <a:p>
          <a:endParaRPr lang="en-US"/>
        </a:p>
      </dgm:t>
    </dgm:pt>
    <dgm:pt modelId="{76EAE841-32C4-4BD3-8A90-FEBCE22888AB}" type="sibTrans" cxnId="{23916D38-18B7-4DEB-A995-79414CAF6F5E}">
      <dgm:prSet/>
      <dgm:spPr/>
      <dgm:t>
        <a:bodyPr/>
        <a:lstStyle/>
        <a:p>
          <a:endParaRPr lang="en-US"/>
        </a:p>
      </dgm:t>
    </dgm:pt>
    <mc:AlternateContent xmlns:mc="http://schemas.openxmlformats.org/markup-compatibility/2006" xmlns:a14="http://schemas.microsoft.com/office/drawing/2010/main">
      <mc:Choice Requires="a14">
        <dgm:pt modelId="{62E65F82-1DFD-4C34-BCCD-A7F90DDCED09}">
          <dgm:prSet phldrT="[Text]"/>
          <dgm:spPr/>
          <dgm:t>
            <a:bodyPr/>
            <a:lstStyle/>
            <a:p>
              <a:r>
                <a:rPr lang="en-US" b="1" i="0" dirty="0">
                  <a:effectLst/>
                  <a:latin typeface="+mn-lt"/>
                </a:rPr>
                <a:t>Hockett–Sherby</a:t>
              </a:r>
            </a:p>
            <a:p>
              <a:r>
                <a:rPr lang="el-GR" b="0" i="0" baseline="0" dirty="0">
                  <a:effectLst/>
                  <a:latin typeface="+mn-lt"/>
                </a:rPr>
                <a:t>σ = σ₀ + (</a:t>
              </a:r>
              <a14:m>
                <m:oMath xmlns:m="http://schemas.openxmlformats.org/officeDocument/2006/math">
                  <m:sSub>
                    <m:sSubPr>
                      <m:ctrlPr>
                        <a:rPr lang="en-US" b="0" i="1" baseline="0">
                          <a:effectLst/>
                          <a:latin typeface="Cambria Math" panose="02040503050406030204" pitchFamily="18" charset="0"/>
                        </a:rPr>
                      </m:ctrlPr>
                    </m:sSubPr>
                    <m:e>
                      <m:r>
                        <m:rPr>
                          <m:nor/>
                        </m:rPr>
                        <a:rPr lang="el-GR" b="0">
                          <a:effectLst/>
                          <a:latin typeface="+mn-lt"/>
                        </a:rPr>
                        <m:t>σ</m:t>
                      </m:r>
                    </m:e>
                    <m:sub>
                      <m:r>
                        <a:rPr lang="en-US" b="0" i="1">
                          <a:effectLst/>
                          <a:latin typeface="Cambria Math" panose="02040503050406030204" pitchFamily="18" charset="0"/>
                        </a:rPr>
                        <m:t>𝑠</m:t>
                      </m:r>
                    </m:sub>
                  </m:sSub>
                </m:oMath>
              </a14:m>
              <a:r>
                <a:rPr lang="en-US" b="0" i="0" baseline="0" dirty="0">
                  <a:effectLst/>
                  <a:latin typeface="+mn-lt"/>
                </a:rPr>
                <a:t> − </a:t>
              </a:r>
              <a:r>
                <a:rPr lang="el-GR" b="0" i="0" baseline="0" dirty="0">
                  <a:effectLst/>
                  <a:latin typeface="+mn-lt"/>
                </a:rPr>
                <a:t>σ₀)(1 − </a:t>
              </a:r>
              <a14:m>
                <m:oMath xmlns:m="http://schemas.openxmlformats.org/officeDocument/2006/math">
                  <m:sSup>
                    <m:sSupPr>
                      <m:ctrlPr>
                        <a:rPr lang="en-US" b="0" i="1" baseline="0">
                          <a:effectLst/>
                          <a:latin typeface="Cambria Math" panose="02040503050406030204" pitchFamily="18" charset="0"/>
                        </a:rPr>
                      </m:ctrlPr>
                    </m:sSupPr>
                    <m:e>
                      <m:r>
                        <a:rPr lang="en-US" b="0" i="1" baseline="0">
                          <a:effectLst/>
                          <a:latin typeface="Cambria Math" panose="02040503050406030204" pitchFamily="18" charset="0"/>
                        </a:rPr>
                        <m:t>𝑒</m:t>
                      </m:r>
                    </m:e>
                    <m:sup>
                      <m:r>
                        <a:rPr lang="en-US" b="0" i="1">
                          <a:effectLst/>
                          <a:latin typeface="Cambria Math" panose="02040503050406030204" pitchFamily="18" charset="0"/>
                        </a:rPr>
                        <m:t>−</m:t>
                      </m:r>
                      <m:r>
                        <a:rPr lang="el-GR" b="0" i="1">
                          <a:effectLst/>
                          <a:latin typeface="Cambria Math" panose="02040503050406030204" pitchFamily="18" charset="0"/>
                        </a:rPr>
                        <m:t>𝛽</m:t>
                      </m:r>
                      <m:r>
                        <m:rPr>
                          <m:sty m:val="p"/>
                        </m:rPr>
                        <a:rPr lang="el-GR" b="0" i="0" baseline="0" smtClean="0">
                          <a:effectLst/>
                          <a:latin typeface="Cambria Math" panose="02040503050406030204" pitchFamily="18" charset="0"/>
                        </a:rPr>
                        <m:t>ε</m:t>
                      </m:r>
                      <m:r>
                        <a:rPr lang="en-US" b="0" i="0" baseline="0" smtClean="0">
                          <a:effectLst/>
                          <a:latin typeface="Cambria Math" panose="02040503050406030204" pitchFamily="18" charset="0"/>
                        </a:rPr>
                        <m:t>ⁿ</m:t>
                      </m:r>
                    </m:sup>
                  </m:sSup>
                  <m:r>
                    <a:rPr lang="el-GR" b="0" i="1" baseline="0" smtClean="0">
                      <a:effectLst/>
                      <a:latin typeface="Cambria Math" panose="02040503050406030204" pitchFamily="18" charset="0"/>
                    </a:rPr>
                    <m:t>)</m:t>
                  </m:r>
                </m:oMath>
              </a14:m>
              <a:endParaRPr lang="en-US" dirty="0"/>
            </a:p>
          </dgm:t>
        </dgm:pt>
      </mc:Choice>
      <mc:Fallback xmlns="">
        <dgm:pt modelId="{62E65F82-1DFD-4C34-BCCD-A7F90DDCED09}">
          <dgm:prSet phldrT="[Text]"/>
          <dgm:spPr/>
          <dgm:t>
            <a:bodyPr/>
            <a:lstStyle/>
            <a:p>
              <a:r>
                <a:rPr lang="en-US" b="1" i="0" dirty="0">
                  <a:effectLst/>
                  <a:latin typeface="+mn-lt"/>
                </a:rPr>
                <a:t>Hockett–Sherby</a:t>
              </a:r>
            </a:p>
            <a:p>
              <a:r>
                <a:rPr lang="el-GR" b="0" i="0" baseline="0" dirty="0">
                  <a:effectLst/>
                  <a:latin typeface="+mn-lt"/>
                </a:rPr>
                <a:t>σ = σ₀ + (</a:t>
              </a:r>
              <a:r>
                <a:rPr lang="el-GR" b="0" i="0">
                  <a:effectLst/>
                  <a:latin typeface="+mn-lt"/>
                </a:rPr>
                <a:t>"σ</a:t>
              </a:r>
              <a:r>
                <a:rPr lang="el-GR" b="0" i="0">
                  <a:effectLst/>
                  <a:latin typeface="Cambria Math" panose="02040503050406030204" pitchFamily="18" charset="0"/>
                </a:rPr>
                <a:t>" </a:t>
              </a:r>
              <a:r>
                <a:rPr lang="en-US" b="0" i="0" baseline="0">
                  <a:effectLst/>
                  <a:latin typeface="Cambria Math" panose="02040503050406030204" pitchFamily="18" charset="0"/>
                </a:rPr>
                <a:t>_</a:t>
              </a:r>
              <a:r>
                <a:rPr lang="en-US" b="0" i="0">
                  <a:effectLst/>
                  <a:latin typeface="Cambria Math" panose="02040503050406030204" pitchFamily="18" charset="0"/>
                </a:rPr>
                <a:t>𝑠</a:t>
              </a:r>
              <a:r>
                <a:rPr lang="en-US" b="0" i="0" baseline="0" dirty="0">
                  <a:effectLst/>
                  <a:latin typeface="+mn-lt"/>
                </a:rPr>
                <a:t> − </a:t>
              </a:r>
              <a:r>
                <a:rPr lang="el-GR" b="0" i="0" baseline="0" dirty="0">
                  <a:effectLst/>
                  <a:latin typeface="+mn-lt"/>
                </a:rPr>
                <a:t>σ₀)(1 − </a:t>
              </a:r>
              <a:r>
                <a:rPr lang="en-US" b="0" i="0" baseline="0">
                  <a:effectLst/>
                  <a:latin typeface="Cambria Math" panose="02040503050406030204" pitchFamily="18" charset="0"/>
                </a:rPr>
                <a:t>𝑒^(</a:t>
              </a:r>
              <a:r>
                <a:rPr lang="en-US" b="0" i="0">
                  <a:effectLst/>
                  <a:latin typeface="Cambria Math" panose="02040503050406030204" pitchFamily="18" charset="0"/>
                </a:rPr>
                <a:t>−</a:t>
              </a:r>
              <a:r>
                <a:rPr lang="el-GR" b="0" i="0">
                  <a:effectLst/>
                  <a:latin typeface="Cambria Math" panose="02040503050406030204" pitchFamily="18" charset="0"/>
                </a:rPr>
                <a:t>𝛽</a:t>
              </a:r>
              <a:r>
                <a:rPr lang="el-GR" b="0" i="0" baseline="0">
                  <a:effectLst/>
                  <a:latin typeface="Cambria Math" panose="02040503050406030204" pitchFamily="18" charset="0"/>
                </a:rPr>
                <a:t>ε</a:t>
              </a:r>
              <a:r>
                <a:rPr lang="en-US" b="0" i="0" baseline="0">
                  <a:effectLst/>
                  <a:latin typeface="Cambria Math" panose="02040503050406030204" pitchFamily="18" charset="0"/>
                </a:rPr>
                <a:t>ⁿ)</a:t>
              </a:r>
              <a:r>
                <a:rPr lang="el-GR" b="0" i="0" baseline="0">
                  <a:effectLst/>
                  <a:latin typeface="Cambria Math" panose="02040503050406030204" pitchFamily="18" charset="0"/>
                </a:rPr>
                <a:t>)</a:t>
              </a:r>
              <a:endParaRPr lang="en-US" dirty="0"/>
            </a:p>
          </dgm:t>
        </dgm:pt>
      </mc:Fallback>
    </mc:AlternateContent>
    <dgm:pt modelId="{1D85B14D-15C4-4DB1-A543-6D9B3B5FFAA2}" type="parTrans" cxnId="{ECD85E95-1E5C-4F45-AD21-E29D57E86A4C}">
      <dgm:prSet/>
      <dgm:spPr/>
      <dgm:t>
        <a:bodyPr/>
        <a:lstStyle/>
        <a:p>
          <a:endParaRPr lang="en-US"/>
        </a:p>
      </dgm:t>
    </dgm:pt>
    <dgm:pt modelId="{4196A4B5-AEBA-4772-BAA3-F58A737F487A}" type="sibTrans" cxnId="{ECD85E95-1E5C-4F45-AD21-E29D57E86A4C}">
      <dgm:prSet/>
      <dgm:spPr/>
      <dgm:t>
        <a:bodyPr/>
        <a:lstStyle/>
        <a:p>
          <a:endParaRPr lang="en-US"/>
        </a:p>
      </dgm:t>
    </dgm:pt>
    <mc:AlternateContent xmlns:mc="http://schemas.openxmlformats.org/markup-compatibility/2006" xmlns:a14="http://schemas.microsoft.com/office/drawing/2010/main">
      <mc:Choice Requires="a14">
        <dgm:pt modelId="{43F40F6A-350A-443E-9FC3-9B06A23D21A7}">
          <dgm:prSet phldrT="[Text]"/>
          <dgm:spPr/>
          <dgm:t>
            <a:bodyPr/>
            <a:lstStyle/>
            <a:p>
              <a:r>
                <a:rPr lang="en-US" b="1" i="0" dirty="0">
                  <a:effectLst/>
                  <a:latin typeface="+mn-lt"/>
                </a:rPr>
                <a:t>Ramberg-Osgood</a:t>
              </a:r>
            </a:p>
            <a:p>
              <a:r>
                <a:rPr lang="el-GR" b="0" i="0" baseline="0" dirty="0">
                  <a:effectLst/>
                  <a:latin typeface="+mn-lt"/>
                </a:rPr>
                <a:t>ε = </a:t>
              </a:r>
              <a14:m>
                <m:oMath xmlns:m="http://schemas.openxmlformats.org/officeDocument/2006/math">
                  <m:f>
                    <m:fPr>
                      <m:ctrlPr>
                        <a:rPr lang="el-GR" b="0" i="1" baseline="0" smtClean="0">
                          <a:effectLst/>
                          <a:latin typeface="Cambria Math" panose="02040503050406030204" pitchFamily="18" charset="0"/>
                        </a:rPr>
                      </m:ctrlPr>
                    </m:fPr>
                    <m:num>
                      <m:r>
                        <m:rPr>
                          <m:sty m:val="p"/>
                        </m:rPr>
                        <a:rPr lang="el-GR" b="0" i="0" baseline="0" smtClean="0">
                          <a:effectLst/>
                          <a:latin typeface="Cambria Math" panose="02040503050406030204" pitchFamily="18" charset="0"/>
                        </a:rPr>
                        <m:t>σ</m:t>
                      </m:r>
                    </m:num>
                    <m:den>
                      <m:r>
                        <a:rPr lang="en-US" b="0" i="1" baseline="0" smtClean="0">
                          <a:effectLst/>
                          <a:latin typeface="Cambria Math" panose="02040503050406030204" pitchFamily="18" charset="0"/>
                        </a:rPr>
                        <m:t>𝐸</m:t>
                      </m:r>
                    </m:den>
                  </m:f>
                </m:oMath>
              </a14:m>
              <a:r>
                <a:rPr lang="en-US" b="0" dirty="0">
                  <a:effectLst/>
                  <a:latin typeface="+mn-lt"/>
                </a:rPr>
                <a:t> + K</a:t>
              </a:r>
              <a14:m>
                <m:oMath xmlns:m="http://schemas.openxmlformats.org/officeDocument/2006/math">
                  <m:sSup>
                    <m:sSupPr>
                      <m:ctrlPr>
                        <a:rPr lang="en-US" b="0" i="1" smtClean="0">
                          <a:effectLst/>
                          <a:latin typeface="Cambria Math" panose="02040503050406030204" pitchFamily="18" charset="0"/>
                        </a:rPr>
                      </m:ctrlPr>
                    </m:sSupPr>
                    <m:e>
                      <m:d>
                        <m:dPr>
                          <m:ctrlPr>
                            <a:rPr lang="en-US" b="0" i="1" smtClean="0">
                              <a:effectLst/>
                              <a:latin typeface="Cambria Math" panose="02040503050406030204" pitchFamily="18" charset="0"/>
                            </a:rPr>
                          </m:ctrlPr>
                        </m:dPr>
                        <m:e>
                          <m:f>
                            <m:fPr>
                              <m:ctrlPr>
                                <a:rPr lang="en-US" b="0" i="1" smtClean="0">
                                  <a:effectLst/>
                                  <a:latin typeface="Cambria Math" panose="02040503050406030204" pitchFamily="18" charset="0"/>
                                </a:rPr>
                              </m:ctrlPr>
                            </m:fPr>
                            <m:num>
                              <m:r>
                                <m:rPr>
                                  <m:sty m:val="p"/>
                                </m:rPr>
                                <a:rPr lang="el-GR" b="0" i="0" baseline="0" smtClean="0">
                                  <a:effectLst/>
                                  <a:latin typeface="Cambria Math" panose="02040503050406030204" pitchFamily="18" charset="0"/>
                                </a:rPr>
                                <m:t>σ</m:t>
                              </m:r>
                            </m:num>
                            <m:den>
                              <m:r>
                                <m:rPr>
                                  <m:sty m:val="p"/>
                                </m:rPr>
                                <a:rPr lang="el-GR" b="0" i="0" baseline="0" smtClean="0">
                                  <a:effectLst/>
                                  <a:latin typeface="Cambria Math" panose="02040503050406030204" pitchFamily="18" charset="0"/>
                                </a:rPr>
                                <m:t>σ</m:t>
                              </m:r>
                              <m:r>
                                <a:rPr lang="el-GR" b="0" i="0" baseline="0" smtClean="0">
                                  <a:effectLst/>
                                  <a:latin typeface="Cambria Math" panose="02040503050406030204" pitchFamily="18" charset="0"/>
                                </a:rPr>
                                <m:t>₀</m:t>
                              </m:r>
                            </m:den>
                          </m:f>
                        </m:e>
                      </m:d>
                    </m:e>
                    <m:sup>
                      <m:r>
                        <a:rPr lang="en-US" b="0" i="1" smtClean="0">
                          <a:effectLst/>
                          <a:latin typeface="Cambria Math" panose="02040503050406030204" pitchFamily="18" charset="0"/>
                        </a:rPr>
                        <m:t>𝑛</m:t>
                      </m:r>
                    </m:sup>
                  </m:sSup>
                </m:oMath>
              </a14:m>
              <a:endParaRPr lang="en-US" dirty="0"/>
            </a:p>
          </dgm:t>
        </dgm:pt>
      </mc:Choice>
      <mc:Fallback xmlns="">
        <dgm:pt modelId="{43F40F6A-350A-443E-9FC3-9B06A23D21A7}">
          <dgm:prSet phldrT="[Text]"/>
          <dgm:spPr/>
          <dgm:t>
            <a:bodyPr/>
            <a:lstStyle/>
            <a:p>
              <a:r>
                <a:rPr lang="en-US" b="1" i="0" dirty="0">
                  <a:effectLst/>
                  <a:latin typeface="+mn-lt"/>
                </a:rPr>
                <a:t>Ramberg-Osgood</a:t>
              </a:r>
            </a:p>
            <a:p>
              <a:r>
                <a:rPr lang="el-GR" b="0" i="0" baseline="0" dirty="0">
                  <a:effectLst/>
                  <a:latin typeface="+mn-lt"/>
                </a:rPr>
                <a:t>ε = </a:t>
              </a:r>
              <a:r>
                <a:rPr lang="el-GR" b="0" i="0" baseline="0">
                  <a:effectLst/>
                  <a:latin typeface="Cambria Math" panose="02040503050406030204" pitchFamily="18" charset="0"/>
                </a:rPr>
                <a:t>σ/</a:t>
              </a:r>
              <a:r>
                <a:rPr lang="en-US" b="0" i="0" baseline="0">
                  <a:effectLst/>
                  <a:latin typeface="Cambria Math" panose="02040503050406030204" pitchFamily="18" charset="0"/>
                </a:rPr>
                <a:t>𝐸</a:t>
              </a:r>
              <a:r>
                <a:rPr lang="en-US" b="0" dirty="0">
                  <a:effectLst/>
                  <a:latin typeface="+mn-lt"/>
                </a:rPr>
                <a:t> + K</a:t>
              </a:r>
              <a:r>
                <a:rPr lang="en-US" b="0" i="0">
                  <a:effectLst/>
                  <a:latin typeface="Cambria Math" panose="02040503050406030204" pitchFamily="18" charset="0"/>
                </a:rPr>
                <a:t>(</a:t>
              </a:r>
              <a:r>
                <a:rPr lang="el-GR" b="0" i="0" baseline="0">
                  <a:effectLst/>
                  <a:latin typeface="Cambria Math" panose="02040503050406030204" pitchFamily="18" charset="0"/>
                </a:rPr>
                <a:t>σ</a:t>
              </a:r>
              <a:r>
                <a:rPr lang="en-US" b="0" i="0" baseline="0">
                  <a:effectLst/>
                  <a:latin typeface="Cambria Math" panose="02040503050406030204" pitchFamily="18" charset="0"/>
                </a:rPr>
                <a:t>/(</a:t>
              </a:r>
              <a:r>
                <a:rPr lang="el-GR" b="0" i="0" baseline="0">
                  <a:effectLst/>
                  <a:latin typeface="Cambria Math" panose="02040503050406030204" pitchFamily="18" charset="0"/>
                </a:rPr>
                <a:t>σ₀</a:t>
              </a:r>
              <a:r>
                <a:rPr lang="en-US" b="0" i="0" baseline="0">
                  <a:effectLst/>
                  <a:latin typeface="Cambria Math" panose="02040503050406030204" pitchFamily="18" charset="0"/>
                </a:rPr>
                <a:t>)</a:t>
              </a:r>
              <a:r>
                <a:rPr lang="el-GR" b="0" i="0" baseline="0">
                  <a:effectLst/>
                  <a:latin typeface="Cambria Math" panose="02040503050406030204" pitchFamily="18" charset="0"/>
                </a:rPr>
                <a:t>)</a:t>
              </a:r>
              <a:r>
                <a:rPr lang="en-US" b="0" i="0" baseline="0">
                  <a:effectLst/>
                  <a:latin typeface="Cambria Math" panose="02040503050406030204" pitchFamily="18" charset="0"/>
                </a:rPr>
                <a:t>^</a:t>
              </a:r>
              <a:r>
                <a:rPr lang="en-US" b="0" i="0">
                  <a:effectLst/>
                  <a:latin typeface="Cambria Math" panose="02040503050406030204" pitchFamily="18" charset="0"/>
                </a:rPr>
                <a:t>𝑛</a:t>
              </a:r>
              <a:endParaRPr lang="en-US" dirty="0"/>
            </a:p>
          </dgm:t>
        </dgm:pt>
      </mc:Fallback>
    </mc:AlternateContent>
    <dgm:pt modelId="{55DC66A2-EA23-45B2-A1C8-50A840FC3C8D}" type="parTrans" cxnId="{A6A9CB97-5078-40FE-8A54-C541CB5A7CAD}">
      <dgm:prSet/>
      <dgm:spPr/>
      <dgm:t>
        <a:bodyPr/>
        <a:lstStyle/>
        <a:p>
          <a:endParaRPr lang="en-US"/>
        </a:p>
      </dgm:t>
    </dgm:pt>
    <dgm:pt modelId="{5E703AB5-430A-407F-99E5-DB4551E3A1D3}" type="sibTrans" cxnId="{A6A9CB97-5078-40FE-8A54-C541CB5A7CAD}">
      <dgm:prSet/>
      <dgm:spPr/>
      <dgm:t>
        <a:bodyPr/>
        <a:lstStyle/>
        <a:p>
          <a:endParaRPr lang="en-US"/>
        </a:p>
      </dgm:t>
    </dgm:pt>
    <dgm:pt modelId="{157989E8-1BC9-4E66-A270-B03598D26556}" type="pres">
      <dgm:prSet presAssocID="{6D4EF2E9-863D-4C76-A433-52297ACB4C9E}" presName="Name0" presStyleCnt="0">
        <dgm:presLayoutVars>
          <dgm:chMax val="1"/>
          <dgm:chPref val="1"/>
          <dgm:dir/>
          <dgm:animOne val="branch"/>
          <dgm:animLvl val="lvl"/>
        </dgm:presLayoutVars>
      </dgm:prSet>
      <dgm:spPr/>
    </dgm:pt>
    <dgm:pt modelId="{3024025F-5BF3-4DCC-89AD-F3BE5F4B8905}" type="pres">
      <dgm:prSet presAssocID="{1BA8091F-5854-4695-94D0-9D72A3439505}" presName="Parent" presStyleLbl="node0" presStyleIdx="0" presStyleCnt="1">
        <dgm:presLayoutVars>
          <dgm:chMax val="6"/>
          <dgm:chPref val="6"/>
        </dgm:presLayoutVars>
      </dgm:prSet>
      <dgm:spPr/>
    </dgm:pt>
    <dgm:pt modelId="{E87EFBB5-AB43-44FF-892C-BCB327D1B6BF}" type="pres">
      <dgm:prSet presAssocID="{CAFAF8D6-4D7A-4A73-A3CA-AA0EB3940399}" presName="Accent1" presStyleCnt="0"/>
      <dgm:spPr/>
    </dgm:pt>
    <dgm:pt modelId="{0DAB96F2-7B01-4C65-825F-B306B1BD08BD}" type="pres">
      <dgm:prSet presAssocID="{CAFAF8D6-4D7A-4A73-A3CA-AA0EB3940399}" presName="Accent" presStyleLbl="bgShp" presStyleIdx="0" presStyleCnt="6"/>
      <dgm:spPr/>
    </dgm:pt>
    <dgm:pt modelId="{E465016E-A442-4BAB-9409-20AE0A149079}" type="pres">
      <dgm:prSet presAssocID="{CAFAF8D6-4D7A-4A73-A3CA-AA0EB3940399}" presName="Child1" presStyleLbl="node1" presStyleIdx="0" presStyleCnt="6" custLinFactNeighborY="1658">
        <dgm:presLayoutVars>
          <dgm:chMax val="0"/>
          <dgm:chPref val="0"/>
          <dgm:bulletEnabled val="1"/>
        </dgm:presLayoutVars>
      </dgm:prSet>
      <dgm:spPr/>
    </dgm:pt>
    <dgm:pt modelId="{E3FE9285-7CA3-4B46-8730-3DD103FAA749}" type="pres">
      <dgm:prSet presAssocID="{6E99857E-FA2E-4BBA-BEF2-F5AB8C8E3509}" presName="Accent2" presStyleCnt="0"/>
      <dgm:spPr/>
    </dgm:pt>
    <dgm:pt modelId="{79A1F478-844B-413A-9388-19BDA2BDCE27}" type="pres">
      <dgm:prSet presAssocID="{6E99857E-FA2E-4BBA-BEF2-F5AB8C8E3509}" presName="Accent" presStyleLbl="bgShp" presStyleIdx="1" presStyleCnt="6"/>
      <dgm:spPr/>
    </dgm:pt>
    <dgm:pt modelId="{10D79C5C-39F9-437A-9DE6-8EE8105EAFFB}" type="pres">
      <dgm:prSet presAssocID="{6E99857E-FA2E-4BBA-BEF2-F5AB8C8E3509}" presName="Child2" presStyleLbl="node1" presStyleIdx="1" presStyleCnt="6">
        <dgm:presLayoutVars>
          <dgm:chMax val="0"/>
          <dgm:chPref val="0"/>
          <dgm:bulletEnabled val="1"/>
        </dgm:presLayoutVars>
      </dgm:prSet>
      <dgm:spPr/>
    </dgm:pt>
    <dgm:pt modelId="{6015F892-8F20-4A62-B79E-8DB21C11D16C}" type="pres">
      <dgm:prSet presAssocID="{78C0B931-F16A-468D-939B-1CE2E6CA73AB}" presName="Accent3" presStyleCnt="0"/>
      <dgm:spPr/>
    </dgm:pt>
    <dgm:pt modelId="{D8B485CE-22C7-4DF3-B238-DB44DCA0559C}" type="pres">
      <dgm:prSet presAssocID="{78C0B931-F16A-468D-939B-1CE2E6CA73AB}" presName="Accent" presStyleLbl="bgShp" presStyleIdx="2" presStyleCnt="6"/>
      <dgm:spPr/>
    </dgm:pt>
    <dgm:pt modelId="{774C34BA-6C41-4393-B500-C2F90EFF61C9}" type="pres">
      <dgm:prSet presAssocID="{78C0B931-F16A-468D-939B-1CE2E6CA73AB}" presName="Child3" presStyleLbl="node1" presStyleIdx="2" presStyleCnt="6">
        <dgm:presLayoutVars>
          <dgm:chMax val="0"/>
          <dgm:chPref val="0"/>
          <dgm:bulletEnabled val="1"/>
        </dgm:presLayoutVars>
      </dgm:prSet>
      <dgm:spPr/>
    </dgm:pt>
    <dgm:pt modelId="{EBE423C2-9680-427E-B175-E50718E9DD98}" type="pres">
      <dgm:prSet presAssocID="{DF0219BF-601D-401C-AF76-4DBE74E009B4}" presName="Accent4" presStyleCnt="0"/>
      <dgm:spPr/>
    </dgm:pt>
    <dgm:pt modelId="{2F2B4F2C-CEB8-4419-AB93-EF14E0A9FEB1}" type="pres">
      <dgm:prSet presAssocID="{DF0219BF-601D-401C-AF76-4DBE74E009B4}" presName="Accent" presStyleLbl="bgShp" presStyleIdx="3" presStyleCnt="6"/>
      <dgm:spPr/>
    </dgm:pt>
    <dgm:pt modelId="{59D3CFDB-AF80-4AE8-A30D-9D764B4A8A21}" type="pres">
      <dgm:prSet presAssocID="{DF0219BF-601D-401C-AF76-4DBE74E009B4}" presName="Child4" presStyleLbl="node1" presStyleIdx="3" presStyleCnt="6">
        <dgm:presLayoutVars>
          <dgm:chMax val="0"/>
          <dgm:chPref val="0"/>
          <dgm:bulletEnabled val="1"/>
        </dgm:presLayoutVars>
      </dgm:prSet>
      <dgm:spPr/>
    </dgm:pt>
    <dgm:pt modelId="{CA56AD00-16BE-4538-B59F-79F3C35D7B9F}" type="pres">
      <dgm:prSet presAssocID="{62E65F82-1DFD-4C34-BCCD-A7F90DDCED09}" presName="Accent5" presStyleCnt="0"/>
      <dgm:spPr/>
    </dgm:pt>
    <dgm:pt modelId="{2C8AF572-0F74-4595-8C1B-F6395CB6D38A}" type="pres">
      <dgm:prSet presAssocID="{62E65F82-1DFD-4C34-BCCD-A7F90DDCED09}" presName="Accent" presStyleLbl="bgShp" presStyleIdx="4" presStyleCnt="6"/>
      <dgm:spPr/>
    </dgm:pt>
    <dgm:pt modelId="{EC0A8A91-C95C-4829-8CF1-7B60663223D3}" type="pres">
      <dgm:prSet presAssocID="{62E65F82-1DFD-4C34-BCCD-A7F90DDCED09}" presName="Child5" presStyleLbl="node1" presStyleIdx="4" presStyleCnt="6">
        <dgm:presLayoutVars>
          <dgm:chMax val="0"/>
          <dgm:chPref val="0"/>
          <dgm:bulletEnabled val="1"/>
        </dgm:presLayoutVars>
      </dgm:prSet>
      <dgm:spPr/>
    </dgm:pt>
    <dgm:pt modelId="{89B481D4-5EFD-4F45-81EC-5907AC12F2C4}" type="pres">
      <dgm:prSet presAssocID="{43F40F6A-350A-443E-9FC3-9B06A23D21A7}" presName="Accent6" presStyleCnt="0"/>
      <dgm:spPr/>
    </dgm:pt>
    <dgm:pt modelId="{2BEEEFE4-F623-46CB-A605-E841B41574D4}" type="pres">
      <dgm:prSet presAssocID="{43F40F6A-350A-443E-9FC3-9B06A23D21A7}" presName="Accent" presStyleLbl="bgShp" presStyleIdx="5" presStyleCnt="6"/>
      <dgm:spPr/>
    </dgm:pt>
    <dgm:pt modelId="{321F5C16-3737-4113-8215-9F2655F24D87}" type="pres">
      <dgm:prSet presAssocID="{43F40F6A-350A-443E-9FC3-9B06A23D21A7}" presName="Child6" presStyleLbl="node1" presStyleIdx="5" presStyleCnt="6">
        <dgm:presLayoutVars>
          <dgm:chMax val="0"/>
          <dgm:chPref val="0"/>
          <dgm:bulletEnabled val="1"/>
        </dgm:presLayoutVars>
      </dgm:prSet>
      <dgm:spPr/>
    </dgm:pt>
  </dgm:ptLst>
  <dgm:cxnLst>
    <dgm:cxn modelId="{9EF87B01-E322-4A07-A147-7BFF716931D3}" type="presOf" srcId="{43F40F6A-350A-443E-9FC3-9B06A23D21A7}" destId="{321F5C16-3737-4113-8215-9F2655F24D87}" srcOrd="0" destOrd="0" presId="urn:microsoft.com/office/officeart/2011/layout/HexagonRadial"/>
    <dgm:cxn modelId="{23916D38-18B7-4DEB-A995-79414CAF6F5E}" srcId="{1BA8091F-5854-4695-94D0-9D72A3439505}" destId="{DF0219BF-601D-401C-AF76-4DBE74E009B4}" srcOrd="3" destOrd="0" parTransId="{91F85C2E-2E02-412C-A61A-F971E64CCDB9}" sibTransId="{76EAE841-32C4-4BD3-8A90-FEBCE22888AB}"/>
    <dgm:cxn modelId="{7083183E-2822-4F68-8990-5BFDA4FC5246}" type="presOf" srcId="{78C0B931-F16A-468D-939B-1CE2E6CA73AB}" destId="{774C34BA-6C41-4393-B500-C2F90EFF61C9}" srcOrd="0" destOrd="0" presId="urn:microsoft.com/office/officeart/2011/layout/HexagonRadial"/>
    <dgm:cxn modelId="{AAFCD168-0931-412C-99AC-3552A7E4D4D8}" type="presOf" srcId="{6D4EF2E9-863D-4C76-A433-52297ACB4C9E}" destId="{157989E8-1BC9-4E66-A270-B03598D26556}" srcOrd="0" destOrd="0" presId="urn:microsoft.com/office/officeart/2011/layout/HexagonRadial"/>
    <dgm:cxn modelId="{C3BB3C6C-A69C-4121-9502-4D250BF26BF1}" type="presOf" srcId="{CAFAF8D6-4D7A-4A73-A3CA-AA0EB3940399}" destId="{E465016E-A442-4BAB-9409-20AE0A149079}" srcOrd="0" destOrd="0" presId="urn:microsoft.com/office/officeart/2011/layout/HexagonRadial"/>
    <dgm:cxn modelId="{A4CF436C-E3D1-4F8E-8BF7-4FC0B36AFECE}" srcId="{1BA8091F-5854-4695-94D0-9D72A3439505}" destId="{78C0B931-F16A-468D-939B-1CE2E6CA73AB}" srcOrd="2" destOrd="0" parTransId="{089127FC-15AF-4BD2-99B1-06892FA67D9D}" sibTransId="{AD899001-8E22-4881-A1CA-88E18FF3715F}"/>
    <dgm:cxn modelId="{E1135783-3530-41CB-9540-6B12E996EB48}" type="presOf" srcId="{6E99857E-FA2E-4BBA-BEF2-F5AB8C8E3509}" destId="{10D79C5C-39F9-437A-9DE6-8EE8105EAFFB}" srcOrd="0" destOrd="0" presId="urn:microsoft.com/office/officeart/2011/layout/HexagonRadial"/>
    <dgm:cxn modelId="{C72DC286-E659-40D4-96B9-36675985ADE3}" srcId="{6D4EF2E9-863D-4C76-A433-52297ACB4C9E}" destId="{1BA8091F-5854-4695-94D0-9D72A3439505}" srcOrd="0" destOrd="0" parTransId="{C013BEA9-8EB4-4632-AB4B-837941923A36}" sibTransId="{4A6B7447-AC24-4968-86E1-C03D0F4E481F}"/>
    <dgm:cxn modelId="{1F12E08B-A41F-4DF8-8318-6E808C7BF841}" srcId="{1BA8091F-5854-4695-94D0-9D72A3439505}" destId="{6E99857E-FA2E-4BBA-BEF2-F5AB8C8E3509}" srcOrd="1" destOrd="0" parTransId="{F8BF65E3-10A1-4458-AA4F-16D4064A3D0F}" sibTransId="{C587EBC5-771C-493C-8B0A-5F35E560A5F0}"/>
    <dgm:cxn modelId="{1FDFC58C-8A91-4F93-877C-D3283B3A8001}" type="presOf" srcId="{62E65F82-1DFD-4C34-BCCD-A7F90DDCED09}" destId="{EC0A8A91-C95C-4829-8CF1-7B60663223D3}" srcOrd="0" destOrd="0" presId="urn:microsoft.com/office/officeart/2011/layout/HexagonRadial"/>
    <dgm:cxn modelId="{ECD85E95-1E5C-4F45-AD21-E29D57E86A4C}" srcId="{1BA8091F-5854-4695-94D0-9D72A3439505}" destId="{62E65F82-1DFD-4C34-BCCD-A7F90DDCED09}" srcOrd="4" destOrd="0" parTransId="{1D85B14D-15C4-4DB1-A543-6D9B3B5FFAA2}" sibTransId="{4196A4B5-AEBA-4772-BAA3-F58A737F487A}"/>
    <dgm:cxn modelId="{A6A9CB97-5078-40FE-8A54-C541CB5A7CAD}" srcId="{1BA8091F-5854-4695-94D0-9D72A3439505}" destId="{43F40F6A-350A-443E-9FC3-9B06A23D21A7}" srcOrd="5" destOrd="0" parTransId="{55DC66A2-EA23-45B2-A1C8-50A840FC3C8D}" sibTransId="{5E703AB5-430A-407F-99E5-DB4551E3A1D3}"/>
    <dgm:cxn modelId="{F8A403A5-07F6-48D7-866D-19E0FA2435CD}" type="presOf" srcId="{1BA8091F-5854-4695-94D0-9D72A3439505}" destId="{3024025F-5BF3-4DCC-89AD-F3BE5F4B8905}" srcOrd="0" destOrd="0" presId="urn:microsoft.com/office/officeart/2011/layout/HexagonRadial"/>
    <dgm:cxn modelId="{4B3842C2-FE5E-417A-BA3A-75F93EE17838}" srcId="{1BA8091F-5854-4695-94D0-9D72A3439505}" destId="{CAFAF8D6-4D7A-4A73-A3CA-AA0EB3940399}" srcOrd="0" destOrd="0" parTransId="{A8EF9CA8-20A3-444C-A019-5D577618ECDB}" sibTransId="{81F5757F-D171-4A0F-970A-F365462A0B30}"/>
    <dgm:cxn modelId="{205A5EF4-3F7F-40ED-AC92-5E41A9F405C6}" type="presOf" srcId="{DF0219BF-601D-401C-AF76-4DBE74E009B4}" destId="{59D3CFDB-AF80-4AE8-A30D-9D764B4A8A21}" srcOrd="0" destOrd="0" presId="urn:microsoft.com/office/officeart/2011/layout/HexagonRadial"/>
    <dgm:cxn modelId="{88FE36C0-0A95-4973-8728-F819D734AFA4}" type="presParOf" srcId="{157989E8-1BC9-4E66-A270-B03598D26556}" destId="{3024025F-5BF3-4DCC-89AD-F3BE5F4B8905}" srcOrd="0" destOrd="0" presId="urn:microsoft.com/office/officeart/2011/layout/HexagonRadial"/>
    <dgm:cxn modelId="{2148F134-4C6A-4FA9-900D-F82DEB91EF22}" type="presParOf" srcId="{157989E8-1BC9-4E66-A270-B03598D26556}" destId="{E87EFBB5-AB43-44FF-892C-BCB327D1B6BF}" srcOrd="1" destOrd="0" presId="urn:microsoft.com/office/officeart/2011/layout/HexagonRadial"/>
    <dgm:cxn modelId="{A1D7178B-DF5D-4ECC-B9B4-ED4A8AB32ED5}" type="presParOf" srcId="{E87EFBB5-AB43-44FF-892C-BCB327D1B6BF}" destId="{0DAB96F2-7B01-4C65-825F-B306B1BD08BD}" srcOrd="0" destOrd="0" presId="urn:microsoft.com/office/officeart/2011/layout/HexagonRadial"/>
    <dgm:cxn modelId="{0BE57060-D113-4EDE-A667-A4E28F36B6F2}" type="presParOf" srcId="{157989E8-1BC9-4E66-A270-B03598D26556}" destId="{E465016E-A442-4BAB-9409-20AE0A149079}" srcOrd="2" destOrd="0" presId="urn:microsoft.com/office/officeart/2011/layout/HexagonRadial"/>
    <dgm:cxn modelId="{253A8C7F-EE3B-4D1C-968A-1A737FAD2746}" type="presParOf" srcId="{157989E8-1BC9-4E66-A270-B03598D26556}" destId="{E3FE9285-7CA3-4B46-8730-3DD103FAA749}" srcOrd="3" destOrd="0" presId="urn:microsoft.com/office/officeart/2011/layout/HexagonRadial"/>
    <dgm:cxn modelId="{C291E7F0-EE6E-4731-9BD1-4A0641F96D0F}" type="presParOf" srcId="{E3FE9285-7CA3-4B46-8730-3DD103FAA749}" destId="{79A1F478-844B-413A-9388-19BDA2BDCE27}" srcOrd="0" destOrd="0" presId="urn:microsoft.com/office/officeart/2011/layout/HexagonRadial"/>
    <dgm:cxn modelId="{CF6E78D5-76E6-4E91-92DC-8D26EE10FC99}" type="presParOf" srcId="{157989E8-1BC9-4E66-A270-B03598D26556}" destId="{10D79C5C-39F9-437A-9DE6-8EE8105EAFFB}" srcOrd="4" destOrd="0" presId="urn:microsoft.com/office/officeart/2011/layout/HexagonRadial"/>
    <dgm:cxn modelId="{C9004FB1-A19F-4671-858B-B7EE600BA3CD}" type="presParOf" srcId="{157989E8-1BC9-4E66-A270-B03598D26556}" destId="{6015F892-8F20-4A62-B79E-8DB21C11D16C}" srcOrd="5" destOrd="0" presId="urn:microsoft.com/office/officeart/2011/layout/HexagonRadial"/>
    <dgm:cxn modelId="{E2D9E8CD-3C00-4A03-A637-DE5CF4889B31}" type="presParOf" srcId="{6015F892-8F20-4A62-B79E-8DB21C11D16C}" destId="{D8B485CE-22C7-4DF3-B238-DB44DCA0559C}" srcOrd="0" destOrd="0" presId="urn:microsoft.com/office/officeart/2011/layout/HexagonRadial"/>
    <dgm:cxn modelId="{BAF8D597-3BA4-4BB0-8C7D-FBD6C9205F83}" type="presParOf" srcId="{157989E8-1BC9-4E66-A270-B03598D26556}" destId="{774C34BA-6C41-4393-B500-C2F90EFF61C9}" srcOrd="6" destOrd="0" presId="urn:microsoft.com/office/officeart/2011/layout/HexagonRadial"/>
    <dgm:cxn modelId="{9B8487DA-710B-4F0A-9BE7-5D5F077CBD5E}" type="presParOf" srcId="{157989E8-1BC9-4E66-A270-B03598D26556}" destId="{EBE423C2-9680-427E-B175-E50718E9DD98}" srcOrd="7" destOrd="0" presId="urn:microsoft.com/office/officeart/2011/layout/HexagonRadial"/>
    <dgm:cxn modelId="{E3627CC4-8AB5-481E-B41F-1B7C9A23416A}" type="presParOf" srcId="{EBE423C2-9680-427E-B175-E50718E9DD98}" destId="{2F2B4F2C-CEB8-4419-AB93-EF14E0A9FEB1}" srcOrd="0" destOrd="0" presId="urn:microsoft.com/office/officeart/2011/layout/HexagonRadial"/>
    <dgm:cxn modelId="{054F8764-C1E8-4A62-8277-50739A9265D9}" type="presParOf" srcId="{157989E8-1BC9-4E66-A270-B03598D26556}" destId="{59D3CFDB-AF80-4AE8-A30D-9D764B4A8A21}" srcOrd="8" destOrd="0" presId="urn:microsoft.com/office/officeart/2011/layout/HexagonRadial"/>
    <dgm:cxn modelId="{36546D7C-B1DB-408E-9941-57704A1359E9}" type="presParOf" srcId="{157989E8-1BC9-4E66-A270-B03598D26556}" destId="{CA56AD00-16BE-4538-B59F-79F3C35D7B9F}" srcOrd="9" destOrd="0" presId="urn:microsoft.com/office/officeart/2011/layout/HexagonRadial"/>
    <dgm:cxn modelId="{A0F5851E-BB90-4D42-B980-4B9D64D45DAD}" type="presParOf" srcId="{CA56AD00-16BE-4538-B59F-79F3C35D7B9F}" destId="{2C8AF572-0F74-4595-8C1B-F6395CB6D38A}" srcOrd="0" destOrd="0" presId="urn:microsoft.com/office/officeart/2011/layout/HexagonRadial"/>
    <dgm:cxn modelId="{26035D48-AB28-4076-BAD1-33B1B3C00626}" type="presParOf" srcId="{157989E8-1BC9-4E66-A270-B03598D26556}" destId="{EC0A8A91-C95C-4829-8CF1-7B60663223D3}" srcOrd="10" destOrd="0" presId="urn:microsoft.com/office/officeart/2011/layout/HexagonRadial"/>
    <dgm:cxn modelId="{2CCF5CDB-7397-49D3-9A1C-14F4B40F1C45}" type="presParOf" srcId="{157989E8-1BC9-4E66-A270-B03598D26556}" destId="{89B481D4-5EFD-4F45-81EC-5907AC12F2C4}" srcOrd="11" destOrd="0" presId="urn:microsoft.com/office/officeart/2011/layout/HexagonRadial"/>
    <dgm:cxn modelId="{BA924B50-B346-48B4-A30E-22207BDAD882}" type="presParOf" srcId="{89B481D4-5EFD-4F45-81EC-5907AC12F2C4}" destId="{2BEEEFE4-F623-46CB-A605-E841B41574D4}" srcOrd="0" destOrd="0" presId="urn:microsoft.com/office/officeart/2011/layout/HexagonRadial"/>
    <dgm:cxn modelId="{8191DD08-B077-4A0E-85B6-6968C32F0071}" type="presParOf" srcId="{157989E8-1BC9-4E66-A270-B03598D26556}" destId="{321F5C16-3737-4113-8215-9F2655F24D87}"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5151EA1-5653-425E-BA8B-7E92BDFDCE62}" type="doc">
      <dgm:prSet loTypeId="urn:microsoft.com/office/officeart/2005/8/layout/default" loCatId="list" qsTypeId="urn:microsoft.com/office/officeart/2005/8/quickstyle/simple5" qsCatId="simple" csTypeId="urn:microsoft.com/office/officeart/2005/8/colors/accent1_1" csCatId="accent1" phldr="1"/>
      <dgm:spPr/>
      <dgm:t>
        <a:bodyPr/>
        <a:lstStyle/>
        <a:p>
          <a:endParaRPr lang="en-US"/>
        </a:p>
      </dgm:t>
    </dgm:pt>
    <mc:AlternateContent xmlns:mc="http://schemas.openxmlformats.org/markup-compatibility/2006" xmlns:a14="http://schemas.microsoft.com/office/drawing/2010/main">
      <mc:Choice Requires="a14">
        <dgm:pt modelId="{B94328E3-82C8-4C99-AEEA-64CF17DBAFA0}">
          <dgm:prSet custT="1"/>
          <dgm:spPr/>
          <dgm:t>
            <a:bodyPr/>
            <a:lstStyle/>
            <a:p>
              <a:r>
                <a:rPr lang="en-US" sz="1400" b="1" i="0" baseline="0" dirty="0"/>
                <a:t>Hollomon</a:t>
              </a:r>
            </a:p>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𝜎</m:t>
                    </m:r>
                    <m:r>
                      <a:rPr lang="en-US" sz="1400" b="0" i="1" dirty="0" smtClean="0">
                        <a:latin typeface="Cambria Math" panose="02040503050406030204" pitchFamily="18" charset="0"/>
                      </a:rPr>
                      <m:t>=1212.9605</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𝜀</m:t>
                        </m:r>
                      </m:e>
                      <m:sup>
                        <m:r>
                          <a:rPr lang="en-US" sz="1400" b="0" i="1" dirty="0" smtClean="0">
                            <a:latin typeface="Cambria Math" panose="02040503050406030204" pitchFamily="18" charset="0"/>
                            <a:ea typeface="Cambria Math" panose="02040503050406030204" pitchFamily="18" charset="0"/>
                          </a:rPr>
                          <m:t>0.0181</m:t>
                        </m:r>
                      </m:sup>
                    </m:sSup>
                  </m:oMath>
                </m:oMathPara>
              </a14:m>
              <a:endParaRPr lang="en-US" sz="1400" dirty="0"/>
            </a:p>
          </dgm:t>
        </dgm:pt>
      </mc:Choice>
      <mc:Fallback xmlns="">
        <dgm:pt modelId="{B94328E3-82C8-4C99-AEEA-64CF17DBAFA0}">
          <dgm:prSet custT="1"/>
          <dgm:spPr/>
          <dgm:t>
            <a:bodyPr/>
            <a:lstStyle/>
            <a:p>
              <a:r>
                <a:rPr lang="en-US" sz="1400" b="1" i="0" baseline="0" dirty="0"/>
                <a:t>Hollomon</a:t>
              </a:r>
            </a:p>
            <a:p>
              <a:pPr/>
              <a:r>
                <a:rPr lang="en-US" sz="1400" b="0" i="0" dirty="0">
                  <a:latin typeface="Cambria Math" panose="02040503050406030204" pitchFamily="18" charset="0"/>
                </a:rPr>
                <a:t>𝜎=1212.9605</a:t>
              </a:r>
              <a:r>
                <a:rPr lang="en-US" sz="1400" b="0" i="0" dirty="0">
                  <a:latin typeface="Cambria Math" panose="02040503050406030204" pitchFamily="18" charset="0"/>
                  <a:ea typeface="Cambria Math" panose="02040503050406030204" pitchFamily="18" charset="0"/>
                </a:rPr>
                <a:t>𝜀^0.0181</a:t>
              </a:r>
              <a:endParaRPr lang="en-US" sz="1400" dirty="0"/>
            </a:p>
          </dgm:t>
        </dgm:pt>
      </mc:Fallback>
    </mc:AlternateContent>
    <dgm:pt modelId="{34281A2C-9A90-4551-8653-F66B00883ACF}" type="parTrans" cxnId="{94FF700E-7EF6-4390-8C0E-D6076EAA2443}">
      <dgm:prSet/>
      <dgm:spPr/>
      <dgm:t>
        <a:bodyPr/>
        <a:lstStyle/>
        <a:p>
          <a:endParaRPr lang="en-US"/>
        </a:p>
      </dgm:t>
    </dgm:pt>
    <dgm:pt modelId="{E1023600-DCEC-4F17-B802-D447A98F0ABD}" type="sibTrans" cxnId="{94FF700E-7EF6-4390-8C0E-D6076EAA2443}">
      <dgm:prSet/>
      <dgm:spPr/>
      <dgm:t>
        <a:bodyPr/>
        <a:lstStyle/>
        <a:p>
          <a:endParaRPr lang="en-US"/>
        </a:p>
      </dgm:t>
    </dgm:pt>
    <mc:AlternateContent xmlns:mc="http://schemas.openxmlformats.org/markup-compatibility/2006" xmlns:a14="http://schemas.microsoft.com/office/drawing/2010/main">
      <mc:Choice Requires="a14">
        <dgm:pt modelId="{10F2C5CD-A48B-4FBE-903B-C70FACD4BDCE}">
          <dgm:prSet custT="1"/>
          <dgm:spPr/>
          <dgm:t>
            <a:bodyPr/>
            <a:lstStyle/>
            <a:p>
              <a:r>
                <a:rPr lang="en-US" sz="1600" b="1" dirty="0"/>
                <a:t>Ludwik</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𝜎</m:t>
                    </m:r>
                    <m:r>
                      <a:rPr lang="en-US" sz="1400" b="0" i="1" smtClean="0">
                        <a:latin typeface="Cambria Math" panose="02040503050406030204" pitchFamily="18" charset="0"/>
                      </a:rPr>
                      <m:t>=1051.95+701.21</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𝜀</m:t>
                        </m:r>
                      </m:e>
                      <m:sup>
                        <m:r>
                          <a:rPr lang="en-US" sz="1400" b="0" i="1" smtClean="0">
                            <a:latin typeface="Cambria Math" panose="02040503050406030204" pitchFamily="18" charset="0"/>
                            <a:ea typeface="Cambria Math" panose="02040503050406030204" pitchFamily="18" charset="0"/>
                          </a:rPr>
                          <m:t>0.4909</m:t>
                        </m:r>
                      </m:sup>
                    </m:sSup>
                  </m:oMath>
                </m:oMathPara>
              </a14:m>
              <a:endParaRPr lang="en-US" sz="1400" b="0" dirty="0">
                <a:ea typeface="Cambria Math" panose="02040503050406030204" pitchFamily="18" charset="0"/>
              </a:endParaRPr>
            </a:p>
          </dgm:t>
        </dgm:pt>
      </mc:Choice>
      <mc:Fallback xmlns="">
        <dgm:pt modelId="{10F2C5CD-A48B-4FBE-903B-C70FACD4BDCE}">
          <dgm:prSet custT="1"/>
          <dgm:spPr/>
          <dgm:t>
            <a:bodyPr/>
            <a:lstStyle/>
            <a:p>
              <a:r>
                <a:rPr lang="en-US" sz="1600" b="1" dirty="0"/>
                <a:t>Ludwik</a:t>
              </a:r>
            </a:p>
            <a:p>
              <a:pPr/>
              <a:r>
                <a:rPr lang="en-US" sz="1400" b="0" i="0">
                  <a:latin typeface="Cambria Math" panose="02040503050406030204" pitchFamily="18" charset="0"/>
                </a:rPr>
                <a:t>𝜎=1051.95+701.21</a:t>
              </a:r>
              <a:r>
                <a:rPr lang="en-US" sz="1400" b="0" i="0">
                  <a:latin typeface="Cambria Math" panose="02040503050406030204" pitchFamily="18" charset="0"/>
                  <a:ea typeface="Cambria Math" panose="02040503050406030204" pitchFamily="18" charset="0"/>
                </a:rPr>
                <a:t>𝜀^0.4909</a:t>
              </a:r>
              <a:endParaRPr lang="en-US" sz="1400" b="0" dirty="0">
                <a:ea typeface="Cambria Math" panose="02040503050406030204" pitchFamily="18" charset="0"/>
              </a:endParaRPr>
            </a:p>
          </dgm:t>
        </dgm:pt>
      </mc:Fallback>
    </mc:AlternateContent>
    <dgm:pt modelId="{39635369-87C9-44AB-B70A-AF4D9F77C05F}" type="parTrans" cxnId="{85AFC6B9-BE4E-4F78-8A6E-9AFB39B960F1}">
      <dgm:prSet/>
      <dgm:spPr/>
      <dgm:t>
        <a:bodyPr/>
        <a:lstStyle/>
        <a:p>
          <a:endParaRPr lang="en-US"/>
        </a:p>
      </dgm:t>
    </dgm:pt>
    <dgm:pt modelId="{FFC47046-BC01-42C9-9FEA-F524F61D4F2F}" type="sibTrans" cxnId="{85AFC6B9-BE4E-4F78-8A6E-9AFB39B960F1}">
      <dgm:prSet/>
      <dgm:spPr/>
      <dgm:t>
        <a:bodyPr/>
        <a:lstStyle/>
        <a:p>
          <a:endParaRPr lang="en-US"/>
        </a:p>
      </dgm:t>
    </dgm:pt>
    <mc:AlternateContent xmlns:mc="http://schemas.openxmlformats.org/markup-compatibility/2006" xmlns:a14="http://schemas.microsoft.com/office/drawing/2010/main">
      <mc:Choice Requires="a14">
        <dgm:pt modelId="{B7B00137-B253-4FFE-A89B-E3D545CE3EE0}">
          <dgm:prSet custT="1"/>
          <dgm:spPr/>
          <dgm:t>
            <a:bodyPr/>
            <a:lstStyle/>
            <a:p>
              <a:r>
                <a:rPr lang="en-US" sz="1600" b="1" i="0" baseline="0" dirty="0"/>
                <a:t>Swift</a:t>
              </a:r>
              <a14:m>
                <m:oMath xmlns:m="http://schemas.openxmlformats.org/officeDocument/2006/math">
                  <m:r>
                    <a:rPr lang="en-US" sz="2000" i="1">
                      <a:latin typeface="Cambria Math" panose="02040503050406030204" pitchFamily="18" charset="0"/>
                    </a:rPr>
                    <m:t> </m:t>
                  </m:r>
                </m:oMath>
              </a14:m>
              <a:endParaRPr lang="en-US" sz="2000" dirty="0"/>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𝜎</m:t>
                    </m:r>
                    <m:r>
                      <a:rPr lang="en-US" sz="1400" b="0" i="1" smtClean="0">
                        <a:latin typeface="Cambria Math" panose="02040503050406030204" pitchFamily="18" charset="0"/>
                      </a:rPr>
                      <m:t>=1311.266 </m:t>
                    </m:r>
                    <m:sSup>
                      <m:sSupPr>
                        <m:ctrlPr>
                          <a:rPr lang="en-US" sz="1400" b="0" i="1" smtClean="0">
                            <a:latin typeface="Cambria Math" panose="02040503050406030204" pitchFamily="18" charset="0"/>
                            <a:ea typeface="Cambria Math" panose="02040503050406030204" pitchFamily="18" charset="0"/>
                          </a:rPr>
                        </m:ctrlPr>
                      </m:sSupPr>
                      <m:e>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𝜀</m:t>
                            </m:r>
                            <m:r>
                              <a:rPr lang="en-US" sz="1400" b="0" i="1" smtClean="0">
                                <a:latin typeface="Cambria Math" panose="02040503050406030204" pitchFamily="18" charset="0"/>
                                <a:ea typeface="Cambria Math" panose="02040503050406030204" pitchFamily="18" charset="0"/>
                              </a:rPr>
                              <m:t>+0.0026</m:t>
                            </m:r>
                          </m:e>
                        </m:d>
                      </m:e>
                      <m:sup>
                        <m:r>
                          <a:rPr lang="en-US" sz="1400" b="0" i="1" smtClean="0">
                            <a:latin typeface="Cambria Math" panose="02040503050406030204" pitchFamily="18" charset="0"/>
                            <a:ea typeface="Cambria Math" panose="02040503050406030204" pitchFamily="18" charset="0"/>
                          </a:rPr>
                          <m:t>0.0359</m:t>
                        </m:r>
                      </m:sup>
                    </m:sSup>
                  </m:oMath>
                </m:oMathPara>
              </a14:m>
              <a:endParaRPr lang="en-US" sz="1400" dirty="0"/>
            </a:p>
          </dgm:t>
        </dgm:pt>
      </mc:Choice>
      <mc:Fallback xmlns="">
        <dgm:pt modelId="{B7B00137-B253-4FFE-A89B-E3D545CE3EE0}">
          <dgm:prSet custT="1"/>
          <dgm:spPr/>
          <dgm:t>
            <a:bodyPr/>
            <a:lstStyle/>
            <a:p>
              <a:r>
                <a:rPr lang="en-US" sz="1600" b="1" i="0" baseline="0" dirty="0"/>
                <a:t>Swift</a:t>
              </a:r>
              <a:r>
                <a:rPr lang="en-US" sz="2000" i="0">
                  <a:latin typeface="Cambria Math" panose="02040503050406030204" pitchFamily="18" charset="0"/>
                </a:rPr>
                <a:t> </a:t>
              </a:r>
              <a:endParaRPr lang="en-US" sz="2000" dirty="0"/>
            </a:p>
            <a:p>
              <a:pPr/>
              <a:r>
                <a:rPr lang="en-US" sz="1400" b="0" i="0">
                  <a:latin typeface="Cambria Math" panose="02040503050406030204" pitchFamily="18" charset="0"/>
                </a:rPr>
                <a:t>𝜎=1311.266 </a:t>
              </a:r>
              <a:r>
                <a:rPr lang="en-US" sz="1400" b="0" i="0">
                  <a:latin typeface="Cambria Math" panose="02040503050406030204" pitchFamily="18" charset="0"/>
                  <a:ea typeface="Cambria Math" panose="02040503050406030204" pitchFamily="18" charset="0"/>
                </a:rPr>
                <a:t>(𝜀+0.0026)^0.0359</a:t>
              </a:r>
              <a:endParaRPr lang="en-US" sz="1400" dirty="0"/>
            </a:p>
          </dgm:t>
        </dgm:pt>
      </mc:Fallback>
    </mc:AlternateContent>
    <dgm:pt modelId="{569D5C21-1039-4175-BA6A-A216E2CA12B8}" type="parTrans" cxnId="{A9E5046A-E93D-499B-A655-CC3CC3D66ACA}">
      <dgm:prSet/>
      <dgm:spPr/>
      <dgm:t>
        <a:bodyPr/>
        <a:lstStyle/>
        <a:p>
          <a:endParaRPr lang="en-US"/>
        </a:p>
      </dgm:t>
    </dgm:pt>
    <dgm:pt modelId="{99D195FF-406C-482E-A180-878D8B48F182}" type="sibTrans" cxnId="{A9E5046A-E93D-499B-A655-CC3CC3D66ACA}">
      <dgm:prSet/>
      <dgm:spPr/>
      <dgm:t>
        <a:bodyPr/>
        <a:lstStyle/>
        <a:p>
          <a:endParaRPr lang="en-US"/>
        </a:p>
      </dgm:t>
    </dgm:pt>
    <mc:AlternateContent xmlns:mc="http://schemas.openxmlformats.org/markup-compatibility/2006" xmlns:a14="http://schemas.microsoft.com/office/drawing/2010/main">
      <mc:Choice Requires="a14">
        <dgm:pt modelId="{E4DCAB28-C6A6-4707-A6C9-AE8A6D154A61}">
          <dgm:prSet custT="1"/>
          <dgm:spPr/>
          <dgm:t>
            <a:bodyPr/>
            <a:lstStyle/>
            <a:p>
              <a:r>
                <a:rPr lang="en-US" sz="1600" b="1" i="0" baseline="0" dirty="0"/>
                <a:t>Voce</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𝜎</m:t>
                    </m:r>
                    <m:r>
                      <a:rPr lang="en-US" sz="1400" b="0" i="1" smtClean="0">
                        <a:latin typeface="Cambria Math" panose="02040503050406030204" pitchFamily="18" charset="0"/>
                      </a:rPr>
                      <m:t>=1051.95+77.07(1−</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142.1846</m:t>
                        </m:r>
                        <m:r>
                          <a:rPr lang="en-US" sz="1400" b="0" i="1" smtClean="0">
                            <a:latin typeface="Cambria Math" panose="02040503050406030204" pitchFamily="18" charset="0"/>
                            <a:ea typeface="Cambria Math" panose="02040503050406030204" pitchFamily="18" charset="0"/>
                          </a:rPr>
                          <m:t>𝜀</m:t>
                        </m:r>
                      </m:sup>
                    </m:sSup>
                    <m:r>
                      <a:rPr lang="en-US" sz="1400" b="0" i="1" smtClean="0">
                        <a:latin typeface="Cambria Math" panose="02040503050406030204" pitchFamily="18" charset="0"/>
                      </a:rPr>
                      <m:t>)</m:t>
                    </m:r>
                  </m:oMath>
                </m:oMathPara>
              </a14:m>
              <a:endParaRPr lang="en-US" sz="1400" dirty="0"/>
            </a:p>
          </dgm:t>
        </dgm:pt>
      </mc:Choice>
      <mc:Fallback xmlns="">
        <dgm:pt modelId="{E4DCAB28-C6A6-4707-A6C9-AE8A6D154A61}">
          <dgm:prSet custT="1"/>
          <dgm:spPr/>
          <dgm:t>
            <a:bodyPr/>
            <a:lstStyle/>
            <a:p>
              <a:r>
                <a:rPr lang="en-US" sz="1600" b="1" i="0" baseline="0" dirty="0"/>
                <a:t>Voce</a:t>
              </a:r>
            </a:p>
            <a:p>
              <a:pPr/>
              <a:r>
                <a:rPr lang="en-US" sz="1400" b="0" i="0">
                  <a:latin typeface="Cambria Math" panose="02040503050406030204" pitchFamily="18" charset="0"/>
                </a:rPr>
                <a:t>𝜎=1051.95+77.07(1−𝑒^142.1846</a:t>
              </a:r>
              <a:r>
                <a:rPr lang="en-US" sz="1400" b="0" i="0">
                  <a:latin typeface="Cambria Math" panose="02040503050406030204" pitchFamily="18" charset="0"/>
                  <a:ea typeface="Cambria Math" panose="02040503050406030204" pitchFamily="18" charset="0"/>
                </a:rPr>
                <a:t>𝜀</a:t>
              </a:r>
              <a:r>
                <a:rPr lang="en-US" sz="1400" b="0" i="0">
                  <a:latin typeface="Cambria Math" panose="02040503050406030204" pitchFamily="18" charset="0"/>
                </a:rPr>
                <a:t>)</a:t>
              </a:r>
              <a:endParaRPr lang="en-US" sz="1400" dirty="0"/>
            </a:p>
          </dgm:t>
        </dgm:pt>
      </mc:Fallback>
    </mc:AlternateContent>
    <dgm:pt modelId="{41C5AE5A-839C-425D-B430-92CD5E7280C1}" type="parTrans" cxnId="{0DF9E1AB-F741-45FD-B347-AA0C2B3BC1AA}">
      <dgm:prSet/>
      <dgm:spPr/>
      <dgm:t>
        <a:bodyPr/>
        <a:lstStyle/>
        <a:p>
          <a:endParaRPr lang="en-US"/>
        </a:p>
      </dgm:t>
    </dgm:pt>
    <dgm:pt modelId="{E563C6FA-4F02-44F9-8451-C4E5984301E7}" type="sibTrans" cxnId="{0DF9E1AB-F741-45FD-B347-AA0C2B3BC1AA}">
      <dgm:prSet/>
      <dgm:spPr/>
      <dgm:t>
        <a:bodyPr/>
        <a:lstStyle/>
        <a:p>
          <a:endParaRPr lang="en-US"/>
        </a:p>
      </dgm:t>
    </dgm:pt>
    <mc:AlternateContent xmlns:mc="http://schemas.openxmlformats.org/markup-compatibility/2006" xmlns:a14="http://schemas.microsoft.com/office/drawing/2010/main">
      <mc:Choice Requires="a14">
        <dgm:pt modelId="{3A25D1FA-6E71-4794-B706-E6500B143B8E}">
          <dgm:prSet custT="1"/>
          <dgm:spPr/>
          <dgm:t>
            <a:bodyPr/>
            <a:lstStyle/>
            <a:p>
              <a:r>
                <a:rPr lang="en-US" sz="1600" b="1" dirty="0"/>
                <a:t>Hockett-Sherby</a:t>
              </a: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𝜎</m:t>
                    </m:r>
                    <m:r>
                      <a:rPr lang="en-US" sz="1400" b="0" i="1" smtClean="0">
                        <a:latin typeface="Cambria Math" panose="02040503050406030204" pitchFamily="18" charset="0"/>
                      </a:rPr>
                      <m:t>=1051.95+238.53(1−</m:t>
                    </m:r>
                    <m:sSup>
                      <m:sSupPr>
                        <m:ctrlPr>
                          <a:rPr lang="en-US" sz="1400" b="0" i="1" smtClean="0">
                            <a:latin typeface="Cambria Math" panose="02040503050406030204" pitchFamily="18" charset="0"/>
                          </a:rPr>
                        </m:ctrlPr>
                      </m:sSupPr>
                      <m:e>
                        <m:r>
                          <a:rPr lang="en-US" sz="1400" i="1" smtClean="0">
                            <a:latin typeface="Cambria Math" panose="02040503050406030204" pitchFamily="18" charset="0"/>
                          </a:rPr>
                          <m:t>𝒆</m:t>
                        </m:r>
                      </m:e>
                      <m:sup>
                        <m:r>
                          <a:rPr lang="en-US" sz="1400" b="0" i="1" smtClean="0">
                            <a:latin typeface="Cambria Math" panose="02040503050406030204" pitchFamily="18" charset="0"/>
                          </a:rPr>
                          <m:t>−5.2986</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𝜀</m:t>
                            </m:r>
                          </m:e>
                          <m:sup>
                            <m:r>
                              <a:rPr lang="en-US" sz="1400" b="0" i="1" smtClean="0">
                                <a:latin typeface="Cambria Math" panose="02040503050406030204" pitchFamily="18" charset="0"/>
                                <a:ea typeface="Cambria Math" panose="02040503050406030204" pitchFamily="18" charset="0"/>
                              </a:rPr>
                              <m:t>0.5942</m:t>
                            </m:r>
                          </m:sup>
                        </m:sSup>
                      </m:sup>
                    </m:s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rPr>
                      <m:t> </m:t>
                    </m:r>
                  </m:oMath>
                </m:oMathPara>
              </a14:m>
              <a:endParaRPr lang="en-US" sz="1400" dirty="0"/>
            </a:p>
          </dgm:t>
        </dgm:pt>
      </mc:Choice>
      <mc:Fallback xmlns="">
        <dgm:pt modelId="{3A25D1FA-6E71-4794-B706-E6500B143B8E}">
          <dgm:prSet custT="1"/>
          <dgm:spPr/>
          <dgm:t>
            <a:bodyPr/>
            <a:lstStyle/>
            <a:p>
              <a:r>
                <a:rPr lang="en-US" sz="1600" b="1" dirty="0"/>
                <a:t>Hockett-Sherby</a:t>
              </a:r>
            </a:p>
            <a:p>
              <a:pPr/>
              <a:r>
                <a:rPr lang="en-US" sz="1400" b="0" i="0">
                  <a:latin typeface="Cambria Math" panose="02040503050406030204" pitchFamily="18" charset="0"/>
                </a:rPr>
                <a:t>𝜎=1051.95+238.53(1−</a:t>
              </a:r>
              <a:r>
                <a:rPr lang="en-US" sz="1400" i="0">
                  <a:latin typeface="Cambria Math" panose="02040503050406030204" pitchFamily="18" charset="0"/>
                </a:rPr>
                <a:t>𝒆</a:t>
              </a:r>
              <a:r>
                <a:rPr lang="en-US" sz="1400" b="0" i="0">
                  <a:latin typeface="Cambria Math" panose="02040503050406030204" pitchFamily="18" charset="0"/>
                </a:rPr>
                <a:t>^(−5.2986</a:t>
              </a:r>
              <a:r>
                <a:rPr lang="en-US" sz="1400" b="0" i="0">
                  <a:latin typeface="Cambria Math" panose="02040503050406030204" pitchFamily="18" charset="0"/>
                  <a:ea typeface="Cambria Math" panose="02040503050406030204" pitchFamily="18" charset="0"/>
                </a:rPr>
                <a:t>𝜀^0.5942 ))</a:t>
              </a:r>
              <a:r>
                <a:rPr lang="en-US" sz="1400" b="0" i="0">
                  <a:latin typeface="Cambria Math" panose="02040503050406030204" pitchFamily="18" charset="0"/>
                </a:rPr>
                <a:t> </a:t>
              </a:r>
              <a:endParaRPr lang="en-US" sz="1400" dirty="0"/>
            </a:p>
          </dgm:t>
        </dgm:pt>
      </mc:Fallback>
    </mc:AlternateContent>
    <dgm:pt modelId="{CAD2554D-EBC1-4FB8-AC16-CCE5BA533828}" type="parTrans" cxnId="{F052E4DC-490B-4D30-8F0E-1BF9E79D0C90}">
      <dgm:prSet/>
      <dgm:spPr/>
      <dgm:t>
        <a:bodyPr/>
        <a:lstStyle/>
        <a:p>
          <a:endParaRPr lang="en-US"/>
        </a:p>
      </dgm:t>
    </dgm:pt>
    <dgm:pt modelId="{3B7F8816-0DC4-4DEF-846F-387F06F2FA76}" type="sibTrans" cxnId="{F052E4DC-490B-4D30-8F0E-1BF9E79D0C90}">
      <dgm:prSet/>
      <dgm:spPr/>
      <dgm:t>
        <a:bodyPr/>
        <a:lstStyle/>
        <a:p>
          <a:endParaRPr lang="en-US"/>
        </a:p>
      </dgm:t>
    </dgm:pt>
    <mc:AlternateContent xmlns:mc="http://schemas.openxmlformats.org/markup-compatibility/2006" xmlns:a14="http://schemas.microsoft.com/office/drawing/2010/main">
      <mc:Choice Requires="a14">
        <dgm:pt modelId="{E4E4BE15-04E6-40E7-8D28-6F29C15E0976}">
          <dgm:prSet custT="1"/>
          <dgm:spPr/>
          <dgm:t>
            <a:bodyPr/>
            <a:lstStyle/>
            <a:p>
              <a:r>
                <a:rPr lang="en-US" sz="1600" b="1" dirty="0"/>
                <a:t>Ramberg-Osgood</a:t>
              </a:r>
            </a:p>
            <a:p>
              <a14:m>
                <m:oMath xmlns:m="http://schemas.openxmlformats.org/officeDocument/2006/math">
                  <m:r>
                    <a:rPr lang="en-US" sz="1400" b="0" i="1" smtClean="0">
                      <a:latin typeface="Cambria Math" panose="02040503050406030204" pitchFamily="18" charset="0"/>
                      <a:ea typeface="Cambria Math" panose="02040503050406030204" pitchFamily="18" charset="0"/>
                    </a:rPr>
                    <m:t>𝜀</m:t>
                  </m:r>
                  <m:r>
                    <a:rPr lang="en-US" sz="1400" b="0" i="1" smtClean="0">
                      <a:latin typeface="Cambria Math" panose="02040503050406030204" pitchFamily="18" charset="0"/>
                      <a:ea typeface="Cambria Math" panose="02040503050406030204" pitchFamily="18" charset="0"/>
                    </a:rPr>
                    <m:t>=</m:t>
                  </m:r>
                  <m:f>
                    <m:fPr>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𝜎</m:t>
                      </m:r>
                    </m:num>
                    <m:den>
                      <m:r>
                        <a:rPr lang="en-US" sz="1400" b="0" i="1" smtClean="0">
                          <a:latin typeface="Cambria Math" panose="02040503050406030204" pitchFamily="18" charset="0"/>
                          <a:ea typeface="Cambria Math" panose="02040503050406030204" pitchFamily="18" charset="0"/>
                        </a:rPr>
                        <m:t>𝐸</m:t>
                      </m:r>
                    </m:den>
                  </m:f>
                  <m:r>
                    <a:rPr lang="en-US" sz="1400" b="0" i="1" smtClean="0">
                      <a:latin typeface="Cambria Math" panose="02040503050406030204" pitchFamily="18" charset="0"/>
                      <a:ea typeface="Cambria Math" panose="02040503050406030204" pitchFamily="18" charset="0"/>
                    </a:rPr>
                    <m:t>+</m:t>
                  </m:r>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0.0094</m:t>
                      </m:r>
                    </m:e>
                  </m:d>
                  <m:sSup>
                    <m:sSupPr>
                      <m:ctrlPr>
                        <a:rPr lang="en-US" sz="1400" b="0" i="1" smtClean="0">
                          <a:latin typeface="Cambria Math" panose="02040503050406030204" pitchFamily="18" charset="0"/>
                          <a:ea typeface="Cambria Math" panose="02040503050406030204" pitchFamily="18" charset="0"/>
                        </a:rPr>
                      </m:ctrlPr>
                    </m:sSupPr>
                    <m:e>
                      <m:d>
                        <m:dPr>
                          <m:ctrlPr>
                            <a:rPr lang="en-US" sz="1400" b="0" i="1" smtClean="0">
                              <a:latin typeface="Cambria Math" panose="02040503050406030204" pitchFamily="18" charset="0"/>
                              <a:ea typeface="Cambria Math" panose="02040503050406030204" pitchFamily="18" charset="0"/>
                            </a:rPr>
                          </m:ctrlPr>
                        </m:dPr>
                        <m:e>
                          <m:f>
                            <m:fPr>
                              <m:ctrlPr>
                                <a:rPr lang="en-US" sz="1400" b="0" i="1" smtClean="0">
                                  <a:latin typeface="Cambria Math" panose="02040503050406030204" pitchFamily="18" charset="0"/>
                                  <a:ea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𝜎</m:t>
                              </m:r>
                            </m:num>
                            <m:den>
                              <m:r>
                                <a:rPr lang="en-US" sz="1400" b="0" i="1" smtClean="0">
                                  <a:latin typeface="Cambria Math" panose="02040503050406030204" pitchFamily="18" charset="0"/>
                                  <a:ea typeface="Cambria Math" panose="02040503050406030204" pitchFamily="18" charset="0"/>
                                </a:rPr>
                                <m:t>1051.95</m:t>
                              </m:r>
                            </m:den>
                          </m:f>
                        </m:e>
                      </m:d>
                    </m:e>
                    <m:sup>
                      <m:r>
                        <a:rPr lang="en-US" sz="1400" b="0" i="1" smtClean="0">
                          <a:latin typeface="Cambria Math" panose="02040503050406030204" pitchFamily="18" charset="0"/>
                          <a:ea typeface="Cambria Math" panose="02040503050406030204" pitchFamily="18" charset="0"/>
                        </a:rPr>
                        <m:t>43.0252</m:t>
                      </m:r>
                    </m:sup>
                  </m:sSup>
                </m:oMath>
              </a14:m>
              <a:r>
                <a:rPr lang="en-US" sz="1600" dirty="0"/>
                <a:t> </a:t>
              </a:r>
            </a:p>
          </dgm:t>
        </dgm:pt>
      </mc:Choice>
      <mc:Fallback xmlns="">
        <dgm:pt modelId="{E4E4BE15-04E6-40E7-8D28-6F29C15E0976}">
          <dgm:prSet custT="1"/>
          <dgm:spPr/>
          <dgm:t>
            <a:bodyPr/>
            <a:lstStyle/>
            <a:p>
              <a:r>
                <a:rPr lang="en-US" sz="1600" b="1" dirty="0"/>
                <a:t>Ramberg-Osgood</a:t>
              </a:r>
            </a:p>
            <a:p>
              <a:r>
                <a:rPr lang="en-US" sz="1400" b="0" i="0">
                  <a:latin typeface="Cambria Math" panose="02040503050406030204" pitchFamily="18" charset="0"/>
                  <a:ea typeface="Cambria Math" panose="02040503050406030204" pitchFamily="18" charset="0"/>
                </a:rPr>
                <a:t>𝜀=𝜎/𝐸+(0.0094) (𝜎/1051.95)^43.0252</a:t>
              </a:r>
              <a:r>
                <a:rPr lang="en-US" sz="1600" dirty="0"/>
                <a:t> </a:t>
              </a:r>
            </a:p>
          </dgm:t>
        </dgm:pt>
      </mc:Fallback>
    </mc:AlternateContent>
    <dgm:pt modelId="{CA8813B3-7603-49E0-8BC5-C6D15C4829FF}" type="parTrans" cxnId="{2CF8CD56-0D62-4C58-BE28-EF9C844524B5}">
      <dgm:prSet/>
      <dgm:spPr/>
      <dgm:t>
        <a:bodyPr/>
        <a:lstStyle/>
        <a:p>
          <a:endParaRPr lang="en-US"/>
        </a:p>
      </dgm:t>
    </dgm:pt>
    <dgm:pt modelId="{86675396-33C2-4CCC-89A1-0AE6C7644A47}" type="sibTrans" cxnId="{2CF8CD56-0D62-4C58-BE28-EF9C844524B5}">
      <dgm:prSet/>
      <dgm:spPr/>
      <dgm:t>
        <a:bodyPr/>
        <a:lstStyle/>
        <a:p>
          <a:endParaRPr lang="en-US"/>
        </a:p>
      </dgm:t>
    </dgm:pt>
    <dgm:pt modelId="{6064052E-02E3-4E24-BCF3-3665693B95BC}" type="pres">
      <dgm:prSet presAssocID="{25151EA1-5653-425E-BA8B-7E92BDFDCE62}" presName="diagram" presStyleCnt="0">
        <dgm:presLayoutVars>
          <dgm:dir/>
          <dgm:resizeHandles val="exact"/>
        </dgm:presLayoutVars>
      </dgm:prSet>
      <dgm:spPr/>
    </dgm:pt>
    <dgm:pt modelId="{F2880FF1-7183-4509-AD33-878E01E5BF07}" type="pres">
      <dgm:prSet presAssocID="{B94328E3-82C8-4C99-AEEA-64CF17DBAFA0}" presName="node" presStyleLbl="node1" presStyleIdx="0" presStyleCnt="6" custScaleY="56512" custLinFactNeighborX="-9544" custLinFactNeighborY="14249">
        <dgm:presLayoutVars>
          <dgm:bulletEnabled val="1"/>
        </dgm:presLayoutVars>
      </dgm:prSet>
      <dgm:spPr/>
    </dgm:pt>
    <dgm:pt modelId="{47E82B5F-EA84-4F6D-B03F-529893F773CF}" type="pres">
      <dgm:prSet presAssocID="{E1023600-DCEC-4F17-B802-D447A98F0ABD}" presName="sibTrans" presStyleCnt="0"/>
      <dgm:spPr/>
    </dgm:pt>
    <dgm:pt modelId="{58A8BF23-98DB-4D99-90DF-D2CA5B303F8A}" type="pres">
      <dgm:prSet presAssocID="{10F2C5CD-A48B-4FBE-903B-C70FACD4BDCE}" presName="node" presStyleLbl="node1" presStyleIdx="1" presStyleCnt="6" custScaleY="52982" custLinFactNeighborX="343" custLinFactNeighborY="14872">
        <dgm:presLayoutVars>
          <dgm:bulletEnabled val="1"/>
        </dgm:presLayoutVars>
      </dgm:prSet>
      <dgm:spPr/>
    </dgm:pt>
    <dgm:pt modelId="{8880DE87-5840-4CC6-9E32-35145DC11E2E}" type="pres">
      <dgm:prSet presAssocID="{FFC47046-BC01-42C9-9FEA-F524F61D4F2F}" presName="sibTrans" presStyleCnt="0"/>
      <dgm:spPr/>
    </dgm:pt>
    <dgm:pt modelId="{20F54814-8C60-42F2-8B24-EF6058209949}" type="pres">
      <dgm:prSet presAssocID="{B7B00137-B253-4FFE-A89B-E3D545CE3EE0}" presName="node" presStyleLbl="node1" presStyleIdx="2" presStyleCnt="6" custScaleX="136477" custScaleY="60597" custLinFactNeighborX="1637" custLinFactNeighborY="11110">
        <dgm:presLayoutVars>
          <dgm:bulletEnabled val="1"/>
        </dgm:presLayoutVars>
      </dgm:prSet>
      <dgm:spPr/>
    </dgm:pt>
    <dgm:pt modelId="{80CA3DD6-A75D-4B78-9D4D-404CD9344B18}" type="pres">
      <dgm:prSet presAssocID="{99D195FF-406C-482E-A180-878D8B48F182}" presName="sibTrans" presStyleCnt="0"/>
      <dgm:spPr/>
    </dgm:pt>
    <dgm:pt modelId="{963604E8-5BF1-4F53-8E10-29DE6E8FDDDA}" type="pres">
      <dgm:prSet presAssocID="{E4DCAB28-C6A6-4707-A6C9-AE8A6D154A61}" presName="node" presStyleLbl="node1" presStyleIdx="3" presStyleCnt="6" custScaleX="176767" custScaleY="60463" custLinFactNeighborX="1185" custLinFactNeighborY="6211">
        <dgm:presLayoutVars>
          <dgm:bulletEnabled val="1"/>
        </dgm:presLayoutVars>
      </dgm:prSet>
      <dgm:spPr/>
    </dgm:pt>
    <dgm:pt modelId="{15965C8A-2BE4-4252-9E7B-67FC9E1E6B4F}" type="pres">
      <dgm:prSet presAssocID="{E563C6FA-4F02-44F9-8451-C4E5984301E7}" presName="sibTrans" presStyleCnt="0"/>
      <dgm:spPr/>
    </dgm:pt>
    <dgm:pt modelId="{4E868557-5804-428F-B65D-DED5AC901B99}" type="pres">
      <dgm:prSet presAssocID="{3A25D1FA-6E71-4794-B706-E6500B143B8E}" presName="node" presStyleLbl="node1" presStyleIdx="4" presStyleCnt="6" custScaleX="197041" custScaleY="55174" custLinFactNeighborX="3222" custLinFactNeighborY="508">
        <dgm:presLayoutVars>
          <dgm:bulletEnabled val="1"/>
        </dgm:presLayoutVars>
      </dgm:prSet>
      <dgm:spPr/>
    </dgm:pt>
    <dgm:pt modelId="{E752072A-B5A6-4253-BB1B-886C4CB60FC9}" type="pres">
      <dgm:prSet presAssocID="{3B7F8816-0DC4-4DEF-846F-387F06F2FA76}" presName="sibTrans" presStyleCnt="0"/>
      <dgm:spPr/>
    </dgm:pt>
    <dgm:pt modelId="{5894A9E5-5D72-4B78-BF22-13CF884C18D4}" type="pres">
      <dgm:prSet presAssocID="{E4E4BE15-04E6-40E7-8D28-6F29C15E0976}" presName="node" presStyleLbl="node1" presStyleIdx="5" presStyleCnt="6" custScaleX="158677" custScaleY="55382" custLinFactNeighborX="2754" custLinFactNeighborY="-4757">
        <dgm:presLayoutVars>
          <dgm:bulletEnabled val="1"/>
        </dgm:presLayoutVars>
      </dgm:prSet>
      <dgm:spPr/>
    </dgm:pt>
  </dgm:ptLst>
  <dgm:cxnLst>
    <dgm:cxn modelId="{94FF700E-7EF6-4390-8C0E-D6076EAA2443}" srcId="{25151EA1-5653-425E-BA8B-7E92BDFDCE62}" destId="{B94328E3-82C8-4C99-AEEA-64CF17DBAFA0}" srcOrd="0" destOrd="0" parTransId="{34281A2C-9A90-4551-8653-F66B00883ACF}" sibTransId="{E1023600-DCEC-4F17-B802-D447A98F0ABD}"/>
    <dgm:cxn modelId="{C300B35C-6107-41B1-A0F1-7CEDA37F8CEB}" type="presOf" srcId="{10F2C5CD-A48B-4FBE-903B-C70FACD4BDCE}" destId="{58A8BF23-98DB-4D99-90DF-D2CA5B303F8A}" srcOrd="0" destOrd="0" presId="urn:microsoft.com/office/officeart/2005/8/layout/default"/>
    <dgm:cxn modelId="{267AFF63-76CC-4988-8E48-4C0ACA0976A5}" type="presOf" srcId="{E4DCAB28-C6A6-4707-A6C9-AE8A6D154A61}" destId="{963604E8-5BF1-4F53-8E10-29DE6E8FDDDA}" srcOrd="0" destOrd="0" presId="urn:microsoft.com/office/officeart/2005/8/layout/default"/>
    <dgm:cxn modelId="{019F4F66-6DB2-462F-8AFA-F7B194EA6876}" type="presOf" srcId="{3A25D1FA-6E71-4794-B706-E6500B143B8E}" destId="{4E868557-5804-428F-B65D-DED5AC901B99}" srcOrd="0" destOrd="0" presId="urn:microsoft.com/office/officeart/2005/8/layout/default"/>
    <dgm:cxn modelId="{A9E5046A-E93D-499B-A655-CC3CC3D66ACA}" srcId="{25151EA1-5653-425E-BA8B-7E92BDFDCE62}" destId="{B7B00137-B253-4FFE-A89B-E3D545CE3EE0}" srcOrd="2" destOrd="0" parTransId="{569D5C21-1039-4175-BA6A-A216E2CA12B8}" sibTransId="{99D195FF-406C-482E-A180-878D8B48F182}"/>
    <dgm:cxn modelId="{2CF8CD56-0D62-4C58-BE28-EF9C844524B5}" srcId="{25151EA1-5653-425E-BA8B-7E92BDFDCE62}" destId="{E4E4BE15-04E6-40E7-8D28-6F29C15E0976}" srcOrd="5" destOrd="0" parTransId="{CA8813B3-7603-49E0-8BC5-C6D15C4829FF}" sibTransId="{86675396-33C2-4CCC-89A1-0AE6C7644A47}"/>
    <dgm:cxn modelId="{6698E35A-6687-4CCD-A1F0-DCBF651B5AE1}" type="presOf" srcId="{B7B00137-B253-4FFE-A89B-E3D545CE3EE0}" destId="{20F54814-8C60-42F2-8B24-EF6058209949}" srcOrd="0" destOrd="0" presId="urn:microsoft.com/office/officeart/2005/8/layout/default"/>
    <dgm:cxn modelId="{26FBCA91-441E-4D16-8D3A-7C8A5F7623EE}" type="presOf" srcId="{B94328E3-82C8-4C99-AEEA-64CF17DBAFA0}" destId="{F2880FF1-7183-4509-AD33-878E01E5BF07}" srcOrd="0" destOrd="0" presId="urn:microsoft.com/office/officeart/2005/8/layout/default"/>
    <dgm:cxn modelId="{C114E995-58D3-421B-8325-871A4EC30FBC}" type="presOf" srcId="{25151EA1-5653-425E-BA8B-7E92BDFDCE62}" destId="{6064052E-02E3-4E24-BCF3-3665693B95BC}" srcOrd="0" destOrd="0" presId="urn:microsoft.com/office/officeart/2005/8/layout/default"/>
    <dgm:cxn modelId="{0DF9E1AB-F741-45FD-B347-AA0C2B3BC1AA}" srcId="{25151EA1-5653-425E-BA8B-7E92BDFDCE62}" destId="{E4DCAB28-C6A6-4707-A6C9-AE8A6D154A61}" srcOrd="3" destOrd="0" parTransId="{41C5AE5A-839C-425D-B430-92CD5E7280C1}" sibTransId="{E563C6FA-4F02-44F9-8451-C4E5984301E7}"/>
    <dgm:cxn modelId="{35A89BB0-819A-4F67-BA07-CFCDA5194B01}" type="presOf" srcId="{E4E4BE15-04E6-40E7-8D28-6F29C15E0976}" destId="{5894A9E5-5D72-4B78-BF22-13CF884C18D4}" srcOrd="0" destOrd="0" presId="urn:microsoft.com/office/officeart/2005/8/layout/default"/>
    <dgm:cxn modelId="{85AFC6B9-BE4E-4F78-8A6E-9AFB39B960F1}" srcId="{25151EA1-5653-425E-BA8B-7E92BDFDCE62}" destId="{10F2C5CD-A48B-4FBE-903B-C70FACD4BDCE}" srcOrd="1" destOrd="0" parTransId="{39635369-87C9-44AB-B70A-AF4D9F77C05F}" sibTransId="{FFC47046-BC01-42C9-9FEA-F524F61D4F2F}"/>
    <dgm:cxn modelId="{F052E4DC-490B-4D30-8F0E-1BF9E79D0C90}" srcId="{25151EA1-5653-425E-BA8B-7E92BDFDCE62}" destId="{3A25D1FA-6E71-4794-B706-E6500B143B8E}" srcOrd="4" destOrd="0" parTransId="{CAD2554D-EBC1-4FB8-AC16-CCE5BA533828}" sibTransId="{3B7F8816-0DC4-4DEF-846F-387F06F2FA76}"/>
    <dgm:cxn modelId="{7B054DFE-D495-486C-9B66-29B36B30A8B7}" type="presParOf" srcId="{6064052E-02E3-4E24-BCF3-3665693B95BC}" destId="{F2880FF1-7183-4509-AD33-878E01E5BF07}" srcOrd="0" destOrd="0" presId="urn:microsoft.com/office/officeart/2005/8/layout/default"/>
    <dgm:cxn modelId="{44B232B7-539A-4951-A401-C247F6B61296}" type="presParOf" srcId="{6064052E-02E3-4E24-BCF3-3665693B95BC}" destId="{47E82B5F-EA84-4F6D-B03F-529893F773CF}" srcOrd="1" destOrd="0" presId="urn:microsoft.com/office/officeart/2005/8/layout/default"/>
    <dgm:cxn modelId="{705EE21B-5346-4D0B-B99B-AF1ED2DE36F1}" type="presParOf" srcId="{6064052E-02E3-4E24-BCF3-3665693B95BC}" destId="{58A8BF23-98DB-4D99-90DF-D2CA5B303F8A}" srcOrd="2" destOrd="0" presId="urn:microsoft.com/office/officeart/2005/8/layout/default"/>
    <dgm:cxn modelId="{DC6C99A2-B445-45BA-A4E2-775D8EEDA51D}" type="presParOf" srcId="{6064052E-02E3-4E24-BCF3-3665693B95BC}" destId="{8880DE87-5840-4CC6-9E32-35145DC11E2E}" srcOrd="3" destOrd="0" presId="urn:microsoft.com/office/officeart/2005/8/layout/default"/>
    <dgm:cxn modelId="{03DC77BF-A7F2-465F-B6B1-FB632B6DD618}" type="presParOf" srcId="{6064052E-02E3-4E24-BCF3-3665693B95BC}" destId="{20F54814-8C60-42F2-8B24-EF6058209949}" srcOrd="4" destOrd="0" presId="urn:microsoft.com/office/officeart/2005/8/layout/default"/>
    <dgm:cxn modelId="{5B311D4B-F061-4607-8EE7-9F59B5B594CF}" type="presParOf" srcId="{6064052E-02E3-4E24-BCF3-3665693B95BC}" destId="{80CA3DD6-A75D-4B78-9D4D-404CD9344B18}" srcOrd="5" destOrd="0" presId="urn:microsoft.com/office/officeart/2005/8/layout/default"/>
    <dgm:cxn modelId="{E07B4BC7-10E4-4D22-921F-C82285CC715C}" type="presParOf" srcId="{6064052E-02E3-4E24-BCF3-3665693B95BC}" destId="{963604E8-5BF1-4F53-8E10-29DE6E8FDDDA}" srcOrd="6" destOrd="0" presId="urn:microsoft.com/office/officeart/2005/8/layout/default"/>
    <dgm:cxn modelId="{E847B438-FAD2-4092-9391-AF3F25DE2179}" type="presParOf" srcId="{6064052E-02E3-4E24-BCF3-3665693B95BC}" destId="{15965C8A-2BE4-4252-9E7B-67FC9E1E6B4F}" srcOrd="7" destOrd="0" presId="urn:microsoft.com/office/officeart/2005/8/layout/default"/>
    <dgm:cxn modelId="{6EBBDE86-E49A-44A1-8BB6-0BEBB9180906}" type="presParOf" srcId="{6064052E-02E3-4E24-BCF3-3665693B95BC}" destId="{4E868557-5804-428F-B65D-DED5AC901B99}" srcOrd="8" destOrd="0" presId="urn:microsoft.com/office/officeart/2005/8/layout/default"/>
    <dgm:cxn modelId="{6AD4384A-C265-4BE2-946B-C318C71307EA}" type="presParOf" srcId="{6064052E-02E3-4E24-BCF3-3665693B95BC}" destId="{E752072A-B5A6-4253-BB1B-886C4CB60FC9}" srcOrd="9" destOrd="0" presId="urn:microsoft.com/office/officeart/2005/8/layout/default"/>
    <dgm:cxn modelId="{62F5F6DE-DC27-42D4-B444-CD43FEF786BE}" type="presParOf" srcId="{6064052E-02E3-4E24-BCF3-3665693B95BC}" destId="{5894A9E5-5D72-4B78-BF22-13CF884C18D4}" srcOrd="10" destOrd="0" presId="urn:microsoft.com/office/officeart/2005/8/layout/default"/>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B0A6524-2C3A-4F92-AED2-C2A45E6D7F26}"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E601200-51B7-44B7-8768-63A9F41438F4}">
      <dgm:prSet custT="1"/>
      <dgm:spPr>
        <a:effectLst>
          <a:outerShdw blurRad="63500" sx="102000" sy="102000" algn="ctr" rotWithShape="0">
            <a:prstClr val="black">
              <a:alpha val="40000"/>
            </a:prstClr>
          </a:outerShdw>
        </a:effectLst>
      </dgm:spPr>
      <dgm:t>
        <a:bodyPr/>
        <a:lstStyle/>
        <a:p>
          <a:r>
            <a:rPr lang="en-US" sz="2400" b="1" i="0" baseline="0">
              <a:effectLst>
                <a:outerShdw blurRad="38100" dist="38100" dir="2700000" algn="tl">
                  <a:srgbClr val="000000">
                    <a:alpha val="43137"/>
                  </a:srgbClr>
                </a:outerShdw>
              </a:effectLst>
            </a:rPr>
            <a:t>Limitations of Simple Empirical Models</a:t>
          </a:r>
          <a:endParaRPr lang="en-US" sz="2400" dirty="0">
            <a:effectLst>
              <a:outerShdw blurRad="38100" dist="38100" dir="2700000" algn="tl">
                <a:srgbClr val="000000">
                  <a:alpha val="43137"/>
                </a:srgbClr>
              </a:outerShdw>
            </a:effectLst>
          </a:endParaRPr>
        </a:p>
      </dgm:t>
    </dgm:pt>
    <dgm:pt modelId="{D7C0B219-5F82-4B85-A6F2-B33C9991FDBF}" type="parTrans" cxnId="{BD5B1F08-080E-4DF7-9AFF-ABD9E22202FD}">
      <dgm:prSet/>
      <dgm:spPr/>
      <dgm:t>
        <a:bodyPr/>
        <a:lstStyle/>
        <a:p>
          <a:endParaRPr lang="en-US"/>
        </a:p>
      </dgm:t>
    </dgm:pt>
    <dgm:pt modelId="{5F9FA230-940A-4552-85E6-B7C3DA0EF933}" type="sibTrans" cxnId="{BD5B1F08-080E-4DF7-9AFF-ABD9E22202FD}">
      <dgm:prSet/>
      <dgm:spPr/>
      <dgm:t>
        <a:bodyPr/>
        <a:lstStyle/>
        <a:p>
          <a:endParaRPr lang="en-US"/>
        </a:p>
      </dgm:t>
    </dgm:pt>
    <dgm:pt modelId="{639319FB-BD7E-452A-9565-6375940475FE}">
      <dgm:prSet custT="1">
        <dgm:style>
          <a:lnRef idx="0">
            <a:scrgbClr r="0" g="0" b="0"/>
          </a:lnRef>
          <a:fillRef idx="0">
            <a:scrgbClr r="0" g="0" b="0"/>
          </a:fillRef>
          <a:effectRef idx="0">
            <a:scrgbClr r="0" g="0" b="0"/>
          </a:effectRef>
          <a:fontRef idx="minor">
            <a:schemeClr val="dk1"/>
          </a:fontRef>
        </dgm:style>
      </dgm:prSet>
      <dgm:spPr>
        <a:noFill/>
        <a:ln>
          <a:noFill/>
        </a:ln>
      </dgm:spPr>
      <dgm:t>
        <a:bodyPr/>
        <a:lstStyle/>
        <a:p>
          <a:pPr>
            <a:lnSpc>
              <a:spcPct val="150000"/>
            </a:lnSpc>
          </a:pPr>
          <a:r>
            <a:rPr lang="en-US" sz="1600" b="0" i="0" baseline="0" dirty="0">
              <a:effectLst/>
            </a:rPr>
            <a:t>No memory effects</a:t>
          </a:r>
          <a:endParaRPr lang="en-US" sz="1600" dirty="0">
            <a:effectLst/>
          </a:endParaRPr>
        </a:p>
      </dgm:t>
    </dgm:pt>
    <dgm:pt modelId="{F9D5880D-547C-4BBE-AF34-F5F81EEA48F3}" type="parTrans" cxnId="{1817366E-A85C-4EFE-97A8-5A12B8A545E9}">
      <dgm:prSet/>
      <dgm:spPr/>
      <dgm:t>
        <a:bodyPr/>
        <a:lstStyle/>
        <a:p>
          <a:endParaRPr lang="en-US"/>
        </a:p>
      </dgm:t>
    </dgm:pt>
    <dgm:pt modelId="{B5D2F4E4-586C-4ABA-9B51-044EFD56E33C}" type="sibTrans" cxnId="{1817366E-A85C-4EFE-97A8-5A12B8A545E9}">
      <dgm:prSet/>
      <dgm:spPr/>
      <dgm:t>
        <a:bodyPr/>
        <a:lstStyle/>
        <a:p>
          <a:endParaRPr lang="en-US"/>
        </a:p>
      </dgm:t>
    </dgm:pt>
    <dgm:pt modelId="{D70B9DED-3044-44B0-B359-763C10590A5A}">
      <dgm:prSet custT="1">
        <dgm:style>
          <a:lnRef idx="0">
            <a:scrgbClr r="0" g="0" b="0"/>
          </a:lnRef>
          <a:fillRef idx="0">
            <a:scrgbClr r="0" g="0" b="0"/>
          </a:fillRef>
          <a:effectRef idx="0">
            <a:scrgbClr r="0" g="0" b="0"/>
          </a:effectRef>
          <a:fontRef idx="minor">
            <a:schemeClr val="dk1"/>
          </a:fontRef>
        </dgm:style>
      </dgm:prSet>
      <dgm:spPr>
        <a:noFill/>
        <a:ln>
          <a:noFill/>
        </a:ln>
      </dgm:spPr>
      <dgm:t>
        <a:bodyPr/>
        <a:lstStyle/>
        <a:p>
          <a:pPr>
            <a:lnSpc>
              <a:spcPct val="150000"/>
            </a:lnSpc>
          </a:pPr>
          <a:r>
            <a:rPr lang="en-US" sz="1600" b="0" i="0" baseline="0" dirty="0">
              <a:effectLst/>
            </a:rPr>
            <a:t>No cyclic behavior</a:t>
          </a:r>
          <a:endParaRPr lang="en-US" sz="1600" dirty="0">
            <a:effectLst/>
          </a:endParaRPr>
        </a:p>
      </dgm:t>
    </dgm:pt>
    <dgm:pt modelId="{C807DABC-389B-4AD6-8D8E-DABFBCAA18D2}" type="parTrans" cxnId="{4FEFEF79-E434-4B7C-B42D-5109FD9E151A}">
      <dgm:prSet/>
      <dgm:spPr/>
      <dgm:t>
        <a:bodyPr/>
        <a:lstStyle/>
        <a:p>
          <a:endParaRPr lang="en-US"/>
        </a:p>
      </dgm:t>
    </dgm:pt>
    <dgm:pt modelId="{5D0B1A09-CADC-41F8-95C5-B7BBF7F88441}" type="sibTrans" cxnId="{4FEFEF79-E434-4B7C-B42D-5109FD9E151A}">
      <dgm:prSet/>
      <dgm:spPr/>
      <dgm:t>
        <a:bodyPr/>
        <a:lstStyle/>
        <a:p>
          <a:endParaRPr lang="en-US"/>
        </a:p>
      </dgm:t>
    </dgm:pt>
    <dgm:pt modelId="{5CEB6D7D-A690-4B9A-AEDB-3DDADD41EE13}">
      <dgm:prSet custT="1">
        <dgm:style>
          <a:lnRef idx="0">
            <a:scrgbClr r="0" g="0" b="0"/>
          </a:lnRef>
          <a:fillRef idx="0">
            <a:scrgbClr r="0" g="0" b="0"/>
          </a:fillRef>
          <a:effectRef idx="0">
            <a:scrgbClr r="0" g="0" b="0"/>
          </a:effectRef>
          <a:fontRef idx="minor">
            <a:schemeClr val="dk1"/>
          </a:fontRef>
        </dgm:style>
      </dgm:prSet>
      <dgm:spPr>
        <a:noFill/>
        <a:ln>
          <a:noFill/>
        </a:ln>
      </dgm:spPr>
      <dgm:t>
        <a:bodyPr/>
        <a:lstStyle/>
        <a:p>
          <a:pPr>
            <a:lnSpc>
              <a:spcPct val="150000"/>
            </a:lnSpc>
          </a:pPr>
          <a:r>
            <a:rPr lang="en-US" sz="1600" b="0" i="0" baseline="0" dirty="0">
              <a:effectLst/>
            </a:rPr>
            <a:t>Cannot simulate ratcheting or </a:t>
          </a:r>
          <a:r>
            <a:rPr lang="en-US" sz="1600" b="0" i="0" baseline="0" dirty="0" err="1">
              <a:effectLst/>
            </a:rPr>
            <a:t>springback</a:t>
          </a:r>
          <a:endParaRPr lang="en-US" sz="1600" dirty="0">
            <a:effectLst/>
          </a:endParaRPr>
        </a:p>
      </dgm:t>
    </dgm:pt>
    <dgm:pt modelId="{7715AEF0-F2C9-4DD4-8423-761FADAE74C5}" type="parTrans" cxnId="{2EDF5605-5F12-42E6-B1A2-2172CDDA40E6}">
      <dgm:prSet/>
      <dgm:spPr/>
      <dgm:t>
        <a:bodyPr/>
        <a:lstStyle/>
        <a:p>
          <a:endParaRPr lang="en-US"/>
        </a:p>
      </dgm:t>
    </dgm:pt>
    <dgm:pt modelId="{5BE516F3-7895-42F8-B838-0459FB82936B}" type="sibTrans" cxnId="{2EDF5605-5F12-42E6-B1A2-2172CDDA40E6}">
      <dgm:prSet/>
      <dgm:spPr/>
      <dgm:t>
        <a:bodyPr/>
        <a:lstStyle/>
        <a:p>
          <a:endParaRPr lang="en-US"/>
        </a:p>
      </dgm:t>
    </dgm:pt>
    <dgm:pt modelId="{72CA22C9-FC93-4AFE-A3D3-F434C44D8BC0}">
      <dgm:prSet>
        <dgm:style>
          <a:lnRef idx="0">
            <a:scrgbClr r="0" g="0" b="0"/>
          </a:lnRef>
          <a:fillRef idx="0">
            <a:scrgbClr r="0" g="0" b="0"/>
          </a:fillRef>
          <a:effectRef idx="0">
            <a:scrgbClr r="0" g="0" b="0"/>
          </a:effectRef>
          <a:fontRef idx="minor">
            <a:schemeClr val="dk1"/>
          </a:fontRef>
        </dgm:style>
      </dgm:prSet>
      <dgm:spPr>
        <a:noFill/>
        <a:ln>
          <a:noFill/>
        </a:ln>
      </dgm:spPr>
      <dgm:t>
        <a:bodyPr/>
        <a:lstStyle/>
        <a:p>
          <a:pPr>
            <a:lnSpc>
              <a:spcPct val="90000"/>
            </a:lnSpc>
          </a:pPr>
          <a:endParaRPr lang="en-US" sz="1300" dirty="0">
            <a:effectLst/>
          </a:endParaRPr>
        </a:p>
      </dgm:t>
    </dgm:pt>
    <dgm:pt modelId="{B88AC544-663E-4039-AC23-33B9FB5E4EF0}" type="parTrans" cxnId="{EC4EA28D-118A-4309-B613-35FAE73993FA}">
      <dgm:prSet/>
      <dgm:spPr/>
      <dgm:t>
        <a:bodyPr/>
        <a:lstStyle/>
        <a:p>
          <a:endParaRPr lang="en-US"/>
        </a:p>
      </dgm:t>
    </dgm:pt>
    <dgm:pt modelId="{F04AA212-942A-4680-8BB7-439E981EF6B5}" type="sibTrans" cxnId="{EC4EA28D-118A-4309-B613-35FAE73993FA}">
      <dgm:prSet/>
      <dgm:spPr/>
      <dgm:t>
        <a:bodyPr/>
        <a:lstStyle/>
        <a:p>
          <a:endParaRPr lang="en-US"/>
        </a:p>
      </dgm:t>
    </dgm:pt>
    <dgm:pt modelId="{E93BF31E-3E51-49A8-930B-88D574DFDADC}" type="pres">
      <dgm:prSet presAssocID="{BB0A6524-2C3A-4F92-AED2-C2A45E6D7F26}" presName="linear" presStyleCnt="0">
        <dgm:presLayoutVars>
          <dgm:animLvl val="lvl"/>
          <dgm:resizeHandles val="exact"/>
        </dgm:presLayoutVars>
      </dgm:prSet>
      <dgm:spPr/>
    </dgm:pt>
    <dgm:pt modelId="{6A076A92-BA46-441A-9162-D3AC31880DAB}" type="pres">
      <dgm:prSet presAssocID="{7E601200-51B7-44B7-8768-63A9F41438F4}" presName="parentText" presStyleLbl="node1" presStyleIdx="0" presStyleCnt="1" custScaleY="197754" custLinFactNeighborX="-84" custLinFactNeighborY="-12867">
        <dgm:presLayoutVars>
          <dgm:chMax val="0"/>
          <dgm:bulletEnabled val="1"/>
        </dgm:presLayoutVars>
      </dgm:prSet>
      <dgm:spPr/>
    </dgm:pt>
    <dgm:pt modelId="{94960AE2-C52B-4B2B-809F-765A6D15B322}" type="pres">
      <dgm:prSet presAssocID="{7E601200-51B7-44B7-8768-63A9F41438F4}" presName="childText" presStyleLbl="revTx" presStyleIdx="0" presStyleCnt="1" custScaleY="142462" custLinFactNeighborX="168" custLinFactNeighborY="93827">
        <dgm:presLayoutVars>
          <dgm:bulletEnabled val="1"/>
        </dgm:presLayoutVars>
      </dgm:prSet>
      <dgm:spPr/>
    </dgm:pt>
  </dgm:ptLst>
  <dgm:cxnLst>
    <dgm:cxn modelId="{2EDF5605-5F12-42E6-B1A2-2172CDDA40E6}" srcId="{7E601200-51B7-44B7-8768-63A9F41438F4}" destId="{5CEB6D7D-A690-4B9A-AEDB-3DDADD41EE13}" srcOrd="3" destOrd="0" parTransId="{7715AEF0-F2C9-4DD4-8423-761FADAE74C5}" sibTransId="{5BE516F3-7895-42F8-B838-0459FB82936B}"/>
    <dgm:cxn modelId="{BD5B1F08-080E-4DF7-9AFF-ABD9E22202FD}" srcId="{BB0A6524-2C3A-4F92-AED2-C2A45E6D7F26}" destId="{7E601200-51B7-44B7-8768-63A9F41438F4}" srcOrd="0" destOrd="0" parTransId="{D7C0B219-5F82-4B85-A6F2-B33C9991FDBF}" sibTransId="{5F9FA230-940A-4552-85E6-B7C3DA0EF933}"/>
    <dgm:cxn modelId="{78C3EF29-5896-4BC4-AAC0-C471F6172FBE}" type="presOf" srcId="{72CA22C9-FC93-4AFE-A3D3-F434C44D8BC0}" destId="{94960AE2-C52B-4B2B-809F-765A6D15B322}" srcOrd="0" destOrd="0" presId="urn:microsoft.com/office/officeart/2005/8/layout/vList2"/>
    <dgm:cxn modelId="{C6FC342A-3DFB-4CCF-873B-36BEBA3B72CE}" type="presOf" srcId="{D70B9DED-3044-44B0-B359-763C10590A5A}" destId="{94960AE2-C52B-4B2B-809F-765A6D15B322}" srcOrd="0" destOrd="2" presId="urn:microsoft.com/office/officeart/2005/8/layout/vList2"/>
    <dgm:cxn modelId="{9897EF31-9AF2-4F64-B612-5FF274498603}" type="presOf" srcId="{BB0A6524-2C3A-4F92-AED2-C2A45E6D7F26}" destId="{E93BF31E-3E51-49A8-930B-88D574DFDADC}" srcOrd="0" destOrd="0" presId="urn:microsoft.com/office/officeart/2005/8/layout/vList2"/>
    <dgm:cxn modelId="{AB19BD5C-C55C-49F0-B8AB-0AE9FC73D1B8}" type="presOf" srcId="{7E601200-51B7-44B7-8768-63A9F41438F4}" destId="{6A076A92-BA46-441A-9162-D3AC31880DAB}" srcOrd="0" destOrd="0" presId="urn:microsoft.com/office/officeart/2005/8/layout/vList2"/>
    <dgm:cxn modelId="{1817366E-A85C-4EFE-97A8-5A12B8A545E9}" srcId="{7E601200-51B7-44B7-8768-63A9F41438F4}" destId="{639319FB-BD7E-452A-9565-6375940475FE}" srcOrd="1" destOrd="0" parTransId="{F9D5880D-547C-4BBE-AF34-F5F81EEA48F3}" sibTransId="{B5D2F4E4-586C-4ABA-9B51-044EFD56E33C}"/>
    <dgm:cxn modelId="{F7E8D953-B8A2-48ED-9AAF-F06C0068CAF5}" type="presOf" srcId="{5CEB6D7D-A690-4B9A-AEDB-3DDADD41EE13}" destId="{94960AE2-C52B-4B2B-809F-765A6D15B322}" srcOrd="0" destOrd="3" presId="urn:microsoft.com/office/officeart/2005/8/layout/vList2"/>
    <dgm:cxn modelId="{4FEFEF79-E434-4B7C-B42D-5109FD9E151A}" srcId="{7E601200-51B7-44B7-8768-63A9F41438F4}" destId="{D70B9DED-3044-44B0-B359-763C10590A5A}" srcOrd="2" destOrd="0" parTransId="{C807DABC-389B-4AD6-8D8E-DABFBCAA18D2}" sibTransId="{5D0B1A09-CADC-41F8-95C5-B7BBF7F88441}"/>
    <dgm:cxn modelId="{EC4EA28D-118A-4309-B613-35FAE73993FA}" srcId="{7E601200-51B7-44B7-8768-63A9F41438F4}" destId="{72CA22C9-FC93-4AFE-A3D3-F434C44D8BC0}" srcOrd="0" destOrd="0" parTransId="{B88AC544-663E-4039-AC23-33B9FB5E4EF0}" sibTransId="{F04AA212-942A-4680-8BB7-439E981EF6B5}"/>
    <dgm:cxn modelId="{0F33B5AC-7B3E-450E-BF84-2B9F3C8E8810}" type="presOf" srcId="{639319FB-BD7E-452A-9565-6375940475FE}" destId="{94960AE2-C52B-4B2B-809F-765A6D15B322}" srcOrd="0" destOrd="1" presId="urn:microsoft.com/office/officeart/2005/8/layout/vList2"/>
    <dgm:cxn modelId="{F8DD92D7-A202-4BE9-B28C-A3FB1D75B859}" type="presParOf" srcId="{E93BF31E-3E51-49A8-930B-88D574DFDADC}" destId="{6A076A92-BA46-441A-9162-D3AC31880DAB}" srcOrd="0" destOrd="0" presId="urn:microsoft.com/office/officeart/2005/8/layout/vList2"/>
    <dgm:cxn modelId="{DEDEDD96-77E1-4FC2-ACAA-EE280C83882D}" type="presParOf" srcId="{E93BF31E-3E51-49A8-930B-88D574DFDADC}" destId="{94960AE2-C52B-4B2B-809F-765A6D15B32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5151EA1-5653-425E-BA8B-7E92BDFDCE62}" type="doc">
      <dgm:prSet loTypeId="urn:microsoft.com/office/officeart/2005/8/layout/default" loCatId="list" qsTypeId="urn:microsoft.com/office/officeart/2005/8/quickstyle/simple5" qsCatId="simple" csTypeId="urn:microsoft.com/office/officeart/2005/8/colors/accent1_1" csCatId="accent1" phldr="1"/>
      <dgm:spPr/>
      <dgm:t>
        <a:bodyPr/>
        <a:lstStyle/>
        <a:p>
          <a:endParaRPr lang="en-US"/>
        </a:p>
      </dgm:t>
    </dgm:pt>
    <dgm:pt modelId="{B94328E3-82C8-4C99-AEEA-64CF17DBAFA0}">
      <dgm:prSet custT="1"/>
      <dgm:spPr>
        <a:blipFill>
          <a:blip xmlns:r="http://schemas.openxmlformats.org/officeDocument/2006/relationships" r:embed="rId1"/>
          <a:stretch>
            <a:fillRect/>
          </a:stretch>
        </a:blipFill>
      </dgm:spPr>
      <dgm:t>
        <a:bodyPr/>
        <a:lstStyle/>
        <a:p>
          <a:r>
            <a:rPr lang="en-US">
              <a:noFill/>
            </a:rPr>
            <a:t> </a:t>
          </a:r>
        </a:p>
      </dgm:t>
    </dgm:pt>
    <dgm:pt modelId="{34281A2C-9A90-4551-8653-F66B00883ACF}" type="parTrans" cxnId="{94FF700E-7EF6-4390-8C0E-D6076EAA2443}">
      <dgm:prSet/>
      <dgm:spPr/>
      <dgm:t>
        <a:bodyPr/>
        <a:lstStyle/>
        <a:p>
          <a:endParaRPr lang="en-US"/>
        </a:p>
      </dgm:t>
    </dgm:pt>
    <dgm:pt modelId="{E1023600-DCEC-4F17-B802-D447A98F0ABD}" type="sibTrans" cxnId="{94FF700E-7EF6-4390-8C0E-D6076EAA2443}">
      <dgm:prSet/>
      <dgm:spPr/>
      <dgm:t>
        <a:bodyPr/>
        <a:lstStyle/>
        <a:p>
          <a:endParaRPr lang="en-US"/>
        </a:p>
      </dgm:t>
    </dgm:pt>
    <dgm:pt modelId="{10F2C5CD-A48B-4FBE-903B-C70FACD4BDCE}">
      <dgm:prSet custT="1"/>
      <dgm:spPr>
        <a:blipFill>
          <a:blip xmlns:r="http://schemas.openxmlformats.org/officeDocument/2006/relationships" r:embed="rId2"/>
          <a:stretch>
            <a:fillRect/>
          </a:stretch>
        </a:blipFill>
      </dgm:spPr>
      <dgm:t>
        <a:bodyPr/>
        <a:lstStyle/>
        <a:p>
          <a:r>
            <a:rPr lang="en-US">
              <a:noFill/>
            </a:rPr>
            <a:t> </a:t>
          </a:r>
        </a:p>
      </dgm:t>
    </dgm:pt>
    <dgm:pt modelId="{39635369-87C9-44AB-B70A-AF4D9F77C05F}" type="parTrans" cxnId="{85AFC6B9-BE4E-4F78-8A6E-9AFB39B960F1}">
      <dgm:prSet/>
      <dgm:spPr/>
      <dgm:t>
        <a:bodyPr/>
        <a:lstStyle/>
        <a:p>
          <a:endParaRPr lang="en-US"/>
        </a:p>
      </dgm:t>
    </dgm:pt>
    <dgm:pt modelId="{FFC47046-BC01-42C9-9FEA-F524F61D4F2F}" type="sibTrans" cxnId="{85AFC6B9-BE4E-4F78-8A6E-9AFB39B960F1}">
      <dgm:prSet/>
      <dgm:spPr/>
      <dgm:t>
        <a:bodyPr/>
        <a:lstStyle/>
        <a:p>
          <a:endParaRPr lang="en-US"/>
        </a:p>
      </dgm:t>
    </dgm:pt>
    <dgm:pt modelId="{B7B00137-B253-4FFE-A89B-E3D545CE3EE0}">
      <dgm:prSet custT="1"/>
      <dgm:spPr>
        <a:blipFill>
          <a:blip xmlns:r="http://schemas.openxmlformats.org/officeDocument/2006/relationships" r:embed="rId3"/>
          <a:stretch>
            <a:fillRect/>
          </a:stretch>
        </a:blipFill>
      </dgm:spPr>
      <dgm:t>
        <a:bodyPr/>
        <a:lstStyle/>
        <a:p>
          <a:r>
            <a:rPr lang="en-US">
              <a:noFill/>
            </a:rPr>
            <a:t> </a:t>
          </a:r>
        </a:p>
      </dgm:t>
    </dgm:pt>
    <dgm:pt modelId="{569D5C21-1039-4175-BA6A-A216E2CA12B8}" type="parTrans" cxnId="{A9E5046A-E93D-499B-A655-CC3CC3D66ACA}">
      <dgm:prSet/>
      <dgm:spPr/>
      <dgm:t>
        <a:bodyPr/>
        <a:lstStyle/>
        <a:p>
          <a:endParaRPr lang="en-US"/>
        </a:p>
      </dgm:t>
    </dgm:pt>
    <dgm:pt modelId="{99D195FF-406C-482E-A180-878D8B48F182}" type="sibTrans" cxnId="{A9E5046A-E93D-499B-A655-CC3CC3D66ACA}">
      <dgm:prSet/>
      <dgm:spPr/>
      <dgm:t>
        <a:bodyPr/>
        <a:lstStyle/>
        <a:p>
          <a:endParaRPr lang="en-US"/>
        </a:p>
      </dgm:t>
    </dgm:pt>
    <dgm:pt modelId="{E4DCAB28-C6A6-4707-A6C9-AE8A6D154A61}">
      <dgm:prSet custT="1"/>
      <dgm:spPr>
        <a:blipFill>
          <a:blip xmlns:r="http://schemas.openxmlformats.org/officeDocument/2006/relationships" r:embed="rId4"/>
          <a:stretch>
            <a:fillRect/>
          </a:stretch>
        </a:blipFill>
      </dgm:spPr>
      <dgm:t>
        <a:bodyPr/>
        <a:lstStyle/>
        <a:p>
          <a:r>
            <a:rPr lang="en-US">
              <a:noFill/>
            </a:rPr>
            <a:t> </a:t>
          </a:r>
        </a:p>
      </dgm:t>
    </dgm:pt>
    <dgm:pt modelId="{41C5AE5A-839C-425D-B430-92CD5E7280C1}" type="parTrans" cxnId="{0DF9E1AB-F741-45FD-B347-AA0C2B3BC1AA}">
      <dgm:prSet/>
      <dgm:spPr/>
      <dgm:t>
        <a:bodyPr/>
        <a:lstStyle/>
        <a:p>
          <a:endParaRPr lang="en-US"/>
        </a:p>
      </dgm:t>
    </dgm:pt>
    <dgm:pt modelId="{E563C6FA-4F02-44F9-8451-C4E5984301E7}" type="sibTrans" cxnId="{0DF9E1AB-F741-45FD-B347-AA0C2B3BC1AA}">
      <dgm:prSet/>
      <dgm:spPr/>
      <dgm:t>
        <a:bodyPr/>
        <a:lstStyle/>
        <a:p>
          <a:endParaRPr lang="en-US"/>
        </a:p>
      </dgm:t>
    </dgm:pt>
    <dgm:pt modelId="{3A25D1FA-6E71-4794-B706-E6500B143B8E}">
      <dgm:prSet custT="1"/>
      <dgm:spPr>
        <a:blipFill>
          <a:blip xmlns:r="http://schemas.openxmlformats.org/officeDocument/2006/relationships" r:embed="rId5"/>
          <a:stretch>
            <a:fillRect/>
          </a:stretch>
        </a:blipFill>
      </dgm:spPr>
      <dgm:t>
        <a:bodyPr/>
        <a:lstStyle/>
        <a:p>
          <a:r>
            <a:rPr lang="en-US">
              <a:noFill/>
            </a:rPr>
            <a:t> </a:t>
          </a:r>
        </a:p>
      </dgm:t>
    </dgm:pt>
    <dgm:pt modelId="{CAD2554D-EBC1-4FB8-AC16-CCE5BA533828}" type="parTrans" cxnId="{F052E4DC-490B-4D30-8F0E-1BF9E79D0C90}">
      <dgm:prSet/>
      <dgm:spPr/>
      <dgm:t>
        <a:bodyPr/>
        <a:lstStyle/>
        <a:p>
          <a:endParaRPr lang="en-US"/>
        </a:p>
      </dgm:t>
    </dgm:pt>
    <dgm:pt modelId="{3B7F8816-0DC4-4DEF-846F-387F06F2FA76}" type="sibTrans" cxnId="{F052E4DC-490B-4D30-8F0E-1BF9E79D0C90}">
      <dgm:prSet/>
      <dgm:spPr/>
      <dgm:t>
        <a:bodyPr/>
        <a:lstStyle/>
        <a:p>
          <a:endParaRPr lang="en-US"/>
        </a:p>
      </dgm:t>
    </dgm:pt>
    <dgm:pt modelId="{E4E4BE15-04E6-40E7-8D28-6F29C15E0976}">
      <dgm:prSet custT="1"/>
      <dgm:spPr>
        <a:blipFill>
          <a:blip xmlns:r="http://schemas.openxmlformats.org/officeDocument/2006/relationships" r:embed="rId6"/>
          <a:stretch>
            <a:fillRect/>
          </a:stretch>
        </a:blipFill>
      </dgm:spPr>
      <dgm:t>
        <a:bodyPr/>
        <a:lstStyle/>
        <a:p>
          <a:r>
            <a:rPr lang="en-US">
              <a:noFill/>
            </a:rPr>
            <a:t> </a:t>
          </a:r>
        </a:p>
      </dgm:t>
    </dgm:pt>
    <dgm:pt modelId="{CA8813B3-7603-49E0-8BC5-C6D15C4829FF}" type="parTrans" cxnId="{2CF8CD56-0D62-4C58-BE28-EF9C844524B5}">
      <dgm:prSet/>
      <dgm:spPr/>
      <dgm:t>
        <a:bodyPr/>
        <a:lstStyle/>
        <a:p>
          <a:endParaRPr lang="en-US"/>
        </a:p>
      </dgm:t>
    </dgm:pt>
    <dgm:pt modelId="{86675396-33C2-4CCC-89A1-0AE6C7644A47}" type="sibTrans" cxnId="{2CF8CD56-0D62-4C58-BE28-EF9C844524B5}">
      <dgm:prSet/>
      <dgm:spPr/>
      <dgm:t>
        <a:bodyPr/>
        <a:lstStyle/>
        <a:p>
          <a:endParaRPr lang="en-US"/>
        </a:p>
      </dgm:t>
    </dgm:pt>
    <dgm:pt modelId="{6064052E-02E3-4E24-BCF3-3665693B95BC}" type="pres">
      <dgm:prSet presAssocID="{25151EA1-5653-425E-BA8B-7E92BDFDCE62}" presName="diagram" presStyleCnt="0">
        <dgm:presLayoutVars>
          <dgm:dir/>
          <dgm:resizeHandles val="exact"/>
        </dgm:presLayoutVars>
      </dgm:prSet>
      <dgm:spPr/>
    </dgm:pt>
    <dgm:pt modelId="{F2880FF1-7183-4509-AD33-878E01E5BF07}" type="pres">
      <dgm:prSet presAssocID="{B94328E3-82C8-4C99-AEEA-64CF17DBAFA0}" presName="node" presStyleLbl="node1" presStyleIdx="0" presStyleCnt="6" custScaleY="56512" custLinFactNeighborX="-9544" custLinFactNeighborY="14249">
        <dgm:presLayoutVars>
          <dgm:bulletEnabled val="1"/>
        </dgm:presLayoutVars>
      </dgm:prSet>
      <dgm:spPr/>
    </dgm:pt>
    <dgm:pt modelId="{47E82B5F-EA84-4F6D-B03F-529893F773CF}" type="pres">
      <dgm:prSet presAssocID="{E1023600-DCEC-4F17-B802-D447A98F0ABD}" presName="sibTrans" presStyleCnt="0"/>
      <dgm:spPr/>
    </dgm:pt>
    <dgm:pt modelId="{58A8BF23-98DB-4D99-90DF-D2CA5B303F8A}" type="pres">
      <dgm:prSet presAssocID="{10F2C5CD-A48B-4FBE-903B-C70FACD4BDCE}" presName="node" presStyleLbl="node1" presStyleIdx="1" presStyleCnt="6" custScaleY="52982" custLinFactNeighborX="343" custLinFactNeighborY="14872">
        <dgm:presLayoutVars>
          <dgm:bulletEnabled val="1"/>
        </dgm:presLayoutVars>
      </dgm:prSet>
      <dgm:spPr/>
    </dgm:pt>
    <dgm:pt modelId="{8880DE87-5840-4CC6-9E32-35145DC11E2E}" type="pres">
      <dgm:prSet presAssocID="{FFC47046-BC01-42C9-9FEA-F524F61D4F2F}" presName="sibTrans" presStyleCnt="0"/>
      <dgm:spPr/>
    </dgm:pt>
    <dgm:pt modelId="{20F54814-8C60-42F2-8B24-EF6058209949}" type="pres">
      <dgm:prSet presAssocID="{B7B00137-B253-4FFE-A89B-E3D545CE3EE0}" presName="node" presStyleLbl="node1" presStyleIdx="2" presStyleCnt="6" custScaleX="136477" custScaleY="60597" custLinFactNeighborX="1637" custLinFactNeighborY="11110">
        <dgm:presLayoutVars>
          <dgm:bulletEnabled val="1"/>
        </dgm:presLayoutVars>
      </dgm:prSet>
      <dgm:spPr/>
    </dgm:pt>
    <dgm:pt modelId="{80CA3DD6-A75D-4B78-9D4D-404CD9344B18}" type="pres">
      <dgm:prSet presAssocID="{99D195FF-406C-482E-A180-878D8B48F182}" presName="sibTrans" presStyleCnt="0"/>
      <dgm:spPr/>
    </dgm:pt>
    <dgm:pt modelId="{963604E8-5BF1-4F53-8E10-29DE6E8FDDDA}" type="pres">
      <dgm:prSet presAssocID="{E4DCAB28-C6A6-4707-A6C9-AE8A6D154A61}" presName="node" presStyleLbl="node1" presStyleIdx="3" presStyleCnt="6" custScaleX="176767" custScaleY="60463" custLinFactNeighborX="1185" custLinFactNeighborY="6211">
        <dgm:presLayoutVars>
          <dgm:bulletEnabled val="1"/>
        </dgm:presLayoutVars>
      </dgm:prSet>
      <dgm:spPr/>
    </dgm:pt>
    <dgm:pt modelId="{15965C8A-2BE4-4252-9E7B-67FC9E1E6B4F}" type="pres">
      <dgm:prSet presAssocID="{E563C6FA-4F02-44F9-8451-C4E5984301E7}" presName="sibTrans" presStyleCnt="0"/>
      <dgm:spPr/>
    </dgm:pt>
    <dgm:pt modelId="{4E868557-5804-428F-B65D-DED5AC901B99}" type="pres">
      <dgm:prSet presAssocID="{3A25D1FA-6E71-4794-B706-E6500B143B8E}" presName="node" presStyleLbl="node1" presStyleIdx="4" presStyleCnt="6" custScaleX="197041" custScaleY="55174" custLinFactNeighborX="3222" custLinFactNeighborY="508">
        <dgm:presLayoutVars>
          <dgm:bulletEnabled val="1"/>
        </dgm:presLayoutVars>
      </dgm:prSet>
      <dgm:spPr/>
    </dgm:pt>
    <dgm:pt modelId="{E752072A-B5A6-4253-BB1B-886C4CB60FC9}" type="pres">
      <dgm:prSet presAssocID="{3B7F8816-0DC4-4DEF-846F-387F06F2FA76}" presName="sibTrans" presStyleCnt="0"/>
      <dgm:spPr/>
    </dgm:pt>
    <dgm:pt modelId="{5894A9E5-5D72-4B78-BF22-13CF884C18D4}" type="pres">
      <dgm:prSet presAssocID="{E4E4BE15-04E6-40E7-8D28-6F29C15E0976}" presName="node" presStyleLbl="node1" presStyleIdx="5" presStyleCnt="6" custScaleX="158677" custScaleY="55382" custLinFactNeighborX="2754" custLinFactNeighborY="-4757">
        <dgm:presLayoutVars>
          <dgm:bulletEnabled val="1"/>
        </dgm:presLayoutVars>
      </dgm:prSet>
      <dgm:spPr/>
    </dgm:pt>
  </dgm:ptLst>
  <dgm:cxnLst>
    <dgm:cxn modelId="{94FF700E-7EF6-4390-8C0E-D6076EAA2443}" srcId="{25151EA1-5653-425E-BA8B-7E92BDFDCE62}" destId="{B94328E3-82C8-4C99-AEEA-64CF17DBAFA0}" srcOrd="0" destOrd="0" parTransId="{34281A2C-9A90-4551-8653-F66B00883ACF}" sibTransId="{E1023600-DCEC-4F17-B802-D447A98F0ABD}"/>
    <dgm:cxn modelId="{C300B35C-6107-41B1-A0F1-7CEDA37F8CEB}" type="presOf" srcId="{10F2C5CD-A48B-4FBE-903B-C70FACD4BDCE}" destId="{58A8BF23-98DB-4D99-90DF-D2CA5B303F8A}" srcOrd="0" destOrd="0" presId="urn:microsoft.com/office/officeart/2005/8/layout/default"/>
    <dgm:cxn modelId="{267AFF63-76CC-4988-8E48-4C0ACA0976A5}" type="presOf" srcId="{E4DCAB28-C6A6-4707-A6C9-AE8A6D154A61}" destId="{963604E8-5BF1-4F53-8E10-29DE6E8FDDDA}" srcOrd="0" destOrd="0" presId="urn:microsoft.com/office/officeart/2005/8/layout/default"/>
    <dgm:cxn modelId="{019F4F66-6DB2-462F-8AFA-F7B194EA6876}" type="presOf" srcId="{3A25D1FA-6E71-4794-B706-E6500B143B8E}" destId="{4E868557-5804-428F-B65D-DED5AC901B99}" srcOrd="0" destOrd="0" presId="urn:microsoft.com/office/officeart/2005/8/layout/default"/>
    <dgm:cxn modelId="{A9E5046A-E93D-499B-A655-CC3CC3D66ACA}" srcId="{25151EA1-5653-425E-BA8B-7E92BDFDCE62}" destId="{B7B00137-B253-4FFE-A89B-E3D545CE3EE0}" srcOrd="2" destOrd="0" parTransId="{569D5C21-1039-4175-BA6A-A216E2CA12B8}" sibTransId="{99D195FF-406C-482E-A180-878D8B48F182}"/>
    <dgm:cxn modelId="{2CF8CD56-0D62-4C58-BE28-EF9C844524B5}" srcId="{25151EA1-5653-425E-BA8B-7E92BDFDCE62}" destId="{E4E4BE15-04E6-40E7-8D28-6F29C15E0976}" srcOrd="5" destOrd="0" parTransId="{CA8813B3-7603-49E0-8BC5-C6D15C4829FF}" sibTransId="{86675396-33C2-4CCC-89A1-0AE6C7644A47}"/>
    <dgm:cxn modelId="{6698E35A-6687-4CCD-A1F0-DCBF651B5AE1}" type="presOf" srcId="{B7B00137-B253-4FFE-A89B-E3D545CE3EE0}" destId="{20F54814-8C60-42F2-8B24-EF6058209949}" srcOrd="0" destOrd="0" presId="urn:microsoft.com/office/officeart/2005/8/layout/default"/>
    <dgm:cxn modelId="{26FBCA91-441E-4D16-8D3A-7C8A5F7623EE}" type="presOf" srcId="{B94328E3-82C8-4C99-AEEA-64CF17DBAFA0}" destId="{F2880FF1-7183-4509-AD33-878E01E5BF07}" srcOrd="0" destOrd="0" presId="urn:microsoft.com/office/officeart/2005/8/layout/default"/>
    <dgm:cxn modelId="{C114E995-58D3-421B-8325-871A4EC30FBC}" type="presOf" srcId="{25151EA1-5653-425E-BA8B-7E92BDFDCE62}" destId="{6064052E-02E3-4E24-BCF3-3665693B95BC}" srcOrd="0" destOrd="0" presId="urn:microsoft.com/office/officeart/2005/8/layout/default"/>
    <dgm:cxn modelId="{0DF9E1AB-F741-45FD-B347-AA0C2B3BC1AA}" srcId="{25151EA1-5653-425E-BA8B-7E92BDFDCE62}" destId="{E4DCAB28-C6A6-4707-A6C9-AE8A6D154A61}" srcOrd="3" destOrd="0" parTransId="{41C5AE5A-839C-425D-B430-92CD5E7280C1}" sibTransId="{E563C6FA-4F02-44F9-8451-C4E5984301E7}"/>
    <dgm:cxn modelId="{35A89BB0-819A-4F67-BA07-CFCDA5194B01}" type="presOf" srcId="{E4E4BE15-04E6-40E7-8D28-6F29C15E0976}" destId="{5894A9E5-5D72-4B78-BF22-13CF884C18D4}" srcOrd="0" destOrd="0" presId="urn:microsoft.com/office/officeart/2005/8/layout/default"/>
    <dgm:cxn modelId="{85AFC6B9-BE4E-4F78-8A6E-9AFB39B960F1}" srcId="{25151EA1-5653-425E-BA8B-7E92BDFDCE62}" destId="{10F2C5CD-A48B-4FBE-903B-C70FACD4BDCE}" srcOrd="1" destOrd="0" parTransId="{39635369-87C9-44AB-B70A-AF4D9F77C05F}" sibTransId="{FFC47046-BC01-42C9-9FEA-F524F61D4F2F}"/>
    <dgm:cxn modelId="{F052E4DC-490B-4D30-8F0E-1BF9E79D0C90}" srcId="{25151EA1-5653-425E-BA8B-7E92BDFDCE62}" destId="{3A25D1FA-6E71-4794-B706-E6500B143B8E}" srcOrd="4" destOrd="0" parTransId="{CAD2554D-EBC1-4FB8-AC16-CCE5BA533828}" sibTransId="{3B7F8816-0DC4-4DEF-846F-387F06F2FA76}"/>
    <dgm:cxn modelId="{7B054DFE-D495-486C-9B66-29B36B30A8B7}" type="presParOf" srcId="{6064052E-02E3-4E24-BCF3-3665693B95BC}" destId="{F2880FF1-7183-4509-AD33-878E01E5BF07}" srcOrd="0" destOrd="0" presId="urn:microsoft.com/office/officeart/2005/8/layout/default"/>
    <dgm:cxn modelId="{44B232B7-539A-4951-A401-C247F6B61296}" type="presParOf" srcId="{6064052E-02E3-4E24-BCF3-3665693B95BC}" destId="{47E82B5F-EA84-4F6D-B03F-529893F773CF}" srcOrd="1" destOrd="0" presId="urn:microsoft.com/office/officeart/2005/8/layout/default"/>
    <dgm:cxn modelId="{705EE21B-5346-4D0B-B99B-AF1ED2DE36F1}" type="presParOf" srcId="{6064052E-02E3-4E24-BCF3-3665693B95BC}" destId="{58A8BF23-98DB-4D99-90DF-D2CA5B303F8A}" srcOrd="2" destOrd="0" presId="urn:microsoft.com/office/officeart/2005/8/layout/default"/>
    <dgm:cxn modelId="{DC6C99A2-B445-45BA-A4E2-775D8EEDA51D}" type="presParOf" srcId="{6064052E-02E3-4E24-BCF3-3665693B95BC}" destId="{8880DE87-5840-4CC6-9E32-35145DC11E2E}" srcOrd="3" destOrd="0" presId="urn:microsoft.com/office/officeart/2005/8/layout/default"/>
    <dgm:cxn modelId="{03DC77BF-A7F2-465F-B6B1-FB632B6DD618}" type="presParOf" srcId="{6064052E-02E3-4E24-BCF3-3665693B95BC}" destId="{20F54814-8C60-42F2-8B24-EF6058209949}" srcOrd="4" destOrd="0" presId="urn:microsoft.com/office/officeart/2005/8/layout/default"/>
    <dgm:cxn modelId="{5B311D4B-F061-4607-8EE7-9F59B5B594CF}" type="presParOf" srcId="{6064052E-02E3-4E24-BCF3-3665693B95BC}" destId="{80CA3DD6-A75D-4B78-9D4D-404CD9344B18}" srcOrd="5" destOrd="0" presId="urn:microsoft.com/office/officeart/2005/8/layout/default"/>
    <dgm:cxn modelId="{E07B4BC7-10E4-4D22-921F-C82285CC715C}" type="presParOf" srcId="{6064052E-02E3-4E24-BCF3-3665693B95BC}" destId="{963604E8-5BF1-4F53-8E10-29DE6E8FDDDA}" srcOrd="6" destOrd="0" presId="urn:microsoft.com/office/officeart/2005/8/layout/default"/>
    <dgm:cxn modelId="{E847B438-FAD2-4092-9391-AF3F25DE2179}" type="presParOf" srcId="{6064052E-02E3-4E24-BCF3-3665693B95BC}" destId="{15965C8A-2BE4-4252-9E7B-67FC9E1E6B4F}" srcOrd="7" destOrd="0" presId="urn:microsoft.com/office/officeart/2005/8/layout/default"/>
    <dgm:cxn modelId="{6EBBDE86-E49A-44A1-8BB6-0BEBB9180906}" type="presParOf" srcId="{6064052E-02E3-4E24-BCF3-3665693B95BC}" destId="{4E868557-5804-428F-B65D-DED5AC901B99}" srcOrd="8" destOrd="0" presId="urn:microsoft.com/office/officeart/2005/8/layout/default"/>
    <dgm:cxn modelId="{6AD4384A-C265-4BE2-946B-C318C71307EA}" type="presParOf" srcId="{6064052E-02E3-4E24-BCF3-3665693B95BC}" destId="{E752072A-B5A6-4253-BB1B-886C4CB60FC9}" srcOrd="9" destOrd="0" presId="urn:microsoft.com/office/officeart/2005/8/layout/default"/>
    <dgm:cxn modelId="{62F5F6DE-DC27-42D4-B444-CD43FEF786BE}" type="presParOf" srcId="{6064052E-02E3-4E24-BCF3-3665693B95BC}" destId="{5894A9E5-5D72-4B78-BF22-13CF884C18D4}" srcOrd="10"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6D4EF2E9-863D-4C76-A433-52297ACB4C9E}" type="doc">
      <dgm:prSet loTypeId="urn:microsoft.com/office/officeart/2011/layout/HexagonRadial" loCatId="cycle" qsTypeId="urn:microsoft.com/office/officeart/2005/8/quickstyle/simple5" qsCatId="simple" csTypeId="urn:microsoft.com/office/officeart/2005/8/colors/accent1_1" csCatId="accent1" phldr="1"/>
      <dgm:spPr/>
      <dgm:t>
        <a:bodyPr/>
        <a:lstStyle/>
        <a:p>
          <a:endParaRPr lang="en-US"/>
        </a:p>
      </dgm:t>
    </dgm:pt>
    <dgm:pt modelId="{1BA8091F-5854-4695-94D0-9D72A3439505}">
      <dgm:prSet phldrT="[Text]" custT="1"/>
      <dgm:spPr/>
      <dgm:t>
        <a:bodyPr/>
        <a:lstStyle/>
        <a:p>
          <a:r>
            <a:rPr lang="en-US" sz="1400" b="1" i="0" baseline="0" dirty="0">
              <a:effectLst/>
            </a:rPr>
            <a:t>Empirical Models</a:t>
          </a:r>
        </a:p>
        <a:p>
          <a:endParaRPr lang="en-US" sz="1400" b="1" i="0" baseline="0" dirty="0">
            <a:effectLst/>
          </a:endParaRPr>
        </a:p>
        <a:p>
          <a:r>
            <a:rPr lang="en-US" sz="1400" b="0" i="0" baseline="0" dirty="0">
              <a:effectLst/>
            </a:rPr>
            <a:t>(Young’s Modulus, E = 210,289.53 MPa </a:t>
          </a:r>
        </a:p>
        <a:p>
          <a:r>
            <a:rPr lang="en-US" sz="1400" b="0" i="0" baseline="0" dirty="0">
              <a:effectLst/>
            </a:rPr>
            <a:t>Yield Stress,  </a:t>
          </a:r>
          <a:r>
            <a:rPr lang="el-GR" sz="1400" b="0" i="0" baseline="0" dirty="0">
              <a:effectLst/>
              <a:latin typeface="+mn-lt"/>
            </a:rPr>
            <a:t>σ₀ </a:t>
          </a:r>
          <a:r>
            <a:rPr lang="en-US" sz="1400" b="0" i="0" baseline="0" dirty="0">
              <a:effectLst/>
            </a:rPr>
            <a:t>= 1,051.95 MPa)</a:t>
          </a:r>
          <a:endParaRPr lang="en-US" sz="1400" b="0" dirty="0"/>
        </a:p>
      </dgm:t>
    </dgm:pt>
    <dgm:pt modelId="{C013BEA9-8EB4-4632-AB4B-837941923A36}" type="parTrans" cxnId="{C72DC286-E659-40D4-96B9-36675985ADE3}">
      <dgm:prSet/>
      <dgm:spPr/>
      <dgm:t>
        <a:bodyPr/>
        <a:lstStyle/>
        <a:p>
          <a:endParaRPr lang="en-US"/>
        </a:p>
      </dgm:t>
    </dgm:pt>
    <dgm:pt modelId="{4A6B7447-AC24-4968-86E1-C03D0F4E481F}" type="sibTrans" cxnId="{C72DC286-E659-40D4-96B9-36675985ADE3}">
      <dgm:prSet/>
      <dgm:spPr/>
      <dgm:t>
        <a:bodyPr/>
        <a:lstStyle/>
        <a:p>
          <a:endParaRPr lang="en-US"/>
        </a:p>
      </dgm:t>
    </dgm:pt>
    <dgm:pt modelId="{CAFAF8D6-4D7A-4A73-A3CA-AA0EB3940399}">
      <dgm:prSet phldrT="[Text]"/>
      <dgm:spPr/>
      <dgm:t>
        <a:bodyPr/>
        <a:lstStyle/>
        <a:p>
          <a:r>
            <a:rPr lang="en-US" b="1" i="0" baseline="0">
              <a:effectLst/>
              <a:latin typeface="+mn-lt"/>
            </a:rPr>
            <a:t>Hollomon</a:t>
          </a:r>
        </a:p>
        <a:p>
          <a:r>
            <a:rPr lang="el-GR" b="0" i="0" baseline="0">
              <a:effectLst/>
              <a:latin typeface="+mn-lt"/>
            </a:rPr>
            <a:t>σ = </a:t>
          </a:r>
          <a:r>
            <a:rPr lang="en-US" b="0" i="0" baseline="0">
              <a:effectLst/>
              <a:latin typeface="+mn-lt"/>
            </a:rPr>
            <a:t>K·</a:t>
          </a:r>
          <a:r>
            <a:rPr lang="el-GR" b="0" i="0" baseline="0">
              <a:effectLst/>
              <a:latin typeface="+mn-lt"/>
            </a:rPr>
            <a:t>ε</a:t>
          </a:r>
          <a:r>
            <a:rPr lang="en-US" b="0" i="0" baseline="0">
              <a:effectLst/>
              <a:latin typeface="+mn-lt"/>
            </a:rPr>
            <a:t>ⁿ</a:t>
          </a:r>
          <a:endParaRPr lang="en-US" dirty="0"/>
        </a:p>
      </dgm:t>
    </dgm:pt>
    <dgm:pt modelId="{A8EF9CA8-20A3-444C-A019-5D577618ECDB}" type="parTrans" cxnId="{4B3842C2-FE5E-417A-BA3A-75F93EE17838}">
      <dgm:prSet/>
      <dgm:spPr/>
      <dgm:t>
        <a:bodyPr/>
        <a:lstStyle/>
        <a:p>
          <a:endParaRPr lang="en-US"/>
        </a:p>
      </dgm:t>
    </dgm:pt>
    <dgm:pt modelId="{81F5757F-D171-4A0F-970A-F365462A0B30}" type="sibTrans" cxnId="{4B3842C2-FE5E-417A-BA3A-75F93EE17838}">
      <dgm:prSet/>
      <dgm:spPr/>
      <dgm:t>
        <a:bodyPr/>
        <a:lstStyle/>
        <a:p>
          <a:endParaRPr lang="en-US"/>
        </a:p>
      </dgm:t>
    </dgm:pt>
    <dgm:pt modelId="{6E99857E-FA2E-4BBA-BEF2-F5AB8C8E3509}">
      <dgm:prSet phldrT="[Text]"/>
      <dgm:spPr/>
      <dgm:t>
        <a:bodyPr/>
        <a:lstStyle/>
        <a:p>
          <a:r>
            <a:rPr lang="en-US" b="1">
              <a:effectLst/>
              <a:latin typeface="+mn-lt"/>
            </a:rPr>
            <a:t>Ludwik</a:t>
          </a:r>
        </a:p>
        <a:p>
          <a:r>
            <a:rPr lang="el-GR" b="0" i="0" baseline="0">
              <a:effectLst/>
              <a:latin typeface="+mn-lt"/>
            </a:rPr>
            <a:t>σ = σ₀</a:t>
          </a:r>
          <a:r>
            <a:rPr lang="en-US" b="0" i="0" baseline="0">
              <a:effectLst/>
              <a:latin typeface="+mn-lt"/>
            </a:rPr>
            <a:t> + K·</a:t>
          </a:r>
          <a:r>
            <a:rPr lang="el-GR" b="0" i="0" baseline="0">
              <a:effectLst/>
              <a:latin typeface="+mn-lt"/>
            </a:rPr>
            <a:t>ε</a:t>
          </a:r>
          <a:r>
            <a:rPr lang="en-US" b="0" i="0" baseline="0">
              <a:effectLst/>
              <a:latin typeface="+mn-lt"/>
            </a:rPr>
            <a:t>ⁿ</a:t>
          </a:r>
          <a:endParaRPr lang="en-US" dirty="0"/>
        </a:p>
      </dgm:t>
    </dgm:pt>
    <dgm:pt modelId="{F8BF65E3-10A1-4458-AA4F-16D4064A3D0F}" type="parTrans" cxnId="{1F12E08B-A41F-4DF8-8318-6E808C7BF841}">
      <dgm:prSet/>
      <dgm:spPr/>
      <dgm:t>
        <a:bodyPr/>
        <a:lstStyle/>
        <a:p>
          <a:endParaRPr lang="en-US"/>
        </a:p>
      </dgm:t>
    </dgm:pt>
    <dgm:pt modelId="{C587EBC5-771C-493C-8B0A-5F35E560A5F0}" type="sibTrans" cxnId="{1F12E08B-A41F-4DF8-8318-6E808C7BF841}">
      <dgm:prSet/>
      <dgm:spPr/>
      <dgm:t>
        <a:bodyPr/>
        <a:lstStyle/>
        <a:p>
          <a:endParaRPr lang="en-US"/>
        </a:p>
      </dgm:t>
    </dgm:pt>
    <dgm:pt modelId="{78C0B931-F16A-468D-939B-1CE2E6CA73AB}">
      <dgm:prSet phldrT="[Text]"/>
      <dgm:spPr/>
      <dgm:t>
        <a:bodyPr/>
        <a:lstStyle/>
        <a:p>
          <a:r>
            <a:rPr lang="en-US" b="1" i="0" baseline="0">
              <a:effectLst/>
              <a:latin typeface="+mn-lt"/>
            </a:rPr>
            <a:t>Swift</a:t>
          </a:r>
        </a:p>
        <a:p>
          <a:r>
            <a:rPr lang="el-GR" b="0" i="0" baseline="0">
              <a:effectLst/>
              <a:latin typeface="+mn-lt"/>
            </a:rPr>
            <a:t>σ = </a:t>
          </a:r>
          <a:r>
            <a:rPr lang="en-US" b="0" i="0" baseline="0">
              <a:effectLst/>
              <a:latin typeface="+mn-lt"/>
            </a:rPr>
            <a:t>K(</a:t>
          </a:r>
          <a:r>
            <a:rPr lang="el-GR" b="0" i="0" baseline="0">
              <a:effectLst/>
              <a:latin typeface="+mn-lt"/>
            </a:rPr>
            <a:t>ε + ε₀)</a:t>
          </a:r>
          <a:r>
            <a:rPr lang="en-US" b="0" i="0" baseline="0">
              <a:effectLst/>
              <a:latin typeface="+mn-lt"/>
            </a:rPr>
            <a:t>ⁿ</a:t>
          </a:r>
          <a:endParaRPr lang="en-US" dirty="0"/>
        </a:p>
      </dgm:t>
    </dgm:pt>
    <dgm:pt modelId="{089127FC-15AF-4BD2-99B1-06892FA67D9D}" type="parTrans" cxnId="{A4CF436C-E3D1-4F8E-8BF7-4FC0B36AFECE}">
      <dgm:prSet/>
      <dgm:spPr/>
      <dgm:t>
        <a:bodyPr/>
        <a:lstStyle/>
        <a:p>
          <a:endParaRPr lang="en-US"/>
        </a:p>
      </dgm:t>
    </dgm:pt>
    <dgm:pt modelId="{AD899001-8E22-4881-A1CA-88E18FF3715F}" type="sibTrans" cxnId="{A4CF436C-E3D1-4F8E-8BF7-4FC0B36AFECE}">
      <dgm:prSet/>
      <dgm:spPr/>
      <dgm:t>
        <a:bodyPr/>
        <a:lstStyle/>
        <a:p>
          <a:endParaRPr lang="en-US"/>
        </a:p>
      </dgm:t>
    </dgm:pt>
    <dgm:pt modelId="{DF0219BF-601D-401C-AF76-4DBE74E009B4}">
      <dgm:prSet phldrT="[Text]"/>
      <dgm:spPr>
        <a:blipFill>
          <a:blip xmlns:r="http://schemas.openxmlformats.org/officeDocument/2006/relationships" r:embed="rId1"/>
          <a:stretch>
            <a:fillRect/>
          </a:stretch>
        </a:blipFill>
      </dgm:spPr>
      <dgm:t>
        <a:bodyPr/>
        <a:lstStyle/>
        <a:p>
          <a:r>
            <a:rPr lang="en-US">
              <a:noFill/>
            </a:rPr>
            <a:t> </a:t>
          </a:r>
        </a:p>
      </dgm:t>
    </dgm:pt>
    <dgm:pt modelId="{91F85C2E-2E02-412C-A61A-F971E64CCDB9}" type="parTrans" cxnId="{23916D38-18B7-4DEB-A995-79414CAF6F5E}">
      <dgm:prSet/>
      <dgm:spPr/>
      <dgm:t>
        <a:bodyPr/>
        <a:lstStyle/>
        <a:p>
          <a:endParaRPr lang="en-US"/>
        </a:p>
      </dgm:t>
    </dgm:pt>
    <dgm:pt modelId="{76EAE841-32C4-4BD3-8A90-FEBCE22888AB}" type="sibTrans" cxnId="{23916D38-18B7-4DEB-A995-79414CAF6F5E}">
      <dgm:prSet/>
      <dgm:spPr/>
      <dgm:t>
        <a:bodyPr/>
        <a:lstStyle/>
        <a:p>
          <a:endParaRPr lang="en-US"/>
        </a:p>
      </dgm:t>
    </dgm:pt>
    <dgm:pt modelId="{62E65F82-1DFD-4C34-BCCD-A7F90DDCED09}">
      <dgm:prSet phldrT="[Text]"/>
      <dgm:spPr>
        <a:blipFill>
          <a:blip xmlns:r="http://schemas.openxmlformats.org/officeDocument/2006/relationships" r:embed="rId2"/>
          <a:stretch>
            <a:fillRect/>
          </a:stretch>
        </a:blipFill>
      </dgm:spPr>
      <dgm:t>
        <a:bodyPr/>
        <a:lstStyle/>
        <a:p>
          <a:r>
            <a:rPr lang="en-US">
              <a:noFill/>
            </a:rPr>
            <a:t> </a:t>
          </a:r>
        </a:p>
      </dgm:t>
    </dgm:pt>
    <dgm:pt modelId="{1D85B14D-15C4-4DB1-A543-6D9B3B5FFAA2}" type="parTrans" cxnId="{ECD85E95-1E5C-4F45-AD21-E29D57E86A4C}">
      <dgm:prSet/>
      <dgm:spPr/>
      <dgm:t>
        <a:bodyPr/>
        <a:lstStyle/>
        <a:p>
          <a:endParaRPr lang="en-US"/>
        </a:p>
      </dgm:t>
    </dgm:pt>
    <dgm:pt modelId="{4196A4B5-AEBA-4772-BAA3-F58A737F487A}" type="sibTrans" cxnId="{ECD85E95-1E5C-4F45-AD21-E29D57E86A4C}">
      <dgm:prSet/>
      <dgm:spPr/>
      <dgm:t>
        <a:bodyPr/>
        <a:lstStyle/>
        <a:p>
          <a:endParaRPr lang="en-US"/>
        </a:p>
      </dgm:t>
    </dgm:pt>
    <dgm:pt modelId="{43F40F6A-350A-443E-9FC3-9B06A23D21A7}">
      <dgm:prSet phldrT="[Text]"/>
      <dgm:spPr>
        <a:blipFill>
          <a:blip xmlns:r="http://schemas.openxmlformats.org/officeDocument/2006/relationships" r:embed="rId3"/>
          <a:stretch>
            <a:fillRect/>
          </a:stretch>
        </a:blipFill>
      </dgm:spPr>
      <dgm:t>
        <a:bodyPr/>
        <a:lstStyle/>
        <a:p>
          <a:r>
            <a:rPr lang="en-US">
              <a:noFill/>
            </a:rPr>
            <a:t> </a:t>
          </a:r>
        </a:p>
      </dgm:t>
    </dgm:pt>
    <dgm:pt modelId="{55DC66A2-EA23-45B2-A1C8-50A840FC3C8D}" type="parTrans" cxnId="{A6A9CB97-5078-40FE-8A54-C541CB5A7CAD}">
      <dgm:prSet/>
      <dgm:spPr/>
      <dgm:t>
        <a:bodyPr/>
        <a:lstStyle/>
        <a:p>
          <a:endParaRPr lang="en-US"/>
        </a:p>
      </dgm:t>
    </dgm:pt>
    <dgm:pt modelId="{5E703AB5-430A-407F-99E5-DB4551E3A1D3}" type="sibTrans" cxnId="{A6A9CB97-5078-40FE-8A54-C541CB5A7CAD}">
      <dgm:prSet/>
      <dgm:spPr/>
      <dgm:t>
        <a:bodyPr/>
        <a:lstStyle/>
        <a:p>
          <a:endParaRPr lang="en-US"/>
        </a:p>
      </dgm:t>
    </dgm:pt>
    <dgm:pt modelId="{157989E8-1BC9-4E66-A270-B03598D26556}" type="pres">
      <dgm:prSet presAssocID="{6D4EF2E9-863D-4C76-A433-52297ACB4C9E}" presName="Name0" presStyleCnt="0">
        <dgm:presLayoutVars>
          <dgm:chMax val="1"/>
          <dgm:chPref val="1"/>
          <dgm:dir/>
          <dgm:animOne val="branch"/>
          <dgm:animLvl val="lvl"/>
        </dgm:presLayoutVars>
      </dgm:prSet>
      <dgm:spPr/>
    </dgm:pt>
    <dgm:pt modelId="{3024025F-5BF3-4DCC-89AD-F3BE5F4B8905}" type="pres">
      <dgm:prSet presAssocID="{1BA8091F-5854-4695-94D0-9D72A3439505}" presName="Parent" presStyleLbl="node0" presStyleIdx="0" presStyleCnt="1">
        <dgm:presLayoutVars>
          <dgm:chMax val="6"/>
          <dgm:chPref val="6"/>
        </dgm:presLayoutVars>
      </dgm:prSet>
      <dgm:spPr/>
    </dgm:pt>
    <dgm:pt modelId="{E87EFBB5-AB43-44FF-892C-BCB327D1B6BF}" type="pres">
      <dgm:prSet presAssocID="{CAFAF8D6-4D7A-4A73-A3CA-AA0EB3940399}" presName="Accent1" presStyleCnt="0"/>
      <dgm:spPr/>
    </dgm:pt>
    <dgm:pt modelId="{0DAB96F2-7B01-4C65-825F-B306B1BD08BD}" type="pres">
      <dgm:prSet presAssocID="{CAFAF8D6-4D7A-4A73-A3CA-AA0EB3940399}" presName="Accent" presStyleLbl="bgShp" presStyleIdx="0" presStyleCnt="6"/>
      <dgm:spPr/>
    </dgm:pt>
    <dgm:pt modelId="{E465016E-A442-4BAB-9409-20AE0A149079}" type="pres">
      <dgm:prSet presAssocID="{CAFAF8D6-4D7A-4A73-A3CA-AA0EB3940399}" presName="Child1" presStyleLbl="node1" presStyleIdx="0" presStyleCnt="6" custLinFactNeighborY="1658">
        <dgm:presLayoutVars>
          <dgm:chMax val="0"/>
          <dgm:chPref val="0"/>
          <dgm:bulletEnabled val="1"/>
        </dgm:presLayoutVars>
      </dgm:prSet>
      <dgm:spPr/>
    </dgm:pt>
    <dgm:pt modelId="{E3FE9285-7CA3-4B46-8730-3DD103FAA749}" type="pres">
      <dgm:prSet presAssocID="{6E99857E-FA2E-4BBA-BEF2-F5AB8C8E3509}" presName="Accent2" presStyleCnt="0"/>
      <dgm:spPr/>
    </dgm:pt>
    <dgm:pt modelId="{79A1F478-844B-413A-9388-19BDA2BDCE27}" type="pres">
      <dgm:prSet presAssocID="{6E99857E-FA2E-4BBA-BEF2-F5AB8C8E3509}" presName="Accent" presStyleLbl="bgShp" presStyleIdx="1" presStyleCnt="6"/>
      <dgm:spPr/>
    </dgm:pt>
    <dgm:pt modelId="{10D79C5C-39F9-437A-9DE6-8EE8105EAFFB}" type="pres">
      <dgm:prSet presAssocID="{6E99857E-FA2E-4BBA-BEF2-F5AB8C8E3509}" presName="Child2" presStyleLbl="node1" presStyleIdx="1" presStyleCnt="6">
        <dgm:presLayoutVars>
          <dgm:chMax val="0"/>
          <dgm:chPref val="0"/>
          <dgm:bulletEnabled val="1"/>
        </dgm:presLayoutVars>
      </dgm:prSet>
      <dgm:spPr/>
    </dgm:pt>
    <dgm:pt modelId="{6015F892-8F20-4A62-B79E-8DB21C11D16C}" type="pres">
      <dgm:prSet presAssocID="{78C0B931-F16A-468D-939B-1CE2E6CA73AB}" presName="Accent3" presStyleCnt="0"/>
      <dgm:spPr/>
    </dgm:pt>
    <dgm:pt modelId="{D8B485CE-22C7-4DF3-B238-DB44DCA0559C}" type="pres">
      <dgm:prSet presAssocID="{78C0B931-F16A-468D-939B-1CE2E6CA73AB}" presName="Accent" presStyleLbl="bgShp" presStyleIdx="2" presStyleCnt="6"/>
      <dgm:spPr/>
    </dgm:pt>
    <dgm:pt modelId="{774C34BA-6C41-4393-B500-C2F90EFF61C9}" type="pres">
      <dgm:prSet presAssocID="{78C0B931-F16A-468D-939B-1CE2E6CA73AB}" presName="Child3" presStyleLbl="node1" presStyleIdx="2" presStyleCnt="6">
        <dgm:presLayoutVars>
          <dgm:chMax val="0"/>
          <dgm:chPref val="0"/>
          <dgm:bulletEnabled val="1"/>
        </dgm:presLayoutVars>
      </dgm:prSet>
      <dgm:spPr/>
    </dgm:pt>
    <dgm:pt modelId="{EBE423C2-9680-427E-B175-E50718E9DD98}" type="pres">
      <dgm:prSet presAssocID="{DF0219BF-601D-401C-AF76-4DBE74E009B4}" presName="Accent4" presStyleCnt="0"/>
      <dgm:spPr/>
    </dgm:pt>
    <dgm:pt modelId="{2F2B4F2C-CEB8-4419-AB93-EF14E0A9FEB1}" type="pres">
      <dgm:prSet presAssocID="{DF0219BF-601D-401C-AF76-4DBE74E009B4}" presName="Accent" presStyleLbl="bgShp" presStyleIdx="3" presStyleCnt="6"/>
      <dgm:spPr/>
    </dgm:pt>
    <dgm:pt modelId="{59D3CFDB-AF80-4AE8-A30D-9D764B4A8A21}" type="pres">
      <dgm:prSet presAssocID="{DF0219BF-601D-401C-AF76-4DBE74E009B4}" presName="Child4" presStyleLbl="node1" presStyleIdx="3" presStyleCnt="6">
        <dgm:presLayoutVars>
          <dgm:chMax val="0"/>
          <dgm:chPref val="0"/>
          <dgm:bulletEnabled val="1"/>
        </dgm:presLayoutVars>
      </dgm:prSet>
      <dgm:spPr/>
    </dgm:pt>
    <dgm:pt modelId="{CA56AD00-16BE-4538-B59F-79F3C35D7B9F}" type="pres">
      <dgm:prSet presAssocID="{62E65F82-1DFD-4C34-BCCD-A7F90DDCED09}" presName="Accent5" presStyleCnt="0"/>
      <dgm:spPr/>
    </dgm:pt>
    <dgm:pt modelId="{2C8AF572-0F74-4595-8C1B-F6395CB6D38A}" type="pres">
      <dgm:prSet presAssocID="{62E65F82-1DFD-4C34-BCCD-A7F90DDCED09}" presName="Accent" presStyleLbl="bgShp" presStyleIdx="4" presStyleCnt="6"/>
      <dgm:spPr/>
    </dgm:pt>
    <dgm:pt modelId="{EC0A8A91-C95C-4829-8CF1-7B60663223D3}" type="pres">
      <dgm:prSet presAssocID="{62E65F82-1DFD-4C34-BCCD-A7F90DDCED09}" presName="Child5" presStyleLbl="node1" presStyleIdx="4" presStyleCnt="6">
        <dgm:presLayoutVars>
          <dgm:chMax val="0"/>
          <dgm:chPref val="0"/>
          <dgm:bulletEnabled val="1"/>
        </dgm:presLayoutVars>
      </dgm:prSet>
      <dgm:spPr/>
    </dgm:pt>
    <dgm:pt modelId="{89B481D4-5EFD-4F45-81EC-5907AC12F2C4}" type="pres">
      <dgm:prSet presAssocID="{43F40F6A-350A-443E-9FC3-9B06A23D21A7}" presName="Accent6" presStyleCnt="0"/>
      <dgm:spPr/>
    </dgm:pt>
    <dgm:pt modelId="{2BEEEFE4-F623-46CB-A605-E841B41574D4}" type="pres">
      <dgm:prSet presAssocID="{43F40F6A-350A-443E-9FC3-9B06A23D21A7}" presName="Accent" presStyleLbl="bgShp" presStyleIdx="5" presStyleCnt="6"/>
      <dgm:spPr/>
    </dgm:pt>
    <dgm:pt modelId="{321F5C16-3737-4113-8215-9F2655F24D87}" type="pres">
      <dgm:prSet presAssocID="{43F40F6A-350A-443E-9FC3-9B06A23D21A7}" presName="Child6" presStyleLbl="node1" presStyleIdx="5" presStyleCnt="6">
        <dgm:presLayoutVars>
          <dgm:chMax val="0"/>
          <dgm:chPref val="0"/>
          <dgm:bulletEnabled val="1"/>
        </dgm:presLayoutVars>
      </dgm:prSet>
      <dgm:spPr/>
    </dgm:pt>
  </dgm:ptLst>
  <dgm:cxnLst>
    <dgm:cxn modelId="{9EF87B01-E322-4A07-A147-7BFF716931D3}" type="presOf" srcId="{43F40F6A-350A-443E-9FC3-9B06A23D21A7}" destId="{321F5C16-3737-4113-8215-9F2655F24D87}" srcOrd="0" destOrd="0" presId="urn:microsoft.com/office/officeart/2011/layout/HexagonRadial"/>
    <dgm:cxn modelId="{23916D38-18B7-4DEB-A995-79414CAF6F5E}" srcId="{1BA8091F-5854-4695-94D0-9D72A3439505}" destId="{DF0219BF-601D-401C-AF76-4DBE74E009B4}" srcOrd="3" destOrd="0" parTransId="{91F85C2E-2E02-412C-A61A-F971E64CCDB9}" sibTransId="{76EAE841-32C4-4BD3-8A90-FEBCE22888AB}"/>
    <dgm:cxn modelId="{7083183E-2822-4F68-8990-5BFDA4FC5246}" type="presOf" srcId="{78C0B931-F16A-468D-939B-1CE2E6CA73AB}" destId="{774C34BA-6C41-4393-B500-C2F90EFF61C9}" srcOrd="0" destOrd="0" presId="urn:microsoft.com/office/officeart/2011/layout/HexagonRadial"/>
    <dgm:cxn modelId="{AAFCD168-0931-412C-99AC-3552A7E4D4D8}" type="presOf" srcId="{6D4EF2E9-863D-4C76-A433-52297ACB4C9E}" destId="{157989E8-1BC9-4E66-A270-B03598D26556}" srcOrd="0" destOrd="0" presId="urn:microsoft.com/office/officeart/2011/layout/HexagonRadial"/>
    <dgm:cxn modelId="{C3BB3C6C-A69C-4121-9502-4D250BF26BF1}" type="presOf" srcId="{CAFAF8D6-4D7A-4A73-A3CA-AA0EB3940399}" destId="{E465016E-A442-4BAB-9409-20AE0A149079}" srcOrd="0" destOrd="0" presId="urn:microsoft.com/office/officeart/2011/layout/HexagonRadial"/>
    <dgm:cxn modelId="{A4CF436C-E3D1-4F8E-8BF7-4FC0B36AFECE}" srcId="{1BA8091F-5854-4695-94D0-9D72A3439505}" destId="{78C0B931-F16A-468D-939B-1CE2E6CA73AB}" srcOrd="2" destOrd="0" parTransId="{089127FC-15AF-4BD2-99B1-06892FA67D9D}" sibTransId="{AD899001-8E22-4881-A1CA-88E18FF3715F}"/>
    <dgm:cxn modelId="{E1135783-3530-41CB-9540-6B12E996EB48}" type="presOf" srcId="{6E99857E-FA2E-4BBA-BEF2-F5AB8C8E3509}" destId="{10D79C5C-39F9-437A-9DE6-8EE8105EAFFB}" srcOrd="0" destOrd="0" presId="urn:microsoft.com/office/officeart/2011/layout/HexagonRadial"/>
    <dgm:cxn modelId="{C72DC286-E659-40D4-96B9-36675985ADE3}" srcId="{6D4EF2E9-863D-4C76-A433-52297ACB4C9E}" destId="{1BA8091F-5854-4695-94D0-9D72A3439505}" srcOrd="0" destOrd="0" parTransId="{C013BEA9-8EB4-4632-AB4B-837941923A36}" sibTransId="{4A6B7447-AC24-4968-86E1-C03D0F4E481F}"/>
    <dgm:cxn modelId="{1F12E08B-A41F-4DF8-8318-6E808C7BF841}" srcId="{1BA8091F-5854-4695-94D0-9D72A3439505}" destId="{6E99857E-FA2E-4BBA-BEF2-F5AB8C8E3509}" srcOrd="1" destOrd="0" parTransId="{F8BF65E3-10A1-4458-AA4F-16D4064A3D0F}" sibTransId="{C587EBC5-771C-493C-8B0A-5F35E560A5F0}"/>
    <dgm:cxn modelId="{1FDFC58C-8A91-4F93-877C-D3283B3A8001}" type="presOf" srcId="{62E65F82-1DFD-4C34-BCCD-A7F90DDCED09}" destId="{EC0A8A91-C95C-4829-8CF1-7B60663223D3}" srcOrd="0" destOrd="0" presId="urn:microsoft.com/office/officeart/2011/layout/HexagonRadial"/>
    <dgm:cxn modelId="{ECD85E95-1E5C-4F45-AD21-E29D57E86A4C}" srcId="{1BA8091F-5854-4695-94D0-9D72A3439505}" destId="{62E65F82-1DFD-4C34-BCCD-A7F90DDCED09}" srcOrd="4" destOrd="0" parTransId="{1D85B14D-15C4-4DB1-A543-6D9B3B5FFAA2}" sibTransId="{4196A4B5-AEBA-4772-BAA3-F58A737F487A}"/>
    <dgm:cxn modelId="{A6A9CB97-5078-40FE-8A54-C541CB5A7CAD}" srcId="{1BA8091F-5854-4695-94D0-9D72A3439505}" destId="{43F40F6A-350A-443E-9FC3-9B06A23D21A7}" srcOrd="5" destOrd="0" parTransId="{55DC66A2-EA23-45B2-A1C8-50A840FC3C8D}" sibTransId="{5E703AB5-430A-407F-99E5-DB4551E3A1D3}"/>
    <dgm:cxn modelId="{F8A403A5-07F6-48D7-866D-19E0FA2435CD}" type="presOf" srcId="{1BA8091F-5854-4695-94D0-9D72A3439505}" destId="{3024025F-5BF3-4DCC-89AD-F3BE5F4B8905}" srcOrd="0" destOrd="0" presId="urn:microsoft.com/office/officeart/2011/layout/HexagonRadial"/>
    <dgm:cxn modelId="{4B3842C2-FE5E-417A-BA3A-75F93EE17838}" srcId="{1BA8091F-5854-4695-94D0-9D72A3439505}" destId="{CAFAF8D6-4D7A-4A73-A3CA-AA0EB3940399}" srcOrd="0" destOrd="0" parTransId="{A8EF9CA8-20A3-444C-A019-5D577618ECDB}" sibTransId="{81F5757F-D171-4A0F-970A-F365462A0B30}"/>
    <dgm:cxn modelId="{205A5EF4-3F7F-40ED-AC92-5E41A9F405C6}" type="presOf" srcId="{DF0219BF-601D-401C-AF76-4DBE74E009B4}" destId="{59D3CFDB-AF80-4AE8-A30D-9D764B4A8A21}" srcOrd="0" destOrd="0" presId="urn:microsoft.com/office/officeart/2011/layout/HexagonRadial"/>
    <dgm:cxn modelId="{88FE36C0-0A95-4973-8728-F819D734AFA4}" type="presParOf" srcId="{157989E8-1BC9-4E66-A270-B03598D26556}" destId="{3024025F-5BF3-4DCC-89AD-F3BE5F4B8905}" srcOrd="0" destOrd="0" presId="urn:microsoft.com/office/officeart/2011/layout/HexagonRadial"/>
    <dgm:cxn modelId="{2148F134-4C6A-4FA9-900D-F82DEB91EF22}" type="presParOf" srcId="{157989E8-1BC9-4E66-A270-B03598D26556}" destId="{E87EFBB5-AB43-44FF-892C-BCB327D1B6BF}" srcOrd="1" destOrd="0" presId="urn:microsoft.com/office/officeart/2011/layout/HexagonRadial"/>
    <dgm:cxn modelId="{A1D7178B-DF5D-4ECC-B9B4-ED4A8AB32ED5}" type="presParOf" srcId="{E87EFBB5-AB43-44FF-892C-BCB327D1B6BF}" destId="{0DAB96F2-7B01-4C65-825F-B306B1BD08BD}" srcOrd="0" destOrd="0" presId="urn:microsoft.com/office/officeart/2011/layout/HexagonRadial"/>
    <dgm:cxn modelId="{0BE57060-D113-4EDE-A667-A4E28F36B6F2}" type="presParOf" srcId="{157989E8-1BC9-4E66-A270-B03598D26556}" destId="{E465016E-A442-4BAB-9409-20AE0A149079}" srcOrd="2" destOrd="0" presId="urn:microsoft.com/office/officeart/2011/layout/HexagonRadial"/>
    <dgm:cxn modelId="{253A8C7F-EE3B-4D1C-968A-1A737FAD2746}" type="presParOf" srcId="{157989E8-1BC9-4E66-A270-B03598D26556}" destId="{E3FE9285-7CA3-4B46-8730-3DD103FAA749}" srcOrd="3" destOrd="0" presId="urn:microsoft.com/office/officeart/2011/layout/HexagonRadial"/>
    <dgm:cxn modelId="{C291E7F0-EE6E-4731-9BD1-4A0641F96D0F}" type="presParOf" srcId="{E3FE9285-7CA3-4B46-8730-3DD103FAA749}" destId="{79A1F478-844B-413A-9388-19BDA2BDCE27}" srcOrd="0" destOrd="0" presId="urn:microsoft.com/office/officeart/2011/layout/HexagonRadial"/>
    <dgm:cxn modelId="{CF6E78D5-76E6-4E91-92DC-8D26EE10FC99}" type="presParOf" srcId="{157989E8-1BC9-4E66-A270-B03598D26556}" destId="{10D79C5C-39F9-437A-9DE6-8EE8105EAFFB}" srcOrd="4" destOrd="0" presId="urn:microsoft.com/office/officeart/2011/layout/HexagonRadial"/>
    <dgm:cxn modelId="{C9004FB1-A19F-4671-858B-B7EE600BA3CD}" type="presParOf" srcId="{157989E8-1BC9-4E66-A270-B03598D26556}" destId="{6015F892-8F20-4A62-B79E-8DB21C11D16C}" srcOrd="5" destOrd="0" presId="urn:microsoft.com/office/officeart/2011/layout/HexagonRadial"/>
    <dgm:cxn modelId="{E2D9E8CD-3C00-4A03-A637-DE5CF4889B31}" type="presParOf" srcId="{6015F892-8F20-4A62-B79E-8DB21C11D16C}" destId="{D8B485CE-22C7-4DF3-B238-DB44DCA0559C}" srcOrd="0" destOrd="0" presId="urn:microsoft.com/office/officeart/2011/layout/HexagonRadial"/>
    <dgm:cxn modelId="{BAF8D597-3BA4-4BB0-8C7D-FBD6C9205F83}" type="presParOf" srcId="{157989E8-1BC9-4E66-A270-B03598D26556}" destId="{774C34BA-6C41-4393-B500-C2F90EFF61C9}" srcOrd="6" destOrd="0" presId="urn:microsoft.com/office/officeart/2011/layout/HexagonRadial"/>
    <dgm:cxn modelId="{9B8487DA-710B-4F0A-9BE7-5D5F077CBD5E}" type="presParOf" srcId="{157989E8-1BC9-4E66-A270-B03598D26556}" destId="{EBE423C2-9680-427E-B175-E50718E9DD98}" srcOrd="7" destOrd="0" presId="urn:microsoft.com/office/officeart/2011/layout/HexagonRadial"/>
    <dgm:cxn modelId="{E3627CC4-8AB5-481E-B41F-1B7C9A23416A}" type="presParOf" srcId="{EBE423C2-9680-427E-B175-E50718E9DD98}" destId="{2F2B4F2C-CEB8-4419-AB93-EF14E0A9FEB1}" srcOrd="0" destOrd="0" presId="urn:microsoft.com/office/officeart/2011/layout/HexagonRadial"/>
    <dgm:cxn modelId="{054F8764-C1E8-4A62-8277-50739A9265D9}" type="presParOf" srcId="{157989E8-1BC9-4E66-A270-B03598D26556}" destId="{59D3CFDB-AF80-4AE8-A30D-9D764B4A8A21}" srcOrd="8" destOrd="0" presId="urn:microsoft.com/office/officeart/2011/layout/HexagonRadial"/>
    <dgm:cxn modelId="{36546D7C-B1DB-408E-9941-57704A1359E9}" type="presParOf" srcId="{157989E8-1BC9-4E66-A270-B03598D26556}" destId="{CA56AD00-16BE-4538-B59F-79F3C35D7B9F}" srcOrd="9" destOrd="0" presId="urn:microsoft.com/office/officeart/2011/layout/HexagonRadial"/>
    <dgm:cxn modelId="{A0F5851E-BB90-4D42-B980-4B9D64D45DAD}" type="presParOf" srcId="{CA56AD00-16BE-4538-B59F-79F3C35D7B9F}" destId="{2C8AF572-0F74-4595-8C1B-F6395CB6D38A}" srcOrd="0" destOrd="0" presId="urn:microsoft.com/office/officeart/2011/layout/HexagonRadial"/>
    <dgm:cxn modelId="{26035D48-AB28-4076-BAD1-33B1B3C00626}" type="presParOf" srcId="{157989E8-1BC9-4E66-A270-B03598D26556}" destId="{EC0A8A91-C95C-4829-8CF1-7B60663223D3}" srcOrd="10" destOrd="0" presId="urn:microsoft.com/office/officeart/2011/layout/HexagonRadial"/>
    <dgm:cxn modelId="{2CCF5CDB-7397-49D3-9A1C-14F4B40F1C45}" type="presParOf" srcId="{157989E8-1BC9-4E66-A270-B03598D26556}" destId="{89B481D4-5EFD-4F45-81EC-5907AC12F2C4}" srcOrd="11" destOrd="0" presId="urn:microsoft.com/office/officeart/2011/layout/HexagonRadial"/>
    <dgm:cxn modelId="{BA924B50-B346-48B4-A30E-22207BDAD882}" type="presParOf" srcId="{89B481D4-5EFD-4F45-81EC-5907AC12F2C4}" destId="{2BEEEFE4-F623-46CB-A605-E841B41574D4}" srcOrd="0" destOrd="0" presId="urn:microsoft.com/office/officeart/2011/layout/HexagonRadial"/>
    <dgm:cxn modelId="{8191DD08-B077-4A0E-85B6-6968C32F0071}" type="presParOf" srcId="{157989E8-1BC9-4E66-A270-B03598D26556}" destId="{321F5C16-3737-4113-8215-9F2655F24D87}"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6F3FE9-7FF8-47C7-B79E-EF811EDBF9B6}">
      <dsp:nvSpPr>
        <dsp:cNvPr id="0" name=""/>
        <dsp:cNvSpPr/>
      </dsp:nvSpPr>
      <dsp:spPr>
        <a:xfrm>
          <a:off x="0" y="97698"/>
          <a:ext cx="10843674" cy="76898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baseline="0" dirty="0">
              <a:effectLst>
                <a:outerShdw blurRad="38100" dist="38100" dir="2700000" algn="tl">
                  <a:srgbClr val="000000">
                    <a:alpha val="43137"/>
                  </a:srgbClr>
                </a:outerShdw>
              </a:effectLst>
            </a:rPr>
            <a:t>What is Strain Hardening?</a:t>
          </a:r>
          <a:endParaRPr lang="en-US" sz="2800" kern="1200" dirty="0">
            <a:effectLst>
              <a:outerShdw blurRad="38100" dist="38100" dir="2700000" algn="tl">
                <a:srgbClr val="000000">
                  <a:alpha val="43137"/>
                </a:srgbClr>
              </a:outerShdw>
            </a:effectLst>
          </a:endParaRPr>
        </a:p>
      </dsp:txBody>
      <dsp:txXfrm>
        <a:off x="37539" y="135237"/>
        <a:ext cx="10768596" cy="693908"/>
      </dsp:txXfrm>
    </dsp:sp>
    <dsp:sp modelId="{2EF81586-A8AA-4917-970F-355051014679}">
      <dsp:nvSpPr>
        <dsp:cNvPr id="0" name=""/>
        <dsp:cNvSpPr/>
      </dsp:nvSpPr>
      <dsp:spPr>
        <a:xfrm>
          <a:off x="0" y="869120"/>
          <a:ext cx="10843674" cy="82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4287" tIns="6350" rIns="35560" bIns="6350" numCol="1" spcCol="1270" anchor="t" anchorCtr="0">
          <a:noAutofit/>
        </a:bodyPr>
        <a:lstStyle/>
        <a:p>
          <a:pPr marL="57150" lvl="1" indent="-57150" algn="l" defTabSz="177800">
            <a:lnSpc>
              <a:spcPct val="90000"/>
            </a:lnSpc>
            <a:spcBef>
              <a:spcPct val="0"/>
            </a:spcBef>
            <a:spcAft>
              <a:spcPct val="20000"/>
            </a:spcAft>
            <a:buChar char="•"/>
          </a:pPr>
          <a:endParaRPr lang="en-US" sz="400" kern="1200" dirty="0"/>
        </a:p>
      </dsp:txBody>
      <dsp:txXfrm>
        <a:off x="0" y="869120"/>
        <a:ext cx="10843674" cy="827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6F3FE9-7FF8-47C7-B79E-EF811EDBF9B6}">
      <dsp:nvSpPr>
        <dsp:cNvPr id="0" name=""/>
        <dsp:cNvSpPr/>
      </dsp:nvSpPr>
      <dsp:spPr>
        <a:xfrm>
          <a:off x="0" y="0"/>
          <a:ext cx="10843674" cy="76823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0800" dist="38100" dir="5400000" algn="t"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baseline="0" dirty="0">
              <a:effectLst>
                <a:outerShdw blurRad="38100" dist="38100" dir="2700000" algn="tl">
                  <a:srgbClr val="000000">
                    <a:alpha val="43137"/>
                  </a:srgbClr>
                </a:outerShdw>
              </a:effectLst>
            </a:rPr>
            <a:t>Strain Hardening Fundamentals</a:t>
          </a:r>
          <a:endParaRPr lang="en-US" sz="2800" kern="1200" dirty="0">
            <a:effectLst>
              <a:outerShdw blurRad="38100" dist="38100" dir="2700000" algn="tl">
                <a:srgbClr val="000000">
                  <a:alpha val="43137"/>
                </a:srgbClr>
              </a:outerShdw>
            </a:effectLst>
          </a:endParaRPr>
        </a:p>
      </dsp:txBody>
      <dsp:txXfrm>
        <a:off x="37502" y="37502"/>
        <a:ext cx="10768670" cy="693230"/>
      </dsp:txXfrm>
    </dsp:sp>
    <dsp:sp modelId="{2EF81586-A8AA-4917-970F-355051014679}">
      <dsp:nvSpPr>
        <dsp:cNvPr id="0" name=""/>
        <dsp:cNvSpPr/>
      </dsp:nvSpPr>
      <dsp:spPr>
        <a:xfrm>
          <a:off x="0" y="768452"/>
          <a:ext cx="10843674" cy="82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4287" tIns="6350" rIns="35560" bIns="6350" numCol="1" spcCol="1270" anchor="t" anchorCtr="0">
          <a:noAutofit/>
        </a:bodyPr>
        <a:lstStyle/>
        <a:p>
          <a:pPr marL="57150" lvl="1" indent="-57150" algn="l" defTabSz="177800">
            <a:lnSpc>
              <a:spcPct val="90000"/>
            </a:lnSpc>
            <a:spcBef>
              <a:spcPct val="0"/>
            </a:spcBef>
            <a:spcAft>
              <a:spcPct val="20000"/>
            </a:spcAft>
            <a:buChar char="•"/>
          </a:pPr>
          <a:endParaRPr lang="en-US" sz="400" kern="1200" dirty="0"/>
        </a:p>
      </dsp:txBody>
      <dsp:txXfrm>
        <a:off x="0" y="768452"/>
        <a:ext cx="10843674" cy="826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6F3FE9-7FF8-47C7-B79E-EF811EDBF9B6}">
      <dsp:nvSpPr>
        <dsp:cNvPr id="0" name=""/>
        <dsp:cNvSpPr/>
      </dsp:nvSpPr>
      <dsp:spPr>
        <a:xfrm>
          <a:off x="0" y="0"/>
          <a:ext cx="10843674" cy="768986"/>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baseline="0" dirty="0">
              <a:effectLst>
                <a:outerShdw blurRad="38100" dist="38100" dir="2700000" algn="tl">
                  <a:srgbClr val="000000">
                    <a:alpha val="43137"/>
                  </a:srgbClr>
                </a:outerShdw>
              </a:effectLst>
            </a:rPr>
            <a:t>Parameter identification (calibration)</a:t>
          </a:r>
          <a:endParaRPr lang="en-US" sz="2800" kern="1200" dirty="0">
            <a:effectLst>
              <a:outerShdw blurRad="38100" dist="38100" dir="2700000" algn="tl">
                <a:srgbClr val="000000">
                  <a:alpha val="43137"/>
                </a:srgbClr>
              </a:outerShdw>
            </a:effectLst>
          </a:endParaRPr>
        </a:p>
      </dsp:txBody>
      <dsp:txXfrm>
        <a:off x="37539" y="37539"/>
        <a:ext cx="10768596" cy="693908"/>
      </dsp:txXfrm>
    </dsp:sp>
    <dsp:sp modelId="{2EF81586-A8AA-4917-970F-355051014679}">
      <dsp:nvSpPr>
        <dsp:cNvPr id="0" name=""/>
        <dsp:cNvSpPr/>
      </dsp:nvSpPr>
      <dsp:spPr>
        <a:xfrm>
          <a:off x="0" y="869120"/>
          <a:ext cx="10843674" cy="82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4287" tIns="6350" rIns="35560" bIns="6350" numCol="1" spcCol="1270" anchor="t" anchorCtr="0">
          <a:noAutofit/>
        </a:bodyPr>
        <a:lstStyle/>
        <a:p>
          <a:pPr marL="57150" lvl="1" indent="-57150" algn="l" defTabSz="177800">
            <a:lnSpc>
              <a:spcPct val="90000"/>
            </a:lnSpc>
            <a:spcBef>
              <a:spcPct val="0"/>
            </a:spcBef>
            <a:spcAft>
              <a:spcPct val="20000"/>
            </a:spcAft>
            <a:buChar char="•"/>
          </a:pPr>
          <a:endParaRPr lang="en-US" sz="400" kern="1200" dirty="0"/>
        </a:p>
      </dsp:txBody>
      <dsp:txXfrm>
        <a:off x="0" y="869120"/>
        <a:ext cx="10843674" cy="827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ABDA8C-88E0-4E30-AD47-7BE37D0F337F}">
      <dsp:nvSpPr>
        <dsp:cNvPr id="0" name=""/>
        <dsp:cNvSpPr/>
      </dsp:nvSpPr>
      <dsp:spPr>
        <a:xfrm>
          <a:off x="2559252" y="2043"/>
          <a:ext cx="6230039" cy="15674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0" i="0" kern="1200" baseline="0" dirty="0">
              <a:effectLst>
                <a:outerShdw blurRad="38100" dist="38100" dir="2700000" algn="tl">
                  <a:srgbClr val="000000">
                    <a:alpha val="43137"/>
                  </a:srgbClr>
                </a:outerShdw>
              </a:effectLst>
            </a:rPr>
            <a:t>Identify suitable constitutive models for monotonic and cyclic behavior of 50CrMo4.</a:t>
          </a:r>
          <a:endParaRPr lang="en-US" sz="2900" kern="1200" dirty="0">
            <a:effectLst>
              <a:outerShdw blurRad="38100" dist="38100" dir="2700000" algn="tl">
                <a:srgbClr val="000000">
                  <a:alpha val="43137"/>
                </a:srgbClr>
              </a:outerShdw>
            </a:effectLst>
          </a:endParaRPr>
        </a:p>
      </dsp:txBody>
      <dsp:txXfrm>
        <a:off x="2559252" y="2043"/>
        <a:ext cx="6230039" cy="1567496"/>
      </dsp:txXfrm>
    </dsp:sp>
    <dsp:sp modelId="{40A49AD7-8641-493C-924B-8E2CFD01503C}">
      <dsp:nvSpPr>
        <dsp:cNvPr id="0" name=""/>
        <dsp:cNvSpPr/>
      </dsp:nvSpPr>
      <dsp:spPr>
        <a:xfrm>
          <a:off x="893657" y="2043"/>
          <a:ext cx="1551821" cy="1567496"/>
        </a:xfrm>
        <a:prstGeom prst="rect">
          <a:avLst/>
        </a:prstGeom>
        <a:blipFill rotWithShape="1">
          <a:blip xmlns:r="http://schemas.openxmlformats.org/officeDocument/2006/relationships" r:embed="rId1"/>
          <a:srcRect/>
          <a:stretch>
            <a:fillRect l="-1000" r="-1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4F760F8-C716-4946-879C-7759457974D9}">
      <dsp:nvSpPr>
        <dsp:cNvPr id="0" name=""/>
        <dsp:cNvSpPr/>
      </dsp:nvSpPr>
      <dsp:spPr>
        <a:xfrm>
          <a:off x="835439" y="1819132"/>
          <a:ext cx="6828433" cy="15674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baseline="0" dirty="0">
              <a:effectLst>
                <a:outerShdw blurRad="38100" dist="38100" dir="2700000" algn="tl">
                  <a:srgbClr val="000000">
                    <a:alpha val="43137"/>
                  </a:srgbClr>
                </a:outerShdw>
              </a:effectLst>
            </a:rPr>
            <a:t>Calibrate model parameters using optimization algorithms (e.g., LSM).</a:t>
          </a:r>
          <a:r>
            <a:rPr lang="en-US" sz="2800" kern="1200" dirty="0">
              <a:effectLst>
                <a:outerShdw blurRad="38100" dist="38100" dir="2700000" algn="tl">
                  <a:srgbClr val="000000">
                    <a:alpha val="43137"/>
                  </a:srgbClr>
                </a:outerShdw>
              </a:effectLst>
            </a:rPr>
            <a:t> </a:t>
          </a:r>
        </a:p>
      </dsp:txBody>
      <dsp:txXfrm>
        <a:off x="835439" y="1819132"/>
        <a:ext cx="6828433" cy="1567496"/>
      </dsp:txXfrm>
    </dsp:sp>
    <dsp:sp modelId="{E8CFB239-675F-4FD1-9690-1F6161003E80}">
      <dsp:nvSpPr>
        <dsp:cNvPr id="0" name=""/>
        <dsp:cNvSpPr/>
      </dsp:nvSpPr>
      <dsp:spPr>
        <a:xfrm>
          <a:off x="7531930" y="1810072"/>
          <a:ext cx="1551821" cy="1567496"/>
        </a:xfrm>
        <a:prstGeom prst="rect">
          <a:avLst/>
        </a:prstGeom>
        <a:blipFill rotWithShape="1">
          <a:blip xmlns:r="http://schemas.openxmlformats.org/officeDocument/2006/relationships" r:embed="rId2"/>
          <a:srcRect/>
          <a:stretch>
            <a:fillRect l="-8000" r="-8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49CE003-F848-43BF-BE89-AF7F5FCA1074}">
      <dsp:nvSpPr>
        <dsp:cNvPr id="0" name=""/>
        <dsp:cNvSpPr/>
      </dsp:nvSpPr>
      <dsp:spPr>
        <a:xfrm>
          <a:off x="2536456" y="3654310"/>
          <a:ext cx="6260433" cy="156749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baseline="0" dirty="0">
              <a:effectLst>
                <a:outerShdw blurRad="38100" dist="38100" dir="2700000" algn="tl">
                  <a:srgbClr val="000000">
                    <a:alpha val="43137"/>
                  </a:srgbClr>
                </a:outerShdw>
              </a:effectLst>
            </a:rPr>
            <a:t>Validate model performance using ABAQUS simulations and experimental data.</a:t>
          </a:r>
          <a:endParaRPr lang="en-US" sz="2800" kern="1200" dirty="0">
            <a:effectLst>
              <a:outerShdw blurRad="38100" dist="38100" dir="2700000" algn="tl">
                <a:srgbClr val="000000">
                  <a:alpha val="43137"/>
                </a:srgbClr>
              </a:outerShdw>
            </a:effectLst>
          </a:endParaRPr>
        </a:p>
      </dsp:txBody>
      <dsp:txXfrm>
        <a:off x="2536456" y="3654310"/>
        <a:ext cx="6260433" cy="1567496"/>
      </dsp:txXfrm>
    </dsp:sp>
    <dsp:sp modelId="{0047B9D9-0952-4536-A7A7-DE7D03E67F1F}">
      <dsp:nvSpPr>
        <dsp:cNvPr id="0" name=""/>
        <dsp:cNvSpPr/>
      </dsp:nvSpPr>
      <dsp:spPr>
        <a:xfrm>
          <a:off x="895944" y="3656353"/>
          <a:ext cx="1551821" cy="1567496"/>
        </a:xfrm>
        <a:prstGeom prst="rect">
          <a:avLst/>
        </a:prstGeom>
        <a:blipFill rotWithShape="1">
          <a:blip xmlns:r="http://schemas.openxmlformats.org/officeDocument/2006/relationships" r:embed="rId3"/>
          <a:srcRect/>
          <a:stretch>
            <a:fillRect l="-8000" r="-8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C3816-44C0-4328-951B-BE0382AC9178}">
      <dsp:nvSpPr>
        <dsp:cNvPr id="0" name=""/>
        <dsp:cNvSpPr/>
      </dsp:nvSpPr>
      <dsp:spPr>
        <a:xfrm>
          <a:off x="0" y="30446"/>
          <a:ext cx="11677650" cy="58032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effectLst>
                <a:outerShdw blurRad="38100" dist="38100" dir="2700000" algn="tl">
                  <a:srgbClr val="000000">
                    <a:alpha val="43137"/>
                  </a:srgbClr>
                </a:outerShdw>
              </a:effectLst>
            </a:rPr>
            <a:t>Monotonic Loading</a:t>
          </a:r>
          <a:endParaRPr lang="en-US" sz="2400" kern="1200" dirty="0">
            <a:effectLst>
              <a:outerShdw blurRad="38100" dist="38100" dir="2700000" algn="tl">
                <a:srgbClr val="000000">
                  <a:alpha val="43137"/>
                </a:srgbClr>
              </a:outerShdw>
            </a:effectLst>
          </a:endParaRPr>
        </a:p>
      </dsp:txBody>
      <dsp:txXfrm>
        <a:off x="28329" y="58775"/>
        <a:ext cx="11620992" cy="523662"/>
      </dsp:txXfrm>
    </dsp:sp>
    <dsp:sp modelId="{5EF16383-B3EE-42F0-A1C1-72346914A364}">
      <dsp:nvSpPr>
        <dsp:cNvPr id="0" name=""/>
        <dsp:cNvSpPr/>
      </dsp:nvSpPr>
      <dsp:spPr>
        <a:xfrm>
          <a:off x="0" y="582190"/>
          <a:ext cx="11677650" cy="132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0765" tIns="22860" rIns="128016" bIns="22860" numCol="1" spcCol="1270" anchor="t" anchorCtr="0">
          <a:noAutofit/>
        </a:bodyPr>
        <a:lstStyle/>
        <a:p>
          <a:pPr marL="171450" lvl="1" indent="-171450" algn="l" defTabSz="800100">
            <a:lnSpc>
              <a:spcPct val="90000"/>
            </a:lnSpc>
            <a:spcBef>
              <a:spcPct val="0"/>
            </a:spcBef>
            <a:spcAft>
              <a:spcPct val="20000"/>
            </a:spcAft>
            <a:buChar char="•"/>
          </a:pPr>
          <a:endParaRPr lang="en-US" sz="1800" kern="1200" dirty="0"/>
        </a:p>
      </dsp:txBody>
      <dsp:txXfrm>
        <a:off x="0" y="582190"/>
        <a:ext cx="11677650" cy="132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75DCC-D325-462A-B140-9CA7F38857A8}">
      <dsp:nvSpPr>
        <dsp:cNvPr id="0" name=""/>
        <dsp:cNvSpPr/>
      </dsp:nvSpPr>
      <dsp:spPr>
        <a:xfrm>
          <a:off x="2604" y="23101"/>
          <a:ext cx="1775695" cy="119393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effectLst>
                <a:outerShdw blurRad="38100" dist="38100" dir="2700000" algn="tl">
                  <a:srgbClr val="000000">
                    <a:alpha val="43137"/>
                  </a:srgbClr>
                </a:outerShdw>
              </a:effectLst>
            </a:rPr>
            <a:t>Elastic Region Analysis</a:t>
          </a:r>
        </a:p>
      </dsp:txBody>
      <dsp:txXfrm>
        <a:off x="2604" y="23101"/>
        <a:ext cx="1775695" cy="795954"/>
      </dsp:txXfrm>
    </dsp:sp>
    <dsp:sp modelId="{9A6B741F-139D-44C8-97B8-71D39CBC807F}">
      <dsp:nvSpPr>
        <dsp:cNvPr id="0" name=""/>
        <dsp:cNvSpPr/>
      </dsp:nvSpPr>
      <dsp:spPr>
        <a:xfrm>
          <a:off x="232152" y="990897"/>
          <a:ext cx="1956622" cy="23086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endParaRPr lang="en-US" sz="1300" kern="1200" dirty="0">
            <a:effectLst/>
          </a:endParaRP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effectLst/>
            </a:rPr>
            <a:t>Determine elastic region</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effectLst/>
            </a:rPr>
            <a:t>Determine Elastic Modulus from linear fit</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effectLst/>
            </a:rPr>
            <a:t>Construct 0.2% Offset</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effectLst/>
            </a:rPr>
            <a:t>Determine initial yield point </a:t>
          </a:r>
          <a14:m xmlns:a14="http://schemas.microsoft.com/office/drawing/2010/main">
            <m:oMath xmlns:m="http://schemas.openxmlformats.org/officeDocument/2006/math">
              <m:sSub>
                <m:sSubPr>
                  <m:ctrlPr>
                    <a:rPr lang="en-US" sz="1300" b="0" i="1" kern="1200" smtClean="0">
                      <a:effectLst/>
                      <a:latin typeface="Cambria Math" panose="02040503050406030204" pitchFamily="18" charset="0"/>
                    </a:rPr>
                  </m:ctrlPr>
                </m:sSubPr>
                <m:e>
                  <m:r>
                    <a:rPr lang="en-US" sz="1300" b="0" i="1" kern="1200" smtClean="0">
                      <a:effectLst/>
                      <a:latin typeface="Cambria Math" panose="02040503050406030204" pitchFamily="18" charset="0"/>
                    </a:rPr>
                    <m:t>𝜎</m:t>
                  </m:r>
                </m:e>
                <m:sub>
                  <m:r>
                    <a:rPr lang="en-US" sz="1300" b="0" i="1" kern="1200" smtClean="0">
                      <a:effectLst/>
                      <a:latin typeface="Cambria Math" panose="02040503050406030204" pitchFamily="18" charset="0"/>
                    </a:rPr>
                    <m:t>𝑦𝑜</m:t>
                  </m:r>
                </m:sub>
              </m:sSub>
            </m:oMath>
          </a14:m>
          <a:endParaRPr lang="en-US" sz="1300" kern="1200" dirty="0">
            <a:effectLst/>
          </a:endParaRPr>
        </a:p>
      </dsp:txBody>
      <dsp:txXfrm>
        <a:off x="289460" y="1048205"/>
        <a:ext cx="1842006" cy="2194006"/>
      </dsp:txXfrm>
    </dsp:sp>
    <dsp:sp modelId="{B185C491-AAFD-4539-8AA2-1A6080415B83}">
      <dsp:nvSpPr>
        <dsp:cNvPr id="0" name=""/>
        <dsp:cNvSpPr/>
      </dsp:nvSpPr>
      <dsp:spPr>
        <a:xfrm rot="15317">
          <a:off x="2017496" y="324178"/>
          <a:ext cx="507107" cy="3889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017497" y="401717"/>
        <a:ext cx="390409" cy="233397"/>
      </dsp:txXfrm>
    </dsp:sp>
    <dsp:sp modelId="{92EB4EA1-43BC-4250-A98D-20FB5FDB1501}">
      <dsp:nvSpPr>
        <dsp:cNvPr id="0" name=""/>
        <dsp:cNvSpPr/>
      </dsp:nvSpPr>
      <dsp:spPr>
        <a:xfrm>
          <a:off x="2735097" y="0"/>
          <a:ext cx="1824317" cy="13000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endParaRPr lang="en-US" sz="1600" kern="1200" dirty="0">
            <a:effectLst>
              <a:outerShdw blurRad="38100" dist="38100" dir="2700000" algn="tl">
                <a:srgbClr val="000000">
                  <a:alpha val="43137"/>
                </a:srgbClr>
              </a:outerShdw>
            </a:effectLst>
          </a:endParaRPr>
        </a:p>
      </dsp:txBody>
      <dsp:txXfrm>
        <a:off x="2735097" y="0"/>
        <a:ext cx="1824317" cy="866725"/>
      </dsp:txXfrm>
    </dsp:sp>
    <dsp:sp modelId="{6944E515-E165-4E05-BA41-AD6FCF47BB30}">
      <dsp:nvSpPr>
        <dsp:cNvPr id="0" name=""/>
        <dsp:cNvSpPr/>
      </dsp:nvSpPr>
      <dsp:spPr>
        <a:xfrm>
          <a:off x="3022605" y="973570"/>
          <a:ext cx="2056710" cy="227103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effectLst/>
              <a:latin typeface="+mn-lt"/>
            </a:rPr>
            <a:t>Determine </a:t>
          </a:r>
          <a14:m xmlns:a14="http://schemas.microsoft.com/office/drawing/2010/main">
            <m:oMath xmlns:m="http://schemas.openxmlformats.org/officeDocument/2006/math">
              <m:r>
                <a:rPr lang="en-US" sz="1300" b="0" i="1" kern="1200" smtClean="0">
                  <a:effectLst/>
                  <a:latin typeface="Cambria Math" panose="02040503050406030204" pitchFamily="18" charset="0"/>
                </a:rPr>
                <m:t>𝐾</m:t>
              </m:r>
              <m:r>
                <a:rPr lang="en-US" sz="1300" b="0" i="1" kern="1200" smtClean="0">
                  <a:effectLst/>
                  <a:latin typeface="Cambria Math" panose="02040503050406030204" pitchFamily="18" charset="0"/>
                </a:rPr>
                <m:t> </m:t>
              </m:r>
              <m:r>
                <a:rPr lang="en-US" sz="1300" b="0" i="1" kern="1200" smtClean="0">
                  <a:effectLst/>
                  <a:latin typeface="Cambria Math" panose="02040503050406030204" pitchFamily="18" charset="0"/>
                </a:rPr>
                <m:t>𝑎𝑛𝑑</m:t>
              </m:r>
              <m:r>
                <a:rPr lang="en-US" sz="1300" b="0" i="1" kern="1200" smtClean="0">
                  <a:effectLst/>
                  <a:latin typeface="Cambria Math" panose="02040503050406030204" pitchFamily="18" charset="0"/>
                </a:rPr>
                <m:t> </m:t>
              </m:r>
              <m:r>
                <a:rPr lang="en-US" sz="1300" b="0" i="1" kern="1200" smtClean="0">
                  <a:effectLst/>
                  <a:latin typeface="Cambria Math" panose="02040503050406030204" pitchFamily="18" charset="0"/>
                </a:rPr>
                <m:t>𝑛</m:t>
              </m:r>
            </m:oMath>
          </a14:m>
          <a:r>
            <a:rPr lang="en-US" sz="1300" kern="1200" dirty="0">
              <a:effectLst/>
              <a:latin typeface="+mn-lt"/>
            </a:rPr>
            <a:t> for Hollomon, Ludwik and Ramberg-Osgood</a:t>
          </a:r>
        </a:p>
        <a:p>
          <a:pPr marL="114300" lvl="1" indent="-114300" algn="l" defTabSz="577850">
            <a:lnSpc>
              <a:spcPct val="90000"/>
            </a:lnSpc>
            <a:spcBef>
              <a:spcPct val="0"/>
            </a:spcBef>
            <a:spcAft>
              <a:spcPct val="15000"/>
            </a:spcAft>
            <a:buChar char="•"/>
          </a:pPr>
          <a:r>
            <a:rPr lang="en-US" sz="1300" kern="1200" dirty="0">
              <a:effectLst/>
              <a:latin typeface="+mn-lt"/>
            </a:rPr>
            <a:t>Determine </a:t>
          </a:r>
          <a14:m xmlns:a14="http://schemas.microsoft.com/office/drawing/2010/main">
            <m:oMath xmlns:m="http://schemas.openxmlformats.org/officeDocument/2006/math">
              <m:sSub>
                <m:sSubPr>
                  <m:ctrlPr>
                    <a:rPr lang="en-US" sz="1300" b="0" i="1" kern="1200" smtClean="0">
                      <a:effectLst/>
                      <a:latin typeface="Cambria Math" panose="02040503050406030204" pitchFamily="18" charset="0"/>
                      <a:ea typeface="Cambria Math" panose="02040503050406030204" pitchFamily="18" charset="0"/>
                    </a:rPr>
                  </m:ctrlPr>
                </m:sSubPr>
                <m:e>
                  <m:r>
                    <a:rPr lang="en-US" sz="1300" i="1" kern="1200" smtClean="0">
                      <a:effectLst/>
                      <a:latin typeface="Cambria Math" panose="02040503050406030204" pitchFamily="18" charset="0"/>
                      <a:ea typeface="Cambria Math" panose="02040503050406030204" pitchFamily="18" charset="0"/>
                    </a:rPr>
                    <m:t>𝜀</m:t>
                  </m:r>
                </m:e>
                <m:sub>
                  <m:r>
                    <a:rPr lang="en-US" sz="1300" b="0" i="1" kern="1200" smtClean="0">
                      <a:effectLst/>
                      <a:latin typeface="Cambria Math" panose="02040503050406030204" pitchFamily="18" charset="0"/>
                      <a:ea typeface="Cambria Math" panose="02040503050406030204" pitchFamily="18" charset="0"/>
                    </a:rPr>
                    <m:t>0</m:t>
                  </m:r>
                </m:sub>
              </m:sSub>
              <m:r>
                <a:rPr lang="en-US" sz="1300" b="0" i="1" kern="1200" smtClean="0">
                  <a:effectLst/>
                  <a:latin typeface="Cambria Math" panose="02040503050406030204" pitchFamily="18" charset="0"/>
                  <a:ea typeface="Cambria Math" panose="02040503050406030204" pitchFamily="18" charset="0"/>
                </a:rPr>
                <m:t>, </m:t>
              </m:r>
              <m:r>
                <a:rPr lang="en-US" sz="1300" b="0" i="1" kern="1200" smtClean="0">
                  <a:effectLst/>
                  <a:latin typeface="Cambria Math" panose="02040503050406030204" pitchFamily="18" charset="0"/>
                  <a:ea typeface="Cambria Math" panose="02040503050406030204" pitchFamily="18" charset="0"/>
                </a:rPr>
                <m:t>𝐾</m:t>
              </m:r>
              <m:r>
                <a:rPr lang="en-US" sz="1300" b="0" i="1" kern="1200" smtClean="0">
                  <a:effectLst/>
                  <a:latin typeface="Cambria Math" panose="02040503050406030204" pitchFamily="18" charset="0"/>
                  <a:ea typeface="Cambria Math" panose="02040503050406030204" pitchFamily="18" charset="0"/>
                </a:rPr>
                <m:t>,</m:t>
              </m:r>
              <m:r>
                <a:rPr lang="en-US" sz="1300" b="0" i="1" kern="1200" smtClean="0">
                  <a:effectLst/>
                  <a:latin typeface="Cambria Math" panose="02040503050406030204" pitchFamily="18" charset="0"/>
                  <a:ea typeface="Cambria Math" panose="02040503050406030204" pitchFamily="18" charset="0"/>
                </a:rPr>
                <m:t>𝑛</m:t>
              </m:r>
            </m:oMath>
          </a14:m>
          <a:r>
            <a:rPr lang="en-US" sz="1300" kern="1200" dirty="0">
              <a:effectLst/>
              <a:latin typeface="+mn-lt"/>
            </a:rPr>
            <a:t> for swift</a:t>
          </a:r>
        </a:p>
        <a:p>
          <a:pPr marL="114300" lvl="1" indent="-114300" algn="l" defTabSz="577850">
            <a:lnSpc>
              <a:spcPct val="90000"/>
            </a:lnSpc>
            <a:spcBef>
              <a:spcPct val="0"/>
            </a:spcBef>
            <a:spcAft>
              <a:spcPct val="15000"/>
            </a:spcAft>
            <a:buChar char="•"/>
          </a:pPr>
          <a:r>
            <a:rPr lang="en-US" sz="1300" kern="1200" dirty="0">
              <a:effectLst/>
              <a:latin typeface="+mn-lt"/>
            </a:rPr>
            <a:t>Determine </a:t>
          </a:r>
          <a14:m xmlns:a14="http://schemas.microsoft.com/office/drawing/2010/main">
            <m:oMath xmlns:m="http://schemas.openxmlformats.org/officeDocument/2006/math">
              <m:sSub>
                <m:sSubPr>
                  <m:ctrlPr>
                    <a:rPr lang="en-US" sz="1300" b="0" i="1" kern="1200" smtClean="0">
                      <a:effectLst/>
                      <a:latin typeface="Cambria Math" panose="02040503050406030204" pitchFamily="18" charset="0"/>
                    </a:rPr>
                  </m:ctrlPr>
                </m:sSubPr>
                <m:e>
                  <m:r>
                    <a:rPr lang="en-US" sz="1300" b="0" i="1" kern="1200" smtClean="0">
                      <a:effectLst/>
                      <a:latin typeface="Cambria Math" panose="02040503050406030204" pitchFamily="18" charset="0"/>
                    </a:rPr>
                    <m:t>𝜎</m:t>
                  </m:r>
                </m:e>
                <m:sub>
                  <m:r>
                    <a:rPr lang="en-US" sz="1300" b="0" i="1" kern="1200" smtClean="0">
                      <a:effectLst/>
                      <a:latin typeface="Cambria Math" panose="02040503050406030204" pitchFamily="18" charset="0"/>
                    </a:rPr>
                    <m:t>𝑠</m:t>
                  </m:r>
                </m:sub>
              </m:sSub>
              <m:r>
                <a:rPr lang="en-US" sz="1300" b="0" i="1" kern="1200" smtClean="0">
                  <a:effectLst/>
                  <a:latin typeface="Cambria Math" panose="02040503050406030204" pitchFamily="18" charset="0"/>
                </a:rPr>
                <m:t> </m:t>
              </m:r>
              <m:r>
                <a:rPr lang="en-US" sz="1300" b="0" i="1" kern="1200" smtClean="0">
                  <a:effectLst/>
                  <a:latin typeface="Cambria Math" panose="02040503050406030204" pitchFamily="18" charset="0"/>
                </a:rPr>
                <m:t>𝑎𝑛𝑑</m:t>
              </m:r>
              <m:r>
                <a:rPr lang="en-US" sz="1300" b="0" i="1" kern="1200" smtClean="0">
                  <a:effectLst/>
                  <a:latin typeface="Cambria Math" panose="02040503050406030204" pitchFamily="18" charset="0"/>
                </a:rPr>
                <m:t> </m:t>
              </m:r>
              <m:r>
                <a:rPr lang="en-US" sz="1300" b="0" i="1" kern="1200" smtClean="0">
                  <a:effectLst/>
                  <a:latin typeface="Cambria Math" panose="02040503050406030204" pitchFamily="18" charset="0"/>
                </a:rPr>
                <m:t>𝛽</m:t>
              </m:r>
            </m:oMath>
          </a14:m>
          <a:r>
            <a:rPr lang="en-US" sz="1300" kern="1200" dirty="0">
              <a:effectLst/>
              <a:latin typeface="+mn-lt"/>
            </a:rPr>
            <a:t> for Voce</a:t>
          </a:r>
        </a:p>
        <a:p>
          <a:pPr marL="114300" lvl="1" indent="-114300" algn="l" defTabSz="577850">
            <a:lnSpc>
              <a:spcPct val="90000"/>
            </a:lnSpc>
            <a:spcBef>
              <a:spcPct val="0"/>
            </a:spcBef>
            <a:spcAft>
              <a:spcPct val="15000"/>
            </a:spcAft>
            <a:buChar char="•"/>
          </a:pPr>
          <a:r>
            <a:rPr lang="en-US" sz="1300" kern="1200" dirty="0">
              <a:effectLst/>
              <a:latin typeface="+mn-lt"/>
            </a:rPr>
            <a:t>Determine </a:t>
          </a:r>
          <a14:m xmlns:a14="http://schemas.microsoft.com/office/drawing/2010/main">
            <m:oMath xmlns:m="http://schemas.openxmlformats.org/officeDocument/2006/math">
              <m:sSub>
                <m:sSubPr>
                  <m:ctrlPr>
                    <a:rPr lang="en-US" sz="1300" b="0" i="1" kern="1200" smtClean="0">
                      <a:effectLst/>
                      <a:latin typeface="Cambria Math" panose="02040503050406030204" pitchFamily="18" charset="0"/>
                    </a:rPr>
                  </m:ctrlPr>
                </m:sSubPr>
                <m:e>
                  <m:r>
                    <a:rPr lang="en-US" sz="1300" b="0" i="1" kern="1200" smtClean="0">
                      <a:effectLst/>
                      <a:latin typeface="Cambria Math" panose="02040503050406030204" pitchFamily="18" charset="0"/>
                    </a:rPr>
                    <m:t>𝜎</m:t>
                  </m:r>
                </m:e>
                <m:sub>
                  <m:r>
                    <a:rPr lang="en-US" sz="1300" b="0" i="1" kern="1200" smtClean="0">
                      <a:effectLst/>
                      <a:latin typeface="Cambria Math" panose="02040503050406030204" pitchFamily="18" charset="0"/>
                    </a:rPr>
                    <m:t>𝑠</m:t>
                  </m:r>
                </m:sub>
              </m:sSub>
              <m:r>
                <a:rPr lang="en-US" sz="1300" b="0" i="1" kern="1200" smtClean="0">
                  <a:effectLst/>
                  <a:latin typeface="Cambria Math" panose="02040503050406030204" pitchFamily="18" charset="0"/>
                  <a:ea typeface="Cambria Math" panose="02040503050406030204" pitchFamily="18" charset="0"/>
                </a:rPr>
                <m:t>, </m:t>
              </m:r>
              <m:r>
                <a:rPr lang="en-US" sz="1300" b="0" i="1" kern="1200" smtClean="0">
                  <a:effectLst/>
                  <a:latin typeface="Cambria Math" panose="02040503050406030204" pitchFamily="18" charset="0"/>
                  <a:ea typeface="Cambria Math" panose="02040503050406030204" pitchFamily="18" charset="0"/>
                </a:rPr>
                <m:t>𝑚</m:t>
              </m:r>
              <m:r>
                <a:rPr lang="en-US" sz="1300" b="0" i="1" kern="1200" smtClean="0">
                  <a:effectLst/>
                  <a:latin typeface="Cambria Math" panose="02040503050406030204" pitchFamily="18" charset="0"/>
                  <a:ea typeface="Cambria Math" panose="02040503050406030204" pitchFamily="18" charset="0"/>
                </a:rPr>
                <m:t> </m:t>
              </m:r>
              <m:r>
                <a:rPr lang="en-US" sz="1300" b="0" i="1" kern="1200" smtClean="0">
                  <a:effectLst/>
                  <a:latin typeface="Cambria Math" panose="02040503050406030204" pitchFamily="18" charset="0"/>
                  <a:ea typeface="Cambria Math" panose="02040503050406030204" pitchFamily="18" charset="0"/>
                </a:rPr>
                <m:t>𝑎𝑛𝑑</m:t>
              </m:r>
              <m:r>
                <a:rPr lang="en-US" sz="1300" b="0" i="1" kern="1200" smtClean="0">
                  <a:effectLst/>
                  <a:latin typeface="Cambria Math" panose="02040503050406030204" pitchFamily="18" charset="0"/>
                  <a:ea typeface="Cambria Math" panose="02040503050406030204" pitchFamily="18" charset="0"/>
                </a:rPr>
                <m:t> </m:t>
              </m:r>
              <m:r>
                <a:rPr lang="en-US" sz="1300" b="0" i="1" kern="1200" smtClean="0">
                  <a:effectLst/>
                  <a:latin typeface="Cambria Math" panose="02040503050406030204" pitchFamily="18" charset="0"/>
                  <a:ea typeface="Cambria Math" panose="02040503050406030204" pitchFamily="18" charset="0"/>
                </a:rPr>
                <m:t>𝑛</m:t>
              </m:r>
            </m:oMath>
          </a14:m>
          <a:r>
            <a:rPr lang="en-US" sz="1300" kern="1200" dirty="0">
              <a:effectLst/>
              <a:latin typeface="+mn-lt"/>
            </a:rPr>
            <a:t> for Hockett Sherby</a:t>
          </a:r>
        </a:p>
      </dsp:txBody>
      <dsp:txXfrm>
        <a:off x="3082844" y="1033809"/>
        <a:ext cx="1936232" cy="21505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C3816-44C0-4328-951B-BE0382AC9178}">
      <dsp:nvSpPr>
        <dsp:cNvPr id="0" name=""/>
        <dsp:cNvSpPr/>
      </dsp:nvSpPr>
      <dsp:spPr>
        <a:xfrm>
          <a:off x="0" y="30446"/>
          <a:ext cx="11677650" cy="58032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effectLst>
                <a:outerShdw blurRad="38100" dist="38100" dir="2700000" algn="tl">
                  <a:srgbClr val="000000">
                    <a:alpha val="43137"/>
                  </a:srgbClr>
                </a:outerShdw>
              </a:effectLst>
            </a:rPr>
            <a:t>Monotonic Loading – Simulation Setup</a:t>
          </a:r>
          <a:endParaRPr lang="en-US" sz="2400" kern="1200" dirty="0">
            <a:effectLst>
              <a:outerShdw blurRad="38100" dist="38100" dir="2700000" algn="tl">
                <a:srgbClr val="000000">
                  <a:alpha val="43137"/>
                </a:srgbClr>
              </a:outerShdw>
            </a:effectLst>
          </a:endParaRPr>
        </a:p>
      </dsp:txBody>
      <dsp:txXfrm>
        <a:off x="28329" y="58775"/>
        <a:ext cx="11620992" cy="523662"/>
      </dsp:txXfrm>
    </dsp:sp>
    <dsp:sp modelId="{5EF16383-B3EE-42F0-A1C1-72346914A364}">
      <dsp:nvSpPr>
        <dsp:cNvPr id="0" name=""/>
        <dsp:cNvSpPr/>
      </dsp:nvSpPr>
      <dsp:spPr>
        <a:xfrm>
          <a:off x="0" y="582190"/>
          <a:ext cx="11677650" cy="132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0765" tIns="22860" rIns="128016" bIns="22860" numCol="1" spcCol="1270" anchor="t" anchorCtr="0">
          <a:noAutofit/>
        </a:bodyPr>
        <a:lstStyle/>
        <a:p>
          <a:pPr marL="171450" lvl="1" indent="-171450" algn="l" defTabSz="800100">
            <a:lnSpc>
              <a:spcPct val="90000"/>
            </a:lnSpc>
            <a:spcBef>
              <a:spcPct val="0"/>
            </a:spcBef>
            <a:spcAft>
              <a:spcPct val="20000"/>
            </a:spcAft>
            <a:buChar char="•"/>
          </a:pPr>
          <a:endParaRPr lang="en-US" sz="1800" kern="1200" dirty="0"/>
        </a:p>
      </dsp:txBody>
      <dsp:txXfrm>
        <a:off x="0" y="582190"/>
        <a:ext cx="11677650" cy="1324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C3816-44C0-4328-951B-BE0382AC9178}">
      <dsp:nvSpPr>
        <dsp:cNvPr id="0" name=""/>
        <dsp:cNvSpPr/>
      </dsp:nvSpPr>
      <dsp:spPr>
        <a:xfrm>
          <a:off x="0" y="167637"/>
          <a:ext cx="11607864" cy="57563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effectLst>
                <a:outerShdw blurRad="38100" dist="38100" dir="2700000" algn="tl">
                  <a:srgbClr val="000000">
                    <a:alpha val="43137"/>
                  </a:srgbClr>
                </a:outerShdw>
              </a:effectLst>
            </a:rPr>
            <a:t>Cyclic Loading (Chaboche)</a:t>
          </a:r>
          <a:endParaRPr lang="en-US" sz="2400" kern="1200" dirty="0">
            <a:effectLst>
              <a:outerShdw blurRad="38100" dist="38100" dir="2700000" algn="tl">
                <a:srgbClr val="000000">
                  <a:alpha val="43137"/>
                </a:srgbClr>
              </a:outerShdw>
            </a:effectLst>
          </a:endParaRPr>
        </a:p>
      </dsp:txBody>
      <dsp:txXfrm>
        <a:off x="28100" y="195737"/>
        <a:ext cx="11551664" cy="519439"/>
      </dsp:txXfrm>
    </dsp:sp>
    <dsp:sp modelId="{5EF16383-B3EE-42F0-A1C1-72346914A364}">
      <dsp:nvSpPr>
        <dsp:cNvPr id="0" name=""/>
        <dsp:cNvSpPr/>
      </dsp:nvSpPr>
      <dsp:spPr>
        <a:xfrm>
          <a:off x="0" y="577926"/>
          <a:ext cx="11607864" cy="198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550" tIns="22860" rIns="128016" bIns="22860" numCol="1" spcCol="1270" anchor="t" anchorCtr="0">
          <a:noAutofit/>
        </a:bodyPr>
        <a:lstStyle/>
        <a:p>
          <a:pPr marL="171450" lvl="1" indent="-171450" algn="l" defTabSz="800100">
            <a:lnSpc>
              <a:spcPct val="90000"/>
            </a:lnSpc>
            <a:spcBef>
              <a:spcPct val="0"/>
            </a:spcBef>
            <a:spcAft>
              <a:spcPct val="20000"/>
            </a:spcAft>
            <a:buChar char="•"/>
          </a:pPr>
          <a:endParaRPr lang="en-US" sz="1800" kern="1200" dirty="0"/>
        </a:p>
      </dsp:txBody>
      <dsp:txXfrm>
        <a:off x="0" y="577926"/>
        <a:ext cx="11607864" cy="1987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75DCC-D325-462A-B140-9CA7F38857A8}">
      <dsp:nvSpPr>
        <dsp:cNvPr id="0" name=""/>
        <dsp:cNvSpPr/>
      </dsp:nvSpPr>
      <dsp:spPr>
        <a:xfrm>
          <a:off x="1514" y="99717"/>
          <a:ext cx="1537040" cy="770273"/>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effectLst>
                <a:outerShdw blurRad="38100" dist="38100" dir="2700000" algn="tl">
                  <a:srgbClr val="000000">
                    <a:alpha val="43137"/>
                  </a:srgbClr>
                </a:outerShdw>
              </a:effectLst>
            </a:rPr>
            <a:t>Elastic Region Analysis</a:t>
          </a:r>
        </a:p>
      </dsp:txBody>
      <dsp:txXfrm>
        <a:off x="1514" y="99717"/>
        <a:ext cx="1537040" cy="513515"/>
      </dsp:txXfrm>
    </dsp:sp>
    <dsp:sp modelId="{9A6B741F-139D-44C8-97B8-71D39CBC807F}">
      <dsp:nvSpPr>
        <dsp:cNvPr id="0" name=""/>
        <dsp:cNvSpPr/>
      </dsp:nvSpPr>
      <dsp:spPr>
        <a:xfrm>
          <a:off x="211375" y="801275"/>
          <a:ext cx="1671322" cy="277683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outerShdw blurRad="63500" sx="102000" sy="102000" algn="ctr" rotWithShape="0">
            <a:prstClr val="black">
              <a:alpha val="40000"/>
            </a:prstClr>
          </a:outerShdw>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endParaRPr lang="en-US" sz="1300" b="0" kern="1200" dirty="0">
            <a:effectLst/>
          </a:endParaRPr>
        </a:p>
        <a:p>
          <a:pPr marL="114300" lvl="1" indent="-114300" algn="l" defTabSz="577850">
            <a:lnSpc>
              <a:spcPct val="90000"/>
            </a:lnSpc>
            <a:spcBef>
              <a:spcPct val="0"/>
            </a:spcBef>
            <a:spcAft>
              <a:spcPct val="15000"/>
            </a:spcAft>
            <a:buFont typeface="Arial" panose="020B0604020202020204" pitchFamily="34" charset="0"/>
            <a:buChar char="•"/>
          </a:pPr>
          <a:r>
            <a:rPr lang="en-US" sz="1300" b="0" kern="1200" dirty="0">
              <a:effectLst/>
            </a:rPr>
            <a:t>Determine elastic region</a:t>
          </a:r>
        </a:p>
        <a:p>
          <a:pPr marL="114300" lvl="1" indent="-114300" algn="l" defTabSz="577850">
            <a:lnSpc>
              <a:spcPct val="90000"/>
            </a:lnSpc>
            <a:spcBef>
              <a:spcPct val="0"/>
            </a:spcBef>
            <a:spcAft>
              <a:spcPct val="15000"/>
            </a:spcAft>
            <a:buFont typeface="Arial" panose="020B0604020202020204" pitchFamily="34" charset="0"/>
            <a:buChar char="•"/>
          </a:pPr>
          <a:r>
            <a:rPr lang="en-US" sz="1300" b="0" kern="1200" dirty="0">
              <a:effectLst/>
            </a:rPr>
            <a:t>Determine Elastic Modulus from linear fit</a:t>
          </a:r>
        </a:p>
        <a:p>
          <a:pPr marL="114300" lvl="1" indent="-114300" algn="l" defTabSz="577850">
            <a:lnSpc>
              <a:spcPct val="90000"/>
            </a:lnSpc>
            <a:spcBef>
              <a:spcPct val="0"/>
            </a:spcBef>
            <a:spcAft>
              <a:spcPct val="15000"/>
            </a:spcAft>
            <a:buFont typeface="Arial" panose="020B0604020202020204" pitchFamily="34" charset="0"/>
            <a:buChar char="•"/>
          </a:pPr>
          <a:r>
            <a:rPr lang="en-US" sz="1300" b="0" kern="1200" dirty="0">
              <a:effectLst/>
            </a:rPr>
            <a:t>Construct 0.2% Offset</a:t>
          </a:r>
        </a:p>
        <a:p>
          <a:pPr marL="114300" lvl="1" indent="-114300" algn="l" defTabSz="577850">
            <a:lnSpc>
              <a:spcPct val="90000"/>
            </a:lnSpc>
            <a:spcBef>
              <a:spcPct val="0"/>
            </a:spcBef>
            <a:spcAft>
              <a:spcPct val="15000"/>
            </a:spcAft>
            <a:buFont typeface="Arial" panose="020B0604020202020204" pitchFamily="34" charset="0"/>
            <a:buChar char="•"/>
          </a:pPr>
          <a:r>
            <a:rPr lang="en-US" sz="1300" b="0" kern="1200" dirty="0">
              <a:effectLst/>
            </a:rPr>
            <a:t>Determine initial yield point </a:t>
          </a:r>
          <a14:m xmlns:a14="http://schemas.microsoft.com/office/drawing/2010/main">
            <m:oMath xmlns:m="http://schemas.openxmlformats.org/officeDocument/2006/math">
              <m:sSub>
                <m:sSubPr>
                  <m:ctrlPr>
                    <a:rPr lang="en-US" sz="1300" b="0" i="1" kern="1200" smtClean="0">
                      <a:effectLst/>
                      <a:latin typeface="Cambria Math" panose="02040503050406030204" pitchFamily="18" charset="0"/>
                    </a:rPr>
                  </m:ctrlPr>
                </m:sSubPr>
                <m:e>
                  <m:r>
                    <a:rPr lang="en-US" sz="1300" b="0" i="1" kern="1200" smtClean="0">
                      <a:effectLst/>
                      <a:latin typeface="Cambria Math" panose="02040503050406030204" pitchFamily="18" charset="0"/>
                    </a:rPr>
                    <m:t>𝜎</m:t>
                  </m:r>
                </m:e>
                <m:sub>
                  <m:r>
                    <a:rPr lang="en-US" sz="1300" b="0" i="1" kern="1200" smtClean="0">
                      <a:effectLst/>
                      <a:latin typeface="Cambria Math" panose="02040503050406030204" pitchFamily="18" charset="0"/>
                    </a:rPr>
                    <m:t>𝑦𝑜</m:t>
                  </m:r>
                </m:sub>
              </m:sSub>
            </m:oMath>
          </a14:m>
          <a:endParaRPr lang="en-US" sz="1300" b="0" kern="1200" dirty="0">
            <a:effectLst/>
          </a:endParaRPr>
        </a:p>
      </dsp:txBody>
      <dsp:txXfrm>
        <a:off x="260326" y="850226"/>
        <a:ext cx="1573420" cy="2678931"/>
      </dsp:txXfrm>
    </dsp:sp>
    <dsp:sp modelId="{B185C491-AAFD-4539-8AA2-1A6080415B83}">
      <dsp:nvSpPr>
        <dsp:cNvPr id="0" name=""/>
        <dsp:cNvSpPr/>
      </dsp:nvSpPr>
      <dsp:spPr>
        <a:xfrm rot="12405">
          <a:off x="1772551" y="364140"/>
          <a:ext cx="519485" cy="403561"/>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72551" y="444634"/>
        <a:ext cx="398417" cy="242137"/>
      </dsp:txXfrm>
    </dsp:sp>
    <dsp:sp modelId="{92EB4EA1-43BC-4250-A98D-20FB5FDB1501}">
      <dsp:nvSpPr>
        <dsp:cNvPr id="0" name=""/>
        <dsp:cNvSpPr/>
      </dsp:nvSpPr>
      <dsp:spPr>
        <a:xfrm>
          <a:off x="2425785" y="119617"/>
          <a:ext cx="1605040" cy="7675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effectLst>
                <a:outerShdw blurRad="38100" dist="38100" dir="2700000" algn="tl">
                  <a:srgbClr val="000000">
                    <a:alpha val="43137"/>
                  </a:srgbClr>
                </a:outerShdw>
              </a:effectLst>
            </a:rPr>
            <a:t>Determine parameter types and numbers</a:t>
          </a:r>
        </a:p>
        <a:p>
          <a:pPr marL="0" lvl="0" indent="0" algn="l" defTabSz="622300">
            <a:lnSpc>
              <a:spcPct val="90000"/>
            </a:lnSpc>
            <a:spcBef>
              <a:spcPct val="0"/>
            </a:spcBef>
            <a:spcAft>
              <a:spcPct val="35000"/>
            </a:spcAft>
            <a:buNone/>
          </a:pPr>
          <a:endParaRPr lang="en-US" sz="1400" kern="1200" dirty="0">
            <a:effectLst>
              <a:outerShdw blurRad="38100" dist="38100" dir="2700000" algn="tl">
                <a:srgbClr val="000000">
                  <a:alpha val="43137"/>
                </a:srgbClr>
              </a:outerShdw>
            </a:effectLst>
          </a:endParaRPr>
        </a:p>
      </dsp:txBody>
      <dsp:txXfrm>
        <a:off x="2425785" y="119617"/>
        <a:ext cx="1605040" cy="511676"/>
      </dsp:txXfrm>
    </dsp:sp>
    <dsp:sp modelId="{6944E515-E165-4E05-BA41-AD6FCF47BB30}">
      <dsp:nvSpPr>
        <dsp:cNvPr id="0" name=""/>
        <dsp:cNvSpPr/>
      </dsp:nvSpPr>
      <dsp:spPr>
        <a:xfrm>
          <a:off x="2653220" y="832124"/>
          <a:ext cx="1699303" cy="278790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outerShdw blurRad="63500" sx="102000" sy="102000" algn="ctr" rotWithShape="0">
            <a:prstClr val="black">
              <a:alpha val="40000"/>
            </a:prstClr>
          </a:outerShdw>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endParaRPr lang="en-US" sz="1300" kern="1200" dirty="0">
            <a:effectLst/>
          </a:endParaRPr>
        </a:p>
        <a:p>
          <a:pPr marL="114300" lvl="1" indent="-114300" algn="l" defTabSz="577850">
            <a:lnSpc>
              <a:spcPct val="90000"/>
            </a:lnSpc>
            <a:spcBef>
              <a:spcPct val="0"/>
            </a:spcBef>
            <a:spcAft>
              <a:spcPct val="15000"/>
            </a:spcAft>
            <a:buChar char="•"/>
          </a:pPr>
          <a:r>
            <a:rPr lang="en-US" sz="1300" kern="1200" dirty="0">
              <a:effectLst/>
            </a:rPr>
            <a:t>Determine number of back-stress components numbers (</a:t>
          </a:r>
          <a:r>
            <a:rPr lang="en-US" sz="1300" kern="1200" dirty="0" err="1">
              <a:effectLst/>
            </a:rPr>
            <a:t>i</a:t>
          </a:r>
          <a:r>
            <a:rPr lang="en-US" sz="1300" kern="1200" dirty="0">
              <a:effectLst/>
            </a:rPr>
            <a:t> = 2) -   </a:t>
          </a:r>
          <a14:m xmlns:a14="http://schemas.microsoft.com/office/drawing/2010/main">
            <m:oMath xmlns:m="http://schemas.openxmlformats.org/officeDocument/2006/math">
              <m:sSub>
                <m:sSubPr>
                  <m:ctrlPr>
                    <a:rPr lang="en-US" sz="1300" b="0" i="1" kern="1200" smtClean="0">
                      <a:effectLst/>
                      <a:latin typeface="Cambria Math" panose="02040503050406030204" pitchFamily="18" charset="0"/>
                    </a:rPr>
                  </m:ctrlPr>
                </m:sSubPr>
                <m:e>
                  <m:r>
                    <a:rPr lang="en-US" sz="1300" b="0" i="1" kern="1200" smtClean="0">
                      <a:effectLst/>
                      <a:latin typeface="Cambria Math" panose="02040503050406030204" pitchFamily="18" charset="0"/>
                    </a:rPr>
                    <m:t>𝛾</m:t>
                  </m:r>
                </m:e>
                <m:sub>
                  <m:r>
                    <a:rPr lang="en-US" sz="1300" b="0" i="1" kern="1200" smtClean="0">
                      <a:effectLst/>
                      <a:latin typeface="Cambria Math" panose="02040503050406030204" pitchFamily="18" charset="0"/>
                    </a:rPr>
                    <m:t>𝑖</m:t>
                  </m:r>
                </m:sub>
              </m:sSub>
              <m:r>
                <a:rPr lang="en-US" sz="1300" b="0" i="1" kern="1200" smtClean="0">
                  <a:effectLst/>
                  <a:latin typeface="Cambria Math" panose="02040503050406030204" pitchFamily="18" charset="0"/>
                </a:rPr>
                <m:t>, </m:t>
              </m:r>
              <m:sSub>
                <m:sSubPr>
                  <m:ctrlPr>
                    <a:rPr lang="en-US" sz="1300" b="0" i="1" kern="1200" smtClean="0">
                      <a:effectLst/>
                      <a:latin typeface="Cambria Math" panose="02040503050406030204" pitchFamily="18" charset="0"/>
                    </a:rPr>
                  </m:ctrlPr>
                </m:sSubPr>
                <m:e>
                  <m:r>
                    <a:rPr lang="en-US" sz="1300" b="0" i="1" kern="1200" smtClean="0">
                      <a:effectLst/>
                      <a:latin typeface="Cambria Math" panose="02040503050406030204" pitchFamily="18" charset="0"/>
                    </a:rPr>
                    <m:t>𝐶</m:t>
                  </m:r>
                </m:e>
                <m:sub>
                  <m:r>
                    <a:rPr lang="en-US" sz="1300" b="0" i="1" kern="1200" smtClean="0">
                      <a:effectLst/>
                      <a:latin typeface="Cambria Math" panose="02040503050406030204" pitchFamily="18" charset="0"/>
                    </a:rPr>
                    <m:t>𝑖</m:t>
                  </m:r>
                </m:sub>
              </m:sSub>
              <m:r>
                <a:rPr lang="en-US" sz="1300" b="0" i="1" kern="1200" smtClean="0">
                  <a:effectLst/>
                  <a:latin typeface="Cambria Math" panose="02040503050406030204" pitchFamily="18" charset="0"/>
                </a:rPr>
                <m:t> </m:t>
              </m:r>
            </m:oMath>
          </a14:m>
          <a:endParaRPr lang="en-US" sz="1300" kern="1200" dirty="0">
            <a:effectLst/>
          </a:endParaRPr>
        </a:p>
        <a:p>
          <a:pPr marL="114300" lvl="1" indent="-114300" algn="l" defTabSz="577850">
            <a:lnSpc>
              <a:spcPct val="90000"/>
            </a:lnSpc>
            <a:spcBef>
              <a:spcPct val="0"/>
            </a:spcBef>
            <a:spcAft>
              <a:spcPct val="15000"/>
            </a:spcAft>
            <a:buChar char="•"/>
          </a:pPr>
          <a:r>
            <a:rPr lang="en-US" sz="1300" kern="1200" dirty="0">
              <a:effectLst/>
            </a:rPr>
            <a:t>Determine to use Q and b for isotropic expansion.</a:t>
          </a:r>
        </a:p>
        <a:p>
          <a:pPr marL="114300" lvl="1" indent="-114300" algn="l" defTabSz="577850">
            <a:lnSpc>
              <a:spcPct val="90000"/>
            </a:lnSpc>
            <a:spcBef>
              <a:spcPct val="0"/>
            </a:spcBef>
            <a:spcAft>
              <a:spcPct val="15000"/>
            </a:spcAft>
            <a:buNone/>
          </a:pPr>
          <a:r>
            <a:rPr lang="en-US" sz="1300" kern="1200" dirty="0">
              <a:effectLst/>
            </a:rPr>
            <a:t>…using until stabilized loops</a:t>
          </a:r>
        </a:p>
      </dsp:txBody>
      <dsp:txXfrm>
        <a:off x="2702991" y="881895"/>
        <a:ext cx="1599761" cy="26883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4025F-5BF3-4DCC-89AD-F3BE5F4B8905}">
      <dsp:nvSpPr>
        <dsp:cNvPr id="0" name=""/>
        <dsp:cNvSpPr/>
      </dsp:nvSpPr>
      <dsp:spPr>
        <a:xfrm>
          <a:off x="1652236" y="1817917"/>
          <a:ext cx="2310652" cy="1998807"/>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i="0" kern="1200" baseline="0" dirty="0">
              <a:effectLst/>
            </a:rPr>
            <a:t>Empirical Models</a:t>
          </a:r>
        </a:p>
        <a:p>
          <a:pPr marL="0" lvl="0" indent="0" algn="ctr" defTabSz="622300">
            <a:lnSpc>
              <a:spcPct val="90000"/>
            </a:lnSpc>
            <a:spcBef>
              <a:spcPct val="0"/>
            </a:spcBef>
            <a:spcAft>
              <a:spcPct val="35000"/>
            </a:spcAft>
            <a:buNone/>
          </a:pPr>
          <a:endParaRPr lang="en-US" sz="1400" b="1" i="0" kern="1200" baseline="0" dirty="0">
            <a:effectLst/>
          </a:endParaRPr>
        </a:p>
        <a:p>
          <a:pPr marL="0" lvl="0" indent="0" algn="ctr" defTabSz="622300">
            <a:lnSpc>
              <a:spcPct val="90000"/>
            </a:lnSpc>
            <a:spcBef>
              <a:spcPct val="0"/>
            </a:spcBef>
            <a:spcAft>
              <a:spcPct val="35000"/>
            </a:spcAft>
            <a:buNone/>
          </a:pPr>
          <a:r>
            <a:rPr lang="en-US" sz="1400" b="0" i="0" kern="1200" baseline="0" dirty="0">
              <a:effectLst/>
            </a:rPr>
            <a:t>(Young’s Modulus, E = 210,289.53 MPa </a:t>
          </a:r>
        </a:p>
        <a:p>
          <a:pPr marL="0" lvl="0" indent="0" algn="ctr" defTabSz="622300">
            <a:lnSpc>
              <a:spcPct val="90000"/>
            </a:lnSpc>
            <a:spcBef>
              <a:spcPct val="0"/>
            </a:spcBef>
            <a:spcAft>
              <a:spcPct val="35000"/>
            </a:spcAft>
            <a:buNone/>
          </a:pPr>
          <a:r>
            <a:rPr lang="en-US" sz="1400" b="0" i="0" kern="1200" baseline="0" dirty="0">
              <a:effectLst/>
            </a:rPr>
            <a:t>Yield Stress,  </a:t>
          </a:r>
          <a:r>
            <a:rPr lang="el-GR" sz="1400" b="0" i="0" kern="1200" baseline="0" dirty="0">
              <a:effectLst/>
              <a:latin typeface="+mn-lt"/>
            </a:rPr>
            <a:t>σ₀ </a:t>
          </a:r>
          <a:r>
            <a:rPr lang="en-US" sz="1400" b="0" i="0" kern="1200" baseline="0" dirty="0">
              <a:effectLst/>
            </a:rPr>
            <a:t>= 1,051.95 MPa)</a:t>
          </a:r>
          <a:endParaRPr lang="en-US" sz="1400" b="0" kern="1200" dirty="0"/>
        </a:p>
      </dsp:txBody>
      <dsp:txXfrm>
        <a:off x="2035143" y="2149147"/>
        <a:ext cx="1544838" cy="1336347"/>
      </dsp:txXfrm>
    </dsp:sp>
    <dsp:sp modelId="{79A1F478-844B-413A-9388-19BDA2BDCE27}">
      <dsp:nvSpPr>
        <dsp:cNvPr id="0" name=""/>
        <dsp:cNvSpPr/>
      </dsp:nvSpPr>
      <dsp:spPr>
        <a:xfrm>
          <a:off x="3099148" y="861623"/>
          <a:ext cx="871802" cy="751173"/>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465016E-A442-4BAB-9409-20AE0A149079}">
      <dsp:nvSpPr>
        <dsp:cNvPr id="0" name=""/>
        <dsp:cNvSpPr/>
      </dsp:nvSpPr>
      <dsp:spPr>
        <a:xfrm>
          <a:off x="1865080" y="27160"/>
          <a:ext cx="1893563" cy="1638154"/>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i="0" kern="1200" baseline="0">
              <a:effectLst/>
              <a:latin typeface="+mn-lt"/>
            </a:rPr>
            <a:t>Hollomon</a:t>
          </a:r>
        </a:p>
        <a:p>
          <a:pPr marL="0" lvl="0" indent="0" algn="ctr" defTabSz="711200">
            <a:lnSpc>
              <a:spcPct val="90000"/>
            </a:lnSpc>
            <a:spcBef>
              <a:spcPct val="0"/>
            </a:spcBef>
            <a:spcAft>
              <a:spcPct val="35000"/>
            </a:spcAft>
            <a:buNone/>
          </a:pPr>
          <a:r>
            <a:rPr lang="el-GR" sz="1600" b="0" i="0" kern="1200" baseline="0">
              <a:effectLst/>
              <a:latin typeface="+mn-lt"/>
            </a:rPr>
            <a:t>σ = </a:t>
          </a:r>
          <a:r>
            <a:rPr lang="en-US" sz="1600" b="0" i="0" kern="1200" baseline="0">
              <a:effectLst/>
              <a:latin typeface="+mn-lt"/>
            </a:rPr>
            <a:t>K·</a:t>
          </a:r>
          <a:r>
            <a:rPr lang="el-GR" sz="1600" b="0" i="0" kern="1200" baseline="0">
              <a:effectLst/>
              <a:latin typeface="+mn-lt"/>
            </a:rPr>
            <a:t>ε</a:t>
          </a:r>
          <a:r>
            <a:rPr lang="en-US" sz="1600" b="0" i="0" kern="1200" baseline="0">
              <a:effectLst/>
              <a:latin typeface="+mn-lt"/>
            </a:rPr>
            <a:t>ⁿ</a:t>
          </a:r>
          <a:endParaRPr lang="en-US" sz="1600" kern="1200" dirty="0"/>
        </a:p>
      </dsp:txBody>
      <dsp:txXfrm>
        <a:off x="2178884" y="298637"/>
        <a:ext cx="1265955" cy="1095200"/>
      </dsp:txXfrm>
    </dsp:sp>
    <dsp:sp modelId="{D8B485CE-22C7-4DF3-B238-DB44DCA0559C}">
      <dsp:nvSpPr>
        <dsp:cNvPr id="0" name=""/>
        <dsp:cNvSpPr/>
      </dsp:nvSpPr>
      <dsp:spPr>
        <a:xfrm>
          <a:off x="4116610" y="2265916"/>
          <a:ext cx="871802" cy="751173"/>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10D79C5C-39F9-437A-9DE6-8EE8105EAFFB}">
      <dsp:nvSpPr>
        <dsp:cNvPr id="0" name=""/>
        <dsp:cNvSpPr/>
      </dsp:nvSpPr>
      <dsp:spPr>
        <a:xfrm>
          <a:off x="3601698" y="1007575"/>
          <a:ext cx="1893563" cy="1638154"/>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a:effectLst/>
              <a:latin typeface="+mn-lt"/>
            </a:rPr>
            <a:t>Ludwik</a:t>
          </a:r>
        </a:p>
        <a:p>
          <a:pPr marL="0" lvl="0" indent="0" algn="ctr" defTabSz="711200">
            <a:lnSpc>
              <a:spcPct val="90000"/>
            </a:lnSpc>
            <a:spcBef>
              <a:spcPct val="0"/>
            </a:spcBef>
            <a:spcAft>
              <a:spcPct val="35000"/>
            </a:spcAft>
            <a:buNone/>
          </a:pPr>
          <a:r>
            <a:rPr lang="el-GR" sz="1600" b="0" i="0" kern="1200" baseline="0">
              <a:effectLst/>
              <a:latin typeface="+mn-lt"/>
            </a:rPr>
            <a:t>σ = σ₀</a:t>
          </a:r>
          <a:r>
            <a:rPr lang="en-US" sz="1600" b="0" i="0" kern="1200" baseline="0">
              <a:effectLst/>
              <a:latin typeface="+mn-lt"/>
            </a:rPr>
            <a:t> + K·</a:t>
          </a:r>
          <a:r>
            <a:rPr lang="el-GR" sz="1600" b="0" i="0" kern="1200" baseline="0">
              <a:effectLst/>
              <a:latin typeface="+mn-lt"/>
            </a:rPr>
            <a:t>ε</a:t>
          </a:r>
          <a:r>
            <a:rPr lang="en-US" sz="1600" b="0" i="0" kern="1200" baseline="0">
              <a:effectLst/>
              <a:latin typeface="+mn-lt"/>
            </a:rPr>
            <a:t>ⁿ</a:t>
          </a:r>
          <a:endParaRPr lang="en-US" sz="1600" kern="1200" dirty="0"/>
        </a:p>
      </dsp:txBody>
      <dsp:txXfrm>
        <a:off x="3915502" y="1279052"/>
        <a:ext cx="1265955" cy="1095200"/>
      </dsp:txXfrm>
    </dsp:sp>
    <dsp:sp modelId="{2F2B4F2C-CEB8-4419-AB93-EF14E0A9FEB1}">
      <dsp:nvSpPr>
        <dsp:cNvPr id="0" name=""/>
        <dsp:cNvSpPr/>
      </dsp:nvSpPr>
      <dsp:spPr>
        <a:xfrm>
          <a:off x="3409815" y="3851100"/>
          <a:ext cx="871802" cy="751173"/>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74C34BA-6C41-4393-B500-C2F90EFF61C9}">
      <dsp:nvSpPr>
        <dsp:cNvPr id="0" name=""/>
        <dsp:cNvSpPr/>
      </dsp:nvSpPr>
      <dsp:spPr>
        <a:xfrm>
          <a:off x="3601698" y="2988350"/>
          <a:ext cx="1893563" cy="1638154"/>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i="0" kern="1200" baseline="0">
              <a:effectLst/>
              <a:latin typeface="+mn-lt"/>
            </a:rPr>
            <a:t>Swift</a:t>
          </a:r>
        </a:p>
        <a:p>
          <a:pPr marL="0" lvl="0" indent="0" algn="ctr" defTabSz="711200">
            <a:lnSpc>
              <a:spcPct val="90000"/>
            </a:lnSpc>
            <a:spcBef>
              <a:spcPct val="0"/>
            </a:spcBef>
            <a:spcAft>
              <a:spcPct val="35000"/>
            </a:spcAft>
            <a:buNone/>
          </a:pPr>
          <a:r>
            <a:rPr lang="el-GR" sz="1600" b="0" i="0" kern="1200" baseline="0">
              <a:effectLst/>
              <a:latin typeface="+mn-lt"/>
            </a:rPr>
            <a:t>σ = </a:t>
          </a:r>
          <a:r>
            <a:rPr lang="en-US" sz="1600" b="0" i="0" kern="1200" baseline="0">
              <a:effectLst/>
              <a:latin typeface="+mn-lt"/>
            </a:rPr>
            <a:t>K(</a:t>
          </a:r>
          <a:r>
            <a:rPr lang="el-GR" sz="1600" b="0" i="0" kern="1200" baseline="0">
              <a:effectLst/>
              <a:latin typeface="+mn-lt"/>
            </a:rPr>
            <a:t>ε + ε₀)</a:t>
          </a:r>
          <a:r>
            <a:rPr lang="en-US" sz="1600" b="0" i="0" kern="1200" baseline="0">
              <a:effectLst/>
              <a:latin typeface="+mn-lt"/>
            </a:rPr>
            <a:t>ⁿ</a:t>
          </a:r>
          <a:endParaRPr lang="en-US" sz="1600" kern="1200" dirty="0"/>
        </a:p>
      </dsp:txBody>
      <dsp:txXfrm>
        <a:off x="3915502" y="3259827"/>
        <a:ext cx="1265955" cy="1095200"/>
      </dsp:txXfrm>
    </dsp:sp>
    <dsp:sp modelId="{2C8AF572-0F74-4595-8C1B-F6395CB6D38A}">
      <dsp:nvSpPr>
        <dsp:cNvPr id="0" name=""/>
        <dsp:cNvSpPr/>
      </dsp:nvSpPr>
      <dsp:spPr>
        <a:xfrm>
          <a:off x="1656536" y="4015648"/>
          <a:ext cx="871802" cy="751173"/>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9D3CFDB-AF80-4AE8-A30D-9D764B4A8A21}">
      <dsp:nvSpPr>
        <dsp:cNvPr id="0" name=""/>
        <dsp:cNvSpPr/>
      </dsp:nvSpPr>
      <dsp:spPr>
        <a:xfrm>
          <a:off x="1865080" y="3997052"/>
          <a:ext cx="1893563" cy="1638154"/>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effectLst/>
              <a:latin typeface="+mn-lt"/>
            </a:rPr>
            <a:t>Voce</a:t>
          </a:r>
        </a:p>
        <a:p>
          <a:pPr marL="0" lvl="0" indent="0" algn="ctr" defTabSz="711200">
            <a:lnSpc>
              <a:spcPct val="90000"/>
            </a:lnSpc>
            <a:spcBef>
              <a:spcPct val="0"/>
            </a:spcBef>
            <a:spcAft>
              <a:spcPct val="35000"/>
            </a:spcAft>
            <a:buNone/>
          </a:pPr>
          <a:r>
            <a:rPr lang="el-GR" sz="1600" b="0" i="0" kern="1200" baseline="0" dirty="0">
              <a:effectLst/>
              <a:latin typeface="+mn-lt"/>
            </a:rPr>
            <a:t>σ = σ₀ + (</a:t>
          </a:r>
          <a14:m xmlns:a14="http://schemas.microsoft.com/office/drawing/2010/main">
            <m:oMath xmlns:m="http://schemas.openxmlformats.org/officeDocument/2006/math">
              <m:sSub>
                <m:sSubPr>
                  <m:ctrlPr>
                    <a:rPr lang="en-US" sz="1600" b="0" i="1" kern="1200" baseline="0">
                      <a:effectLst/>
                      <a:latin typeface="Cambria Math" panose="02040503050406030204" pitchFamily="18" charset="0"/>
                    </a:rPr>
                  </m:ctrlPr>
                </m:sSubPr>
                <m:e>
                  <m:r>
                    <m:rPr>
                      <m:nor/>
                    </m:rPr>
                    <a:rPr lang="el-GR" sz="1600" b="0" kern="1200">
                      <a:effectLst/>
                      <a:latin typeface="+mn-lt"/>
                    </a:rPr>
                    <m:t>σ</m:t>
                  </m:r>
                </m:e>
                <m:sub>
                  <m:r>
                    <a:rPr lang="en-US" sz="1600" b="0" i="1" kern="1200">
                      <a:effectLst/>
                      <a:latin typeface="Cambria Math" panose="02040503050406030204" pitchFamily="18" charset="0"/>
                    </a:rPr>
                    <m:t>𝑠</m:t>
                  </m:r>
                </m:sub>
              </m:sSub>
            </m:oMath>
          </a14:m>
          <a:r>
            <a:rPr lang="en-US" sz="1600" b="0" i="0" kern="1200" baseline="0" dirty="0">
              <a:effectLst/>
              <a:latin typeface="+mn-lt"/>
            </a:rPr>
            <a:t> − </a:t>
          </a:r>
          <a:r>
            <a:rPr lang="el-GR" sz="1600" b="0" i="0" kern="1200" baseline="0" dirty="0">
              <a:effectLst/>
              <a:latin typeface="+mn-lt"/>
            </a:rPr>
            <a:t>σ₀)(1 − </a:t>
          </a:r>
          <a14:m xmlns:a14="http://schemas.microsoft.com/office/drawing/2010/main">
            <m:oMath xmlns:m="http://schemas.openxmlformats.org/officeDocument/2006/math">
              <m:sSup>
                <m:sSupPr>
                  <m:ctrlPr>
                    <a:rPr lang="en-US" sz="1600" b="0" i="1" kern="1200" baseline="0">
                      <a:effectLst/>
                      <a:latin typeface="Cambria Math" panose="02040503050406030204" pitchFamily="18" charset="0"/>
                    </a:rPr>
                  </m:ctrlPr>
                </m:sSupPr>
                <m:e>
                  <m:r>
                    <a:rPr lang="en-US" sz="1600" b="0" i="1" kern="1200" baseline="0">
                      <a:effectLst/>
                      <a:latin typeface="Cambria Math" panose="02040503050406030204" pitchFamily="18" charset="0"/>
                    </a:rPr>
                    <m:t>𝑒</m:t>
                  </m:r>
                </m:e>
                <m:sup>
                  <m:r>
                    <a:rPr lang="en-US" sz="1600" b="0" i="1" kern="1200">
                      <a:effectLst/>
                      <a:latin typeface="Cambria Math" panose="02040503050406030204" pitchFamily="18" charset="0"/>
                    </a:rPr>
                    <m:t>−</m:t>
                  </m:r>
                  <m:r>
                    <a:rPr lang="el-GR" sz="1600" b="0" i="1" kern="1200">
                      <a:effectLst/>
                      <a:latin typeface="Cambria Math" panose="02040503050406030204" pitchFamily="18" charset="0"/>
                    </a:rPr>
                    <m:t>𝛽𝜀</m:t>
                  </m:r>
                </m:sup>
              </m:sSup>
              <m:r>
                <a:rPr lang="el-GR" sz="1600" b="0" i="1" kern="1200" baseline="0">
                  <a:effectLst/>
                  <a:latin typeface="Cambria Math" panose="02040503050406030204" pitchFamily="18" charset="0"/>
                </a:rPr>
                <m:t>)</m:t>
              </m:r>
            </m:oMath>
          </a14:m>
          <a:endParaRPr lang="en-US" sz="1600" kern="1200" dirty="0"/>
        </a:p>
      </dsp:txBody>
      <dsp:txXfrm>
        <a:off x="2178884" y="4268529"/>
        <a:ext cx="1265955" cy="1095200"/>
      </dsp:txXfrm>
    </dsp:sp>
    <dsp:sp modelId="{2BEEEFE4-F623-46CB-A605-E841B41574D4}">
      <dsp:nvSpPr>
        <dsp:cNvPr id="0" name=""/>
        <dsp:cNvSpPr/>
      </dsp:nvSpPr>
      <dsp:spPr>
        <a:xfrm>
          <a:off x="622413" y="2611918"/>
          <a:ext cx="871802" cy="751173"/>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C0A8A91-C95C-4829-8CF1-7B60663223D3}">
      <dsp:nvSpPr>
        <dsp:cNvPr id="0" name=""/>
        <dsp:cNvSpPr/>
      </dsp:nvSpPr>
      <dsp:spPr>
        <a:xfrm>
          <a:off x="120401" y="2989477"/>
          <a:ext cx="1893563" cy="1638154"/>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i="0" kern="1200" dirty="0">
              <a:effectLst/>
              <a:latin typeface="+mn-lt"/>
            </a:rPr>
            <a:t>Hockett–Sherby</a:t>
          </a:r>
        </a:p>
        <a:p>
          <a:pPr marL="0" lvl="0" indent="0" algn="ctr" defTabSz="711200">
            <a:lnSpc>
              <a:spcPct val="90000"/>
            </a:lnSpc>
            <a:spcBef>
              <a:spcPct val="0"/>
            </a:spcBef>
            <a:spcAft>
              <a:spcPct val="35000"/>
            </a:spcAft>
            <a:buNone/>
          </a:pPr>
          <a:r>
            <a:rPr lang="el-GR" sz="1600" b="0" i="0" kern="1200" baseline="0" dirty="0">
              <a:effectLst/>
              <a:latin typeface="+mn-lt"/>
            </a:rPr>
            <a:t>σ = σ₀ + (</a:t>
          </a:r>
          <a14:m xmlns:a14="http://schemas.microsoft.com/office/drawing/2010/main">
            <m:oMath xmlns:m="http://schemas.openxmlformats.org/officeDocument/2006/math">
              <m:sSub>
                <m:sSubPr>
                  <m:ctrlPr>
                    <a:rPr lang="en-US" sz="1600" b="0" i="1" kern="1200" baseline="0">
                      <a:effectLst/>
                      <a:latin typeface="Cambria Math" panose="02040503050406030204" pitchFamily="18" charset="0"/>
                    </a:rPr>
                  </m:ctrlPr>
                </m:sSubPr>
                <m:e>
                  <m:r>
                    <m:rPr>
                      <m:nor/>
                    </m:rPr>
                    <a:rPr lang="el-GR" sz="1600" b="0" kern="1200">
                      <a:effectLst/>
                      <a:latin typeface="+mn-lt"/>
                    </a:rPr>
                    <m:t>σ</m:t>
                  </m:r>
                </m:e>
                <m:sub>
                  <m:r>
                    <a:rPr lang="en-US" sz="1600" b="0" i="1" kern="1200">
                      <a:effectLst/>
                      <a:latin typeface="Cambria Math" panose="02040503050406030204" pitchFamily="18" charset="0"/>
                    </a:rPr>
                    <m:t>𝑠</m:t>
                  </m:r>
                </m:sub>
              </m:sSub>
            </m:oMath>
          </a14:m>
          <a:r>
            <a:rPr lang="en-US" sz="1600" b="0" i="0" kern="1200" baseline="0" dirty="0">
              <a:effectLst/>
              <a:latin typeface="+mn-lt"/>
            </a:rPr>
            <a:t> − </a:t>
          </a:r>
          <a:r>
            <a:rPr lang="el-GR" sz="1600" b="0" i="0" kern="1200" baseline="0" dirty="0">
              <a:effectLst/>
              <a:latin typeface="+mn-lt"/>
            </a:rPr>
            <a:t>σ₀)(1 − </a:t>
          </a:r>
          <a14:m xmlns:a14="http://schemas.microsoft.com/office/drawing/2010/main">
            <m:oMath xmlns:m="http://schemas.openxmlformats.org/officeDocument/2006/math">
              <m:sSup>
                <m:sSupPr>
                  <m:ctrlPr>
                    <a:rPr lang="en-US" sz="1600" b="0" i="1" kern="1200" baseline="0">
                      <a:effectLst/>
                      <a:latin typeface="Cambria Math" panose="02040503050406030204" pitchFamily="18" charset="0"/>
                    </a:rPr>
                  </m:ctrlPr>
                </m:sSupPr>
                <m:e>
                  <m:r>
                    <a:rPr lang="en-US" sz="1600" b="0" i="1" kern="1200" baseline="0">
                      <a:effectLst/>
                      <a:latin typeface="Cambria Math" panose="02040503050406030204" pitchFamily="18" charset="0"/>
                    </a:rPr>
                    <m:t>𝑒</m:t>
                  </m:r>
                </m:e>
                <m:sup>
                  <m:r>
                    <a:rPr lang="en-US" sz="1600" b="0" i="1" kern="1200">
                      <a:effectLst/>
                      <a:latin typeface="Cambria Math" panose="02040503050406030204" pitchFamily="18" charset="0"/>
                    </a:rPr>
                    <m:t>−</m:t>
                  </m:r>
                  <m:r>
                    <a:rPr lang="el-GR" sz="1600" b="0" i="1" kern="1200">
                      <a:effectLst/>
                      <a:latin typeface="Cambria Math" panose="02040503050406030204" pitchFamily="18" charset="0"/>
                    </a:rPr>
                    <m:t>𝛽</m:t>
                  </m:r>
                  <m:r>
                    <m:rPr>
                      <m:sty m:val="p"/>
                    </m:rPr>
                    <a:rPr lang="el-GR" sz="1600" b="0" i="0" kern="1200" baseline="0" smtClean="0">
                      <a:effectLst/>
                      <a:latin typeface="Cambria Math" panose="02040503050406030204" pitchFamily="18" charset="0"/>
                    </a:rPr>
                    <m:t>ε</m:t>
                  </m:r>
                  <m:r>
                    <a:rPr lang="en-US" sz="1600" b="0" i="0" kern="1200" baseline="0" smtClean="0">
                      <a:effectLst/>
                      <a:latin typeface="Cambria Math" panose="02040503050406030204" pitchFamily="18" charset="0"/>
                    </a:rPr>
                    <m:t>ⁿ</m:t>
                  </m:r>
                </m:sup>
              </m:sSup>
              <m:r>
                <a:rPr lang="el-GR" sz="1600" b="0" i="1" kern="1200" baseline="0" smtClean="0">
                  <a:effectLst/>
                  <a:latin typeface="Cambria Math" panose="02040503050406030204" pitchFamily="18" charset="0"/>
                </a:rPr>
                <m:t>)</m:t>
              </m:r>
            </m:oMath>
          </a14:m>
          <a:endParaRPr lang="en-US" sz="1600" kern="1200" dirty="0"/>
        </a:p>
      </dsp:txBody>
      <dsp:txXfrm>
        <a:off x="434205" y="3260954"/>
        <a:ext cx="1265955" cy="1095200"/>
      </dsp:txXfrm>
    </dsp:sp>
    <dsp:sp modelId="{321F5C16-3737-4113-8215-9F2655F24D87}">
      <dsp:nvSpPr>
        <dsp:cNvPr id="0" name=""/>
        <dsp:cNvSpPr/>
      </dsp:nvSpPr>
      <dsp:spPr>
        <a:xfrm>
          <a:off x="120401" y="1005320"/>
          <a:ext cx="1893563" cy="1638154"/>
        </a:xfrm>
        <a:prstGeom prst="hexagon">
          <a:avLst>
            <a:gd name="adj" fmla="val 28570"/>
            <a:gd name="vf" fmla="val 11547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i="0" kern="1200" dirty="0">
              <a:effectLst/>
              <a:latin typeface="+mn-lt"/>
            </a:rPr>
            <a:t>Ramberg-Osgood</a:t>
          </a:r>
        </a:p>
        <a:p>
          <a:pPr marL="0" lvl="0" indent="0" algn="ctr" defTabSz="711200">
            <a:lnSpc>
              <a:spcPct val="90000"/>
            </a:lnSpc>
            <a:spcBef>
              <a:spcPct val="0"/>
            </a:spcBef>
            <a:spcAft>
              <a:spcPct val="35000"/>
            </a:spcAft>
            <a:buNone/>
          </a:pPr>
          <a:r>
            <a:rPr lang="el-GR" sz="1600" b="0" i="0" kern="1200" baseline="0" dirty="0">
              <a:effectLst/>
              <a:latin typeface="+mn-lt"/>
            </a:rPr>
            <a:t>ε = </a:t>
          </a:r>
          <a14:m xmlns:a14="http://schemas.microsoft.com/office/drawing/2010/main">
            <m:oMath xmlns:m="http://schemas.openxmlformats.org/officeDocument/2006/math">
              <m:f>
                <m:fPr>
                  <m:ctrlPr>
                    <a:rPr lang="el-GR" sz="1600" b="0" i="1" kern="1200" baseline="0" smtClean="0">
                      <a:effectLst/>
                      <a:latin typeface="Cambria Math" panose="02040503050406030204" pitchFamily="18" charset="0"/>
                    </a:rPr>
                  </m:ctrlPr>
                </m:fPr>
                <m:num>
                  <m:r>
                    <m:rPr>
                      <m:sty m:val="p"/>
                    </m:rPr>
                    <a:rPr lang="el-GR" sz="1600" b="0" i="0" kern="1200" baseline="0" smtClean="0">
                      <a:effectLst/>
                      <a:latin typeface="Cambria Math" panose="02040503050406030204" pitchFamily="18" charset="0"/>
                    </a:rPr>
                    <m:t>σ</m:t>
                  </m:r>
                </m:num>
                <m:den>
                  <m:r>
                    <a:rPr lang="en-US" sz="1600" b="0" i="1" kern="1200" baseline="0" smtClean="0">
                      <a:effectLst/>
                      <a:latin typeface="Cambria Math" panose="02040503050406030204" pitchFamily="18" charset="0"/>
                    </a:rPr>
                    <m:t>𝐸</m:t>
                  </m:r>
                </m:den>
              </m:f>
            </m:oMath>
          </a14:m>
          <a:r>
            <a:rPr lang="en-US" sz="1600" b="0" kern="1200" dirty="0">
              <a:effectLst/>
              <a:latin typeface="+mn-lt"/>
            </a:rPr>
            <a:t> + K</a:t>
          </a:r>
          <a14:m xmlns:a14="http://schemas.microsoft.com/office/drawing/2010/main">
            <m:oMath xmlns:m="http://schemas.openxmlformats.org/officeDocument/2006/math">
              <m:sSup>
                <m:sSupPr>
                  <m:ctrlPr>
                    <a:rPr lang="en-US" sz="1600" b="0" i="1" kern="1200" smtClean="0">
                      <a:effectLst/>
                      <a:latin typeface="Cambria Math" panose="02040503050406030204" pitchFamily="18" charset="0"/>
                    </a:rPr>
                  </m:ctrlPr>
                </m:sSupPr>
                <m:e>
                  <m:d>
                    <m:dPr>
                      <m:ctrlPr>
                        <a:rPr lang="en-US" sz="1600" b="0" i="1" kern="1200" smtClean="0">
                          <a:effectLst/>
                          <a:latin typeface="Cambria Math" panose="02040503050406030204" pitchFamily="18" charset="0"/>
                        </a:rPr>
                      </m:ctrlPr>
                    </m:dPr>
                    <m:e>
                      <m:f>
                        <m:fPr>
                          <m:ctrlPr>
                            <a:rPr lang="en-US" sz="1600" b="0" i="1" kern="1200" smtClean="0">
                              <a:effectLst/>
                              <a:latin typeface="Cambria Math" panose="02040503050406030204" pitchFamily="18" charset="0"/>
                            </a:rPr>
                          </m:ctrlPr>
                        </m:fPr>
                        <m:num>
                          <m:r>
                            <m:rPr>
                              <m:sty m:val="p"/>
                            </m:rPr>
                            <a:rPr lang="el-GR" sz="1600" b="0" i="0" kern="1200" baseline="0" smtClean="0">
                              <a:effectLst/>
                              <a:latin typeface="Cambria Math" panose="02040503050406030204" pitchFamily="18" charset="0"/>
                            </a:rPr>
                            <m:t>σ</m:t>
                          </m:r>
                        </m:num>
                        <m:den>
                          <m:r>
                            <m:rPr>
                              <m:sty m:val="p"/>
                            </m:rPr>
                            <a:rPr lang="el-GR" sz="1600" b="0" i="0" kern="1200" baseline="0" smtClean="0">
                              <a:effectLst/>
                              <a:latin typeface="Cambria Math" panose="02040503050406030204" pitchFamily="18" charset="0"/>
                            </a:rPr>
                            <m:t>σ</m:t>
                          </m:r>
                          <m:r>
                            <a:rPr lang="el-GR" sz="1600" b="0" i="0" kern="1200" baseline="0" smtClean="0">
                              <a:effectLst/>
                              <a:latin typeface="Cambria Math" panose="02040503050406030204" pitchFamily="18" charset="0"/>
                            </a:rPr>
                            <m:t>₀</m:t>
                          </m:r>
                        </m:den>
                      </m:f>
                    </m:e>
                  </m:d>
                </m:e>
                <m:sup>
                  <m:r>
                    <a:rPr lang="en-US" sz="1600" b="0" i="1" kern="1200" smtClean="0">
                      <a:effectLst/>
                      <a:latin typeface="Cambria Math" panose="02040503050406030204" pitchFamily="18" charset="0"/>
                    </a:rPr>
                    <m:t>𝑛</m:t>
                  </m:r>
                </m:sup>
              </m:sSup>
            </m:oMath>
          </a14:m>
          <a:endParaRPr lang="en-US" sz="1600" kern="1200" dirty="0"/>
        </a:p>
      </dsp:txBody>
      <dsp:txXfrm>
        <a:off x="434205" y="1276797"/>
        <a:ext cx="1265955" cy="10952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80FF1-7183-4509-AD33-878E01E5BF07}">
      <dsp:nvSpPr>
        <dsp:cNvPr id="0" name=""/>
        <dsp:cNvSpPr/>
      </dsp:nvSpPr>
      <dsp:spPr>
        <a:xfrm>
          <a:off x="125343" y="224931"/>
          <a:ext cx="2609521" cy="88481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baseline="0" dirty="0"/>
            <a:t>Hollomon</a:t>
          </a:r>
        </a:p>
        <a:p>
          <a:pPr marL="0" lvl="0" indent="0" algn="ctr" defTabSz="6223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1400" b="0" i="1" kern="1200" dirty="0" smtClean="0">
                    <a:latin typeface="Cambria Math" panose="02040503050406030204" pitchFamily="18" charset="0"/>
                  </a:rPr>
                  <m:t>𝜎</m:t>
                </m:r>
                <m:r>
                  <a:rPr lang="en-US" sz="1400" b="0" i="1" kern="1200" dirty="0" smtClean="0">
                    <a:latin typeface="Cambria Math" panose="02040503050406030204" pitchFamily="18" charset="0"/>
                  </a:rPr>
                  <m:t>=1212.9605</m:t>
                </m:r>
                <m:sSup>
                  <m:sSupPr>
                    <m:ctrlPr>
                      <a:rPr lang="en-US" sz="1400" b="0" i="1" kern="1200" dirty="0" smtClean="0">
                        <a:latin typeface="Cambria Math" panose="02040503050406030204" pitchFamily="18" charset="0"/>
                        <a:ea typeface="Cambria Math" panose="02040503050406030204" pitchFamily="18" charset="0"/>
                      </a:rPr>
                    </m:ctrlPr>
                  </m:sSupPr>
                  <m:e>
                    <m:r>
                      <a:rPr lang="en-US" sz="1400" b="0" i="1" kern="1200" dirty="0" smtClean="0">
                        <a:latin typeface="Cambria Math" panose="02040503050406030204" pitchFamily="18" charset="0"/>
                        <a:ea typeface="Cambria Math" panose="02040503050406030204" pitchFamily="18" charset="0"/>
                      </a:rPr>
                      <m:t>𝜀</m:t>
                    </m:r>
                  </m:e>
                  <m:sup>
                    <m:r>
                      <a:rPr lang="en-US" sz="1400" b="0" i="1" kern="1200" dirty="0" smtClean="0">
                        <a:latin typeface="Cambria Math" panose="02040503050406030204" pitchFamily="18" charset="0"/>
                        <a:ea typeface="Cambria Math" panose="02040503050406030204" pitchFamily="18" charset="0"/>
                      </a:rPr>
                      <m:t>0.0181</m:t>
                    </m:r>
                  </m:sup>
                </m:sSup>
              </m:oMath>
            </m:oMathPara>
          </a14:m>
          <a:endParaRPr lang="en-US" sz="1400" kern="1200" dirty="0"/>
        </a:p>
      </dsp:txBody>
      <dsp:txXfrm>
        <a:off x="125343" y="224931"/>
        <a:ext cx="2609521" cy="884815"/>
      </dsp:txXfrm>
    </dsp:sp>
    <dsp:sp modelId="{58A8BF23-98DB-4D99-90DF-D2CA5B303F8A}">
      <dsp:nvSpPr>
        <dsp:cNvPr id="0" name=""/>
        <dsp:cNvSpPr/>
      </dsp:nvSpPr>
      <dsp:spPr>
        <a:xfrm>
          <a:off x="3253820" y="262320"/>
          <a:ext cx="2609521" cy="82954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Ludwik</a:t>
          </a:r>
        </a:p>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𝜎</m:t>
                </m:r>
                <m:r>
                  <a:rPr lang="en-US" sz="1400" b="0" i="1" kern="1200" smtClean="0">
                    <a:latin typeface="Cambria Math" panose="02040503050406030204" pitchFamily="18" charset="0"/>
                  </a:rPr>
                  <m:t>=1051.95+701.21</m:t>
                </m:r>
                <m:sSup>
                  <m:sSupPr>
                    <m:ctrlPr>
                      <a:rPr lang="en-US" sz="1400" b="0" i="1" kern="1200" smtClean="0">
                        <a:latin typeface="Cambria Math" panose="02040503050406030204" pitchFamily="18" charset="0"/>
                        <a:ea typeface="Cambria Math" panose="02040503050406030204" pitchFamily="18" charset="0"/>
                      </a:rPr>
                    </m:ctrlPr>
                  </m:sSupPr>
                  <m:e>
                    <m:r>
                      <a:rPr lang="en-US" sz="1400" b="0" i="1" kern="1200" smtClean="0">
                        <a:latin typeface="Cambria Math" panose="02040503050406030204" pitchFamily="18" charset="0"/>
                        <a:ea typeface="Cambria Math" panose="02040503050406030204" pitchFamily="18" charset="0"/>
                      </a:rPr>
                      <m:t>𝜀</m:t>
                    </m:r>
                  </m:e>
                  <m:sup>
                    <m:r>
                      <a:rPr lang="en-US" sz="1400" b="0" i="1" kern="1200" smtClean="0">
                        <a:latin typeface="Cambria Math" panose="02040503050406030204" pitchFamily="18" charset="0"/>
                        <a:ea typeface="Cambria Math" panose="02040503050406030204" pitchFamily="18" charset="0"/>
                      </a:rPr>
                      <m:t>0.4909</m:t>
                    </m:r>
                  </m:sup>
                </m:sSup>
              </m:oMath>
            </m:oMathPara>
          </a14:m>
          <a:endParaRPr lang="en-US" sz="1400" b="0" kern="1200" dirty="0">
            <a:ea typeface="Cambria Math" panose="02040503050406030204" pitchFamily="18" charset="0"/>
          </a:endParaRPr>
        </a:p>
      </dsp:txBody>
      <dsp:txXfrm>
        <a:off x="3253820" y="262320"/>
        <a:ext cx="2609521" cy="829546"/>
      </dsp:txXfrm>
    </dsp:sp>
    <dsp:sp modelId="{20F54814-8C60-42F2-8B24-EF6058209949}">
      <dsp:nvSpPr>
        <dsp:cNvPr id="0" name=""/>
        <dsp:cNvSpPr/>
      </dsp:nvSpPr>
      <dsp:spPr>
        <a:xfrm>
          <a:off x="1376413" y="1321551"/>
          <a:ext cx="3561396" cy="94877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baseline="0" dirty="0"/>
            <a:t>Swift</a:t>
          </a:r>
          <a14:m xmlns:a14="http://schemas.microsoft.com/office/drawing/2010/main">
            <m:oMath xmlns:m="http://schemas.openxmlformats.org/officeDocument/2006/math">
              <m:r>
                <a:rPr lang="en-US" sz="2000" i="1" kern="1200">
                  <a:latin typeface="Cambria Math" panose="02040503050406030204" pitchFamily="18" charset="0"/>
                </a:rPr>
                <m:t> </m:t>
              </m:r>
            </m:oMath>
          </a14:m>
          <a:endParaRPr lang="en-US" sz="2000" kern="1200" dirty="0"/>
        </a:p>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𝜎</m:t>
                </m:r>
                <m:r>
                  <a:rPr lang="en-US" sz="1400" b="0" i="1" kern="1200" smtClean="0">
                    <a:latin typeface="Cambria Math" panose="02040503050406030204" pitchFamily="18" charset="0"/>
                  </a:rPr>
                  <m:t>=1311.266 </m:t>
                </m:r>
                <m:sSup>
                  <m:sSupPr>
                    <m:ctrlPr>
                      <a:rPr lang="en-US" sz="1400" b="0" i="1" kern="1200" smtClean="0">
                        <a:latin typeface="Cambria Math" panose="02040503050406030204" pitchFamily="18" charset="0"/>
                        <a:ea typeface="Cambria Math" panose="02040503050406030204" pitchFamily="18" charset="0"/>
                      </a:rPr>
                    </m:ctrlPr>
                  </m:sSupPr>
                  <m:e>
                    <m:d>
                      <m:dPr>
                        <m:ctrlPr>
                          <a:rPr lang="en-US" sz="1400" b="0" i="1" kern="1200" smtClean="0">
                            <a:latin typeface="Cambria Math" panose="02040503050406030204" pitchFamily="18" charset="0"/>
                            <a:ea typeface="Cambria Math" panose="02040503050406030204" pitchFamily="18" charset="0"/>
                          </a:rPr>
                        </m:ctrlPr>
                      </m:dPr>
                      <m:e>
                        <m:r>
                          <a:rPr lang="en-US" sz="1400" b="0" i="1" kern="1200" smtClean="0">
                            <a:latin typeface="Cambria Math" panose="02040503050406030204" pitchFamily="18" charset="0"/>
                            <a:ea typeface="Cambria Math" panose="02040503050406030204" pitchFamily="18" charset="0"/>
                          </a:rPr>
                          <m:t>𝜀</m:t>
                        </m:r>
                        <m:r>
                          <a:rPr lang="en-US" sz="1400" b="0" i="1" kern="1200" smtClean="0">
                            <a:latin typeface="Cambria Math" panose="02040503050406030204" pitchFamily="18" charset="0"/>
                            <a:ea typeface="Cambria Math" panose="02040503050406030204" pitchFamily="18" charset="0"/>
                          </a:rPr>
                          <m:t>+0.0026</m:t>
                        </m:r>
                      </m:e>
                    </m:d>
                  </m:e>
                  <m:sup>
                    <m:r>
                      <a:rPr lang="en-US" sz="1400" b="0" i="1" kern="1200" smtClean="0">
                        <a:latin typeface="Cambria Math" panose="02040503050406030204" pitchFamily="18" charset="0"/>
                        <a:ea typeface="Cambria Math" panose="02040503050406030204" pitchFamily="18" charset="0"/>
                      </a:rPr>
                      <m:t>0.0359</m:t>
                    </m:r>
                  </m:sup>
                </m:sSup>
              </m:oMath>
            </m:oMathPara>
          </a14:m>
          <a:endParaRPr lang="en-US" sz="1400" kern="1200" dirty="0"/>
        </a:p>
      </dsp:txBody>
      <dsp:txXfrm>
        <a:off x="1376413" y="1321551"/>
        <a:ext cx="3561396" cy="948775"/>
      </dsp:txXfrm>
    </dsp:sp>
    <dsp:sp modelId="{963604E8-5BF1-4F53-8E10-29DE6E8FDDDA}">
      <dsp:nvSpPr>
        <dsp:cNvPr id="0" name=""/>
        <dsp:cNvSpPr/>
      </dsp:nvSpPr>
      <dsp:spPr>
        <a:xfrm>
          <a:off x="838930" y="2454574"/>
          <a:ext cx="4612772" cy="94667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baseline="0" dirty="0"/>
            <a:t>Voce</a:t>
          </a:r>
        </a:p>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𝜎</m:t>
                </m:r>
                <m:r>
                  <a:rPr lang="en-US" sz="1400" b="0" i="1" kern="1200" smtClean="0">
                    <a:latin typeface="Cambria Math" panose="02040503050406030204" pitchFamily="18" charset="0"/>
                  </a:rPr>
                  <m:t>=1051.95+77.07(1−</m:t>
                </m:r>
                <m:sSup>
                  <m:sSupPr>
                    <m:ctrlPr>
                      <a:rPr lang="en-US" sz="1400" b="0" i="1" kern="1200" smtClean="0">
                        <a:latin typeface="Cambria Math" panose="02040503050406030204" pitchFamily="18" charset="0"/>
                      </a:rPr>
                    </m:ctrlPr>
                  </m:sSupPr>
                  <m:e>
                    <m:r>
                      <a:rPr lang="en-US" sz="1400" b="0" i="1" kern="1200" smtClean="0">
                        <a:latin typeface="Cambria Math" panose="02040503050406030204" pitchFamily="18" charset="0"/>
                      </a:rPr>
                      <m:t>𝑒</m:t>
                    </m:r>
                  </m:e>
                  <m:sup>
                    <m:r>
                      <a:rPr lang="en-US" sz="1400" b="0" i="1" kern="1200" smtClean="0">
                        <a:latin typeface="Cambria Math" panose="02040503050406030204" pitchFamily="18" charset="0"/>
                      </a:rPr>
                      <m:t>142.1846</m:t>
                    </m:r>
                    <m:r>
                      <a:rPr lang="en-US" sz="1400" b="0" i="1" kern="1200" smtClean="0">
                        <a:latin typeface="Cambria Math" panose="02040503050406030204" pitchFamily="18" charset="0"/>
                        <a:ea typeface="Cambria Math" panose="02040503050406030204" pitchFamily="18" charset="0"/>
                      </a:rPr>
                      <m:t>𝜀</m:t>
                    </m:r>
                  </m:sup>
                </m:sSup>
                <m:r>
                  <a:rPr lang="en-US" sz="1400" b="0" i="1" kern="1200" smtClean="0">
                    <a:latin typeface="Cambria Math" panose="02040503050406030204" pitchFamily="18" charset="0"/>
                  </a:rPr>
                  <m:t>)</m:t>
                </m:r>
              </m:oMath>
            </m:oMathPara>
          </a14:m>
          <a:endParaRPr lang="en-US" sz="1400" kern="1200" dirty="0"/>
        </a:p>
      </dsp:txBody>
      <dsp:txXfrm>
        <a:off x="838930" y="2454574"/>
        <a:ext cx="4612772" cy="946677"/>
      </dsp:txXfrm>
    </dsp:sp>
    <dsp:sp modelId="{4E868557-5804-428F-B65D-DED5AC901B99}">
      <dsp:nvSpPr>
        <dsp:cNvPr id="0" name=""/>
        <dsp:cNvSpPr/>
      </dsp:nvSpPr>
      <dsp:spPr>
        <a:xfrm>
          <a:off x="627559" y="3572911"/>
          <a:ext cx="5141827" cy="863866"/>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Hockett-Sherby</a:t>
          </a:r>
        </a:p>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𝜎</m:t>
                </m:r>
                <m:r>
                  <a:rPr lang="en-US" sz="1400" b="0" i="1" kern="1200" smtClean="0">
                    <a:latin typeface="Cambria Math" panose="02040503050406030204" pitchFamily="18" charset="0"/>
                  </a:rPr>
                  <m:t>=1051.95+238.53(1−</m:t>
                </m:r>
                <m:sSup>
                  <m:sSupPr>
                    <m:ctrlPr>
                      <a:rPr lang="en-US" sz="1400" b="0" i="1" kern="1200" smtClean="0">
                        <a:latin typeface="Cambria Math" panose="02040503050406030204" pitchFamily="18" charset="0"/>
                      </a:rPr>
                    </m:ctrlPr>
                  </m:sSupPr>
                  <m:e>
                    <m:r>
                      <a:rPr lang="en-US" sz="1400" i="1" kern="1200" smtClean="0">
                        <a:latin typeface="Cambria Math" panose="02040503050406030204" pitchFamily="18" charset="0"/>
                      </a:rPr>
                      <m:t>𝒆</m:t>
                    </m:r>
                  </m:e>
                  <m:sup>
                    <m:r>
                      <a:rPr lang="en-US" sz="1400" b="0" i="1" kern="1200" smtClean="0">
                        <a:latin typeface="Cambria Math" panose="02040503050406030204" pitchFamily="18" charset="0"/>
                      </a:rPr>
                      <m:t>−5.2986</m:t>
                    </m:r>
                    <m:sSup>
                      <m:sSupPr>
                        <m:ctrlPr>
                          <a:rPr lang="en-US" sz="1400" b="0" i="1" kern="1200" smtClean="0">
                            <a:latin typeface="Cambria Math" panose="02040503050406030204" pitchFamily="18" charset="0"/>
                            <a:ea typeface="Cambria Math" panose="02040503050406030204" pitchFamily="18" charset="0"/>
                          </a:rPr>
                        </m:ctrlPr>
                      </m:sSupPr>
                      <m:e>
                        <m:r>
                          <a:rPr lang="en-US" sz="1400" b="0" i="1" kern="1200" smtClean="0">
                            <a:latin typeface="Cambria Math" panose="02040503050406030204" pitchFamily="18" charset="0"/>
                            <a:ea typeface="Cambria Math" panose="02040503050406030204" pitchFamily="18" charset="0"/>
                          </a:rPr>
                          <m:t>𝜀</m:t>
                        </m:r>
                      </m:e>
                      <m:sup>
                        <m:r>
                          <a:rPr lang="en-US" sz="1400" b="0" i="1" kern="1200" smtClean="0">
                            <a:latin typeface="Cambria Math" panose="02040503050406030204" pitchFamily="18" charset="0"/>
                            <a:ea typeface="Cambria Math" panose="02040503050406030204" pitchFamily="18" charset="0"/>
                          </a:rPr>
                          <m:t>0.5942</m:t>
                        </m:r>
                      </m:sup>
                    </m:sSup>
                  </m:sup>
                </m:sSup>
                <m:r>
                  <a:rPr lang="en-US" sz="1400" b="0" i="1" kern="1200" smtClean="0">
                    <a:latin typeface="Cambria Math" panose="02040503050406030204" pitchFamily="18" charset="0"/>
                    <a:ea typeface="Cambria Math" panose="02040503050406030204" pitchFamily="18" charset="0"/>
                  </a:rPr>
                  <m:t>)</m:t>
                </m:r>
                <m:r>
                  <a:rPr lang="en-US" sz="1400" b="0" i="1" kern="1200" smtClean="0">
                    <a:latin typeface="Cambria Math" panose="02040503050406030204" pitchFamily="18" charset="0"/>
                  </a:rPr>
                  <m:t> </m:t>
                </m:r>
              </m:oMath>
            </m:oMathPara>
          </a14:m>
          <a:endParaRPr lang="en-US" sz="1400" kern="1200" dirty="0"/>
        </a:p>
      </dsp:txBody>
      <dsp:txXfrm>
        <a:off x="627559" y="3572911"/>
        <a:ext cx="5141827" cy="863866"/>
      </dsp:txXfrm>
    </dsp:sp>
    <dsp:sp modelId="{5894A9E5-5D72-4B78-BF22-13CF884C18D4}">
      <dsp:nvSpPr>
        <dsp:cNvPr id="0" name=""/>
        <dsp:cNvSpPr/>
      </dsp:nvSpPr>
      <dsp:spPr>
        <a:xfrm>
          <a:off x="1115904" y="4615294"/>
          <a:ext cx="4140710" cy="867123"/>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Ramberg-Osgood</a:t>
          </a:r>
        </a:p>
        <a:p>
          <a:pPr marL="0" lvl="0" indent="0" algn="ctr" defTabSz="711200">
            <a:lnSpc>
              <a:spcPct val="90000"/>
            </a:lnSpc>
            <a:spcBef>
              <a:spcPct val="0"/>
            </a:spcBef>
            <a:spcAft>
              <a:spcPct val="35000"/>
            </a:spcAft>
            <a:buNone/>
          </a:pPr>
          <a14:m xmlns:a14="http://schemas.microsoft.com/office/drawing/2010/main">
            <m:oMath xmlns:m="http://schemas.openxmlformats.org/officeDocument/2006/math">
              <m:r>
                <a:rPr lang="en-US" sz="1400" b="0" i="1" kern="1200" smtClean="0">
                  <a:latin typeface="Cambria Math" panose="02040503050406030204" pitchFamily="18" charset="0"/>
                  <a:ea typeface="Cambria Math" panose="02040503050406030204" pitchFamily="18" charset="0"/>
                </a:rPr>
                <m:t>𝜀</m:t>
              </m:r>
              <m:r>
                <a:rPr lang="en-US" sz="1400" b="0" i="1" kern="1200" smtClean="0">
                  <a:latin typeface="Cambria Math" panose="02040503050406030204" pitchFamily="18" charset="0"/>
                  <a:ea typeface="Cambria Math" panose="02040503050406030204" pitchFamily="18" charset="0"/>
                </a:rPr>
                <m:t>=</m:t>
              </m:r>
              <m:f>
                <m:fPr>
                  <m:ctrlPr>
                    <a:rPr lang="en-US" sz="1400" b="0" i="1" kern="1200" smtClean="0">
                      <a:latin typeface="Cambria Math" panose="02040503050406030204" pitchFamily="18" charset="0"/>
                      <a:ea typeface="Cambria Math" panose="02040503050406030204" pitchFamily="18" charset="0"/>
                    </a:rPr>
                  </m:ctrlPr>
                </m:fPr>
                <m:num>
                  <m:r>
                    <a:rPr lang="en-US" sz="1400" b="0" i="1" kern="1200" smtClean="0">
                      <a:latin typeface="Cambria Math" panose="02040503050406030204" pitchFamily="18" charset="0"/>
                      <a:ea typeface="Cambria Math" panose="02040503050406030204" pitchFamily="18" charset="0"/>
                    </a:rPr>
                    <m:t>𝜎</m:t>
                  </m:r>
                </m:num>
                <m:den>
                  <m:r>
                    <a:rPr lang="en-US" sz="1400" b="0" i="1" kern="1200" smtClean="0">
                      <a:latin typeface="Cambria Math" panose="02040503050406030204" pitchFamily="18" charset="0"/>
                      <a:ea typeface="Cambria Math" panose="02040503050406030204" pitchFamily="18" charset="0"/>
                    </a:rPr>
                    <m:t>𝐸</m:t>
                  </m:r>
                </m:den>
              </m:f>
              <m:r>
                <a:rPr lang="en-US" sz="1400" b="0" i="1" kern="1200" smtClean="0">
                  <a:latin typeface="Cambria Math" panose="02040503050406030204" pitchFamily="18" charset="0"/>
                  <a:ea typeface="Cambria Math" panose="02040503050406030204" pitchFamily="18" charset="0"/>
                </a:rPr>
                <m:t>+</m:t>
              </m:r>
              <m:d>
                <m:dPr>
                  <m:ctrlPr>
                    <a:rPr lang="en-US" sz="1400" b="0" i="1" kern="1200" smtClean="0">
                      <a:latin typeface="Cambria Math" panose="02040503050406030204" pitchFamily="18" charset="0"/>
                      <a:ea typeface="Cambria Math" panose="02040503050406030204" pitchFamily="18" charset="0"/>
                    </a:rPr>
                  </m:ctrlPr>
                </m:dPr>
                <m:e>
                  <m:r>
                    <a:rPr lang="en-US" sz="1400" b="0" i="1" kern="1200" smtClean="0">
                      <a:latin typeface="Cambria Math" panose="02040503050406030204" pitchFamily="18" charset="0"/>
                      <a:ea typeface="Cambria Math" panose="02040503050406030204" pitchFamily="18" charset="0"/>
                    </a:rPr>
                    <m:t>0.0094</m:t>
                  </m:r>
                </m:e>
              </m:d>
              <m:sSup>
                <m:sSupPr>
                  <m:ctrlPr>
                    <a:rPr lang="en-US" sz="1400" b="0" i="1" kern="1200" smtClean="0">
                      <a:latin typeface="Cambria Math" panose="02040503050406030204" pitchFamily="18" charset="0"/>
                      <a:ea typeface="Cambria Math" panose="02040503050406030204" pitchFamily="18" charset="0"/>
                    </a:rPr>
                  </m:ctrlPr>
                </m:sSupPr>
                <m:e>
                  <m:d>
                    <m:dPr>
                      <m:ctrlPr>
                        <a:rPr lang="en-US" sz="1400" b="0" i="1" kern="1200" smtClean="0">
                          <a:latin typeface="Cambria Math" panose="02040503050406030204" pitchFamily="18" charset="0"/>
                          <a:ea typeface="Cambria Math" panose="02040503050406030204" pitchFamily="18" charset="0"/>
                        </a:rPr>
                      </m:ctrlPr>
                    </m:dPr>
                    <m:e>
                      <m:f>
                        <m:fPr>
                          <m:ctrlPr>
                            <a:rPr lang="en-US" sz="1400" b="0" i="1" kern="1200" smtClean="0">
                              <a:latin typeface="Cambria Math" panose="02040503050406030204" pitchFamily="18" charset="0"/>
                              <a:ea typeface="Cambria Math" panose="02040503050406030204" pitchFamily="18" charset="0"/>
                            </a:rPr>
                          </m:ctrlPr>
                        </m:fPr>
                        <m:num>
                          <m:r>
                            <a:rPr lang="en-US" sz="1400" b="0" i="1" kern="1200" smtClean="0">
                              <a:latin typeface="Cambria Math" panose="02040503050406030204" pitchFamily="18" charset="0"/>
                              <a:ea typeface="Cambria Math" panose="02040503050406030204" pitchFamily="18" charset="0"/>
                            </a:rPr>
                            <m:t>𝜎</m:t>
                          </m:r>
                        </m:num>
                        <m:den>
                          <m:r>
                            <a:rPr lang="en-US" sz="1400" b="0" i="1" kern="1200" smtClean="0">
                              <a:latin typeface="Cambria Math" panose="02040503050406030204" pitchFamily="18" charset="0"/>
                              <a:ea typeface="Cambria Math" panose="02040503050406030204" pitchFamily="18" charset="0"/>
                            </a:rPr>
                            <m:t>1051.95</m:t>
                          </m:r>
                        </m:den>
                      </m:f>
                    </m:e>
                  </m:d>
                </m:e>
                <m:sup>
                  <m:r>
                    <a:rPr lang="en-US" sz="1400" b="0" i="1" kern="1200" smtClean="0">
                      <a:latin typeface="Cambria Math" panose="02040503050406030204" pitchFamily="18" charset="0"/>
                      <a:ea typeface="Cambria Math" panose="02040503050406030204" pitchFamily="18" charset="0"/>
                    </a:rPr>
                    <m:t>43.0252</m:t>
                  </m:r>
                </m:sup>
              </m:sSup>
            </m:oMath>
          </a14:m>
          <a:r>
            <a:rPr lang="en-US" sz="1600" kern="1200" dirty="0"/>
            <a:t> </a:t>
          </a:r>
        </a:p>
      </dsp:txBody>
      <dsp:txXfrm>
        <a:off x="1115904" y="4615294"/>
        <a:ext cx="4140710" cy="86712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76A92-BA46-441A-9162-D3AC31880DAB}">
      <dsp:nvSpPr>
        <dsp:cNvPr id="0" name=""/>
        <dsp:cNvSpPr/>
      </dsp:nvSpPr>
      <dsp:spPr>
        <a:xfrm>
          <a:off x="0" y="0"/>
          <a:ext cx="11306174" cy="8925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63500" sx="102000" sy="102000" algn="ctr"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baseline="0">
              <a:effectLst>
                <a:outerShdw blurRad="38100" dist="38100" dir="2700000" algn="tl">
                  <a:srgbClr val="000000">
                    <a:alpha val="43137"/>
                  </a:srgbClr>
                </a:outerShdw>
              </a:effectLst>
            </a:rPr>
            <a:t>Limitations of Simple Empirical Models</a:t>
          </a:r>
          <a:endParaRPr lang="en-US" sz="2400" kern="1200" dirty="0">
            <a:effectLst>
              <a:outerShdw blurRad="38100" dist="38100" dir="2700000" algn="tl">
                <a:srgbClr val="000000">
                  <a:alpha val="43137"/>
                </a:srgbClr>
              </a:outerShdw>
            </a:effectLst>
          </a:endParaRPr>
        </a:p>
      </dsp:txBody>
      <dsp:txXfrm>
        <a:off x="43568" y="43568"/>
        <a:ext cx="11219038" cy="805364"/>
      </dsp:txXfrm>
    </dsp:sp>
    <dsp:sp modelId="{94960AE2-C52B-4B2B-809F-765A6D15B322}">
      <dsp:nvSpPr>
        <dsp:cNvPr id="0" name=""/>
        <dsp:cNvSpPr/>
      </dsp:nvSpPr>
      <dsp:spPr>
        <a:xfrm>
          <a:off x="0" y="893469"/>
          <a:ext cx="11306174" cy="1592555"/>
        </a:xfrm>
        <a:prstGeom prst="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358971" tIns="20320" rIns="113792" bIns="20320" numCol="1" spcCol="1270" anchor="t" anchorCtr="0">
          <a:noAutofit/>
        </a:bodyPr>
        <a:lstStyle/>
        <a:p>
          <a:pPr marL="114300" lvl="1" indent="-114300" algn="l" defTabSz="577850">
            <a:lnSpc>
              <a:spcPct val="90000"/>
            </a:lnSpc>
            <a:spcBef>
              <a:spcPct val="0"/>
            </a:spcBef>
            <a:spcAft>
              <a:spcPct val="20000"/>
            </a:spcAft>
            <a:buChar char="•"/>
          </a:pPr>
          <a:endParaRPr lang="en-US" sz="1300" kern="1200" dirty="0">
            <a:effectLst/>
          </a:endParaRPr>
        </a:p>
        <a:p>
          <a:pPr marL="171450" lvl="1" indent="-171450" algn="l" defTabSz="711200">
            <a:lnSpc>
              <a:spcPct val="150000"/>
            </a:lnSpc>
            <a:spcBef>
              <a:spcPct val="0"/>
            </a:spcBef>
            <a:spcAft>
              <a:spcPct val="20000"/>
            </a:spcAft>
            <a:buChar char="•"/>
          </a:pPr>
          <a:r>
            <a:rPr lang="en-US" sz="1600" b="0" i="0" kern="1200" baseline="0" dirty="0">
              <a:effectLst/>
            </a:rPr>
            <a:t>No memory effects</a:t>
          </a:r>
          <a:endParaRPr lang="en-US" sz="1600" kern="1200" dirty="0">
            <a:effectLst/>
          </a:endParaRPr>
        </a:p>
        <a:p>
          <a:pPr marL="171450" lvl="1" indent="-171450" algn="l" defTabSz="711200">
            <a:lnSpc>
              <a:spcPct val="150000"/>
            </a:lnSpc>
            <a:spcBef>
              <a:spcPct val="0"/>
            </a:spcBef>
            <a:spcAft>
              <a:spcPct val="20000"/>
            </a:spcAft>
            <a:buChar char="•"/>
          </a:pPr>
          <a:r>
            <a:rPr lang="en-US" sz="1600" b="0" i="0" kern="1200" baseline="0" dirty="0">
              <a:effectLst/>
            </a:rPr>
            <a:t>No cyclic behavior</a:t>
          </a:r>
          <a:endParaRPr lang="en-US" sz="1600" kern="1200" dirty="0">
            <a:effectLst/>
          </a:endParaRPr>
        </a:p>
        <a:p>
          <a:pPr marL="171450" lvl="1" indent="-171450" algn="l" defTabSz="711200">
            <a:lnSpc>
              <a:spcPct val="150000"/>
            </a:lnSpc>
            <a:spcBef>
              <a:spcPct val="0"/>
            </a:spcBef>
            <a:spcAft>
              <a:spcPct val="20000"/>
            </a:spcAft>
            <a:buChar char="•"/>
          </a:pPr>
          <a:r>
            <a:rPr lang="en-US" sz="1600" b="0" i="0" kern="1200" baseline="0" dirty="0">
              <a:effectLst/>
            </a:rPr>
            <a:t>Cannot simulate ratcheting or </a:t>
          </a:r>
          <a:r>
            <a:rPr lang="en-US" sz="1600" b="0" i="0" kern="1200" baseline="0" dirty="0" err="1">
              <a:effectLst/>
            </a:rPr>
            <a:t>springback</a:t>
          </a:r>
          <a:endParaRPr lang="en-US" sz="1600" kern="1200" dirty="0">
            <a:effectLst/>
          </a:endParaRPr>
        </a:p>
      </dsp:txBody>
      <dsp:txXfrm>
        <a:off x="0" y="893469"/>
        <a:ext cx="11306174" cy="159255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5102FF-0713-B48A-1C63-6432155054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DF97A48-17CB-93A0-F43B-B4D68442C3A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82BF05-50F8-4AAE-9771-D37FC7DD10F7}" type="datetimeFigureOut">
              <a:rPr lang="en-US" smtClean="0"/>
              <a:t>7/30/2025</a:t>
            </a:fld>
            <a:endParaRPr lang="en-US"/>
          </a:p>
        </p:txBody>
      </p:sp>
      <p:sp>
        <p:nvSpPr>
          <p:cNvPr id="4" name="Footer Placeholder 3">
            <a:extLst>
              <a:ext uri="{FF2B5EF4-FFF2-40B4-BE49-F238E27FC236}">
                <a16:creationId xmlns:a16="http://schemas.microsoft.com/office/drawing/2014/main" id="{35AC2123-2007-5E6D-17B1-F1413C7F74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D66FD8C-EE9F-87BD-63D3-308440BAEE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94E41A-CBF1-47A2-8E8F-7D99303E1483}" type="slidenum">
              <a:rPr lang="en-US" smtClean="0"/>
              <a:t>‹#›</a:t>
            </a:fld>
            <a:endParaRPr lang="en-US"/>
          </a:p>
        </p:txBody>
      </p:sp>
    </p:spTree>
    <p:extLst>
      <p:ext uri="{BB962C8B-B14F-4D97-AF65-F5344CB8AC3E}">
        <p14:creationId xmlns:p14="http://schemas.microsoft.com/office/powerpoint/2010/main" val="31923581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9C30A5-ED92-4EBF-8E08-E512CBAB3CBA}" type="datetimeFigureOut">
              <a:rPr lang="en-US" smtClean="0"/>
              <a:t>7/30/2025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0F1CDD-D631-4BDC-98F4-E6E29A06446D}" type="slidenum">
              <a:rPr lang="en-US" smtClean="0"/>
              <a:t>‹#›</a:t>
            </a:fld>
            <a:endParaRPr lang="en-US"/>
          </a:p>
        </p:txBody>
      </p:sp>
    </p:spTree>
    <p:extLst>
      <p:ext uri="{BB962C8B-B14F-4D97-AF65-F5344CB8AC3E}">
        <p14:creationId xmlns:p14="http://schemas.microsoft.com/office/powerpoint/2010/main" val="40192272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F1CDD-D631-4BDC-98F4-E6E29A06446D}" type="slidenum">
              <a:rPr lang="en-US" smtClean="0"/>
              <a:t>5</a:t>
            </a:fld>
            <a:endParaRPr lang="en-US"/>
          </a:p>
        </p:txBody>
      </p:sp>
    </p:spTree>
    <p:extLst>
      <p:ext uri="{BB962C8B-B14F-4D97-AF65-F5344CB8AC3E}">
        <p14:creationId xmlns:p14="http://schemas.microsoft.com/office/powerpoint/2010/main" val="2116614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0F1CDD-D631-4BDC-98F4-E6E29A06446D}" type="slidenum">
              <a:rPr lang="en-US" smtClean="0"/>
              <a:t>10</a:t>
            </a:fld>
            <a:endParaRPr lang="en-US"/>
          </a:p>
        </p:txBody>
      </p:sp>
    </p:spTree>
    <p:extLst>
      <p:ext uri="{BB962C8B-B14F-4D97-AF65-F5344CB8AC3E}">
        <p14:creationId xmlns:p14="http://schemas.microsoft.com/office/powerpoint/2010/main" val="1194687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45281-79CC-8A2E-7EDC-E4C11E59F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4DE46F-80F7-205F-140B-1BF91EAF0C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08088A-FEAC-75FB-81F2-030630FB8781}"/>
              </a:ext>
            </a:extLst>
          </p:cNvPr>
          <p:cNvSpPr>
            <a:spLocks noGrp="1"/>
          </p:cNvSpPr>
          <p:nvPr>
            <p:ph type="dt" sz="half" idx="10"/>
          </p:nvPr>
        </p:nvSpPr>
        <p:spPr/>
        <p:txBody>
          <a:bodyPr/>
          <a:lstStyle/>
          <a:p>
            <a:fld id="{812B4CC8-C129-411F-B749-20CD96C642C4}" type="datetime1">
              <a:rPr lang="en-US" smtClean="0"/>
              <a:t>7/30/2025</a:t>
            </a:fld>
            <a:endParaRPr lang="en-US"/>
          </a:p>
        </p:txBody>
      </p:sp>
      <p:sp>
        <p:nvSpPr>
          <p:cNvPr id="5" name="Footer Placeholder 4">
            <a:extLst>
              <a:ext uri="{FF2B5EF4-FFF2-40B4-BE49-F238E27FC236}">
                <a16:creationId xmlns:a16="http://schemas.microsoft.com/office/drawing/2014/main" id="{8D52A641-AA58-34E5-1618-E81E8BF671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533333-A30F-1A16-B077-DB871ED0550A}"/>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184680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839A-AE62-E9A4-8E7F-36A50DA01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F52EBD-C97F-B070-44AE-633EB6774A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CD521-C0F0-C9DB-8CCC-4349A32B4CF9}"/>
              </a:ext>
            </a:extLst>
          </p:cNvPr>
          <p:cNvSpPr>
            <a:spLocks noGrp="1"/>
          </p:cNvSpPr>
          <p:nvPr>
            <p:ph type="dt" sz="half" idx="10"/>
          </p:nvPr>
        </p:nvSpPr>
        <p:spPr/>
        <p:txBody>
          <a:bodyPr/>
          <a:lstStyle/>
          <a:p>
            <a:fld id="{64B531B5-EAEF-4E6C-9020-367499731FA1}" type="datetime1">
              <a:rPr lang="en-US" smtClean="0"/>
              <a:t>7/30/2025</a:t>
            </a:fld>
            <a:endParaRPr lang="en-US"/>
          </a:p>
        </p:txBody>
      </p:sp>
      <p:sp>
        <p:nvSpPr>
          <p:cNvPr id="5" name="Footer Placeholder 4">
            <a:extLst>
              <a:ext uri="{FF2B5EF4-FFF2-40B4-BE49-F238E27FC236}">
                <a16:creationId xmlns:a16="http://schemas.microsoft.com/office/drawing/2014/main" id="{3B487CEE-99A2-6284-4B5E-670610323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09390C-4370-C44D-DCC0-81091967843E}"/>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178793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BE2DD-9B8D-6D33-A64D-98C701248C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3D1C3B-5518-D1A6-0C5B-1EF9FF7AFE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A67B3F-6CE7-F342-5E0B-957183A548EE}"/>
              </a:ext>
            </a:extLst>
          </p:cNvPr>
          <p:cNvSpPr>
            <a:spLocks noGrp="1"/>
          </p:cNvSpPr>
          <p:nvPr>
            <p:ph type="dt" sz="half" idx="10"/>
          </p:nvPr>
        </p:nvSpPr>
        <p:spPr/>
        <p:txBody>
          <a:bodyPr/>
          <a:lstStyle/>
          <a:p>
            <a:fld id="{AAAAF830-89E7-412A-AB43-31E066A3987B}" type="datetime1">
              <a:rPr lang="en-US" smtClean="0"/>
              <a:t>7/30/2025</a:t>
            </a:fld>
            <a:endParaRPr lang="en-US"/>
          </a:p>
        </p:txBody>
      </p:sp>
      <p:sp>
        <p:nvSpPr>
          <p:cNvPr id="5" name="Footer Placeholder 4">
            <a:extLst>
              <a:ext uri="{FF2B5EF4-FFF2-40B4-BE49-F238E27FC236}">
                <a16:creationId xmlns:a16="http://schemas.microsoft.com/office/drawing/2014/main" id="{485F9A8B-CEBD-C48A-8B8F-5C1DC862DD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34D00-5834-9E25-50F2-0FF2EA642371}"/>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2555458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79523-DDD0-D9F4-5CD3-408EB9182C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FAD04B-9C05-9DFB-E399-2277C3FAFC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EA823E-C144-28A0-8D39-B1F3292457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433629-97C8-127B-A963-E1ED675A4556}"/>
              </a:ext>
            </a:extLst>
          </p:cNvPr>
          <p:cNvSpPr>
            <a:spLocks noGrp="1"/>
          </p:cNvSpPr>
          <p:nvPr>
            <p:ph type="dt" sz="half" idx="10"/>
          </p:nvPr>
        </p:nvSpPr>
        <p:spPr/>
        <p:txBody>
          <a:bodyPr/>
          <a:lstStyle/>
          <a:p>
            <a:fld id="{68DCF494-F8A5-4E7B-81B9-CEF6B5A86876}" type="datetime1">
              <a:rPr lang="en-US" smtClean="0"/>
              <a:t>7/30/2025</a:t>
            </a:fld>
            <a:endParaRPr lang="en-US"/>
          </a:p>
        </p:txBody>
      </p:sp>
      <p:sp>
        <p:nvSpPr>
          <p:cNvPr id="6" name="Footer Placeholder 5">
            <a:extLst>
              <a:ext uri="{FF2B5EF4-FFF2-40B4-BE49-F238E27FC236}">
                <a16:creationId xmlns:a16="http://schemas.microsoft.com/office/drawing/2014/main" id="{A7D8DC13-E8A2-C2D1-1B6D-883840613A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760891-F861-9CFA-2B99-9E47E1997585}"/>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3307787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9CDD-9581-3913-19D8-3364FB6796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4A59C5-9C37-74EC-7490-C85ABFD8FD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CB3100-6A6E-F446-C10E-F7FE64E288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4BDDEA-A54A-7BF6-078F-E498C71143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45E5E3-6DEB-84DB-E913-9FD924CBC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30DB0A-1BD0-F790-81BC-7320233980B3}"/>
              </a:ext>
            </a:extLst>
          </p:cNvPr>
          <p:cNvSpPr>
            <a:spLocks noGrp="1"/>
          </p:cNvSpPr>
          <p:nvPr>
            <p:ph type="dt" sz="half" idx="10"/>
          </p:nvPr>
        </p:nvSpPr>
        <p:spPr/>
        <p:txBody>
          <a:bodyPr/>
          <a:lstStyle/>
          <a:p>
            <a:fld id="{B18C0D08-D3FA-4791-BFBB-944BE07CEA73}" type="datetime1">
              <a:rPr lang="en-US" smtClean="0"/>
              <a:t>7/30/2025</a:t>
            </a:fld>
            <a:endParaRPr lang="en-US"/>
          </a:p>
        </p:txBody>
      </p:sp>
      <p:sp>
        <p:nvSpPr>
          <p:cNvPr id="8" name="Footer Placeholder 7">
            <a:extLst>
              <a:ext uri="{FF2B5EF4-FFF2-40B4-BE49-F238E27FC236}">
                <a16:creationId xmlns:a16="http://schemas.microsoft.com/office/drawing/2014/main" id="{FA5056E6-05E6-215B-F59C-7CC173B562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37B355-E617-25A0-1291-1BFE6D963E9B}"/>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1542475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9D1E3-933C-9A09-ED8B-424179D2C0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84B820-458B-6411-7719-A2846E462BE9}"/>
              </a:ext>
            </a:extLst>
          </p:cNvPr>
          <p:cNvSpPr>
            <a:spLocks noGrp="1"/>
          </p:cNvSpPr>
          <p:nvPr>
            <p:ph type="dt" sz="half" idx="10"/>
          </p:nvPr>
        </p:nvSpPr>
        <p:spPr/>
        <p:txBody>
          <a:bodyPr/>
          <a:lstStyle/>
          <a:p>
            <a:fld id="{5CDED3C7-54F8-4879-A71C-1A40DCD2A2C1}" type="datetime1">
              <a:rPr lang="en-US" smtClean="0"/>
              <a:t>7/30/2025</a:t>
            </a:fld>
            <a:endParaRPr lang="en-US"/>
          </a:p>
        </p:txBody>
      </p:sp>
      <p:sp>
        <p:nvSpPr>
          <p:cNvPr id="4" name="Footer Placeholder 3">
            <a:extLst>
              <a:ext uri="{FF2B5EF4-FFF2-40B4-BE49-F238E27FC236}">
                <a16:creationId xmlns:a16="http://schemas.microsoft.com/office/drawing/2014/main" id="{BE6D8FDD-81ED-BAA0-C1DD-69FD2D4442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DD9ED2-A7E6-C98E-1E41-742FCCCAAE7C}"/>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3909344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6E838B-5D0C-0CB2-9F6E-3F9246284B5D}"/>
              </a:ext>
            </a:extLst>
          </p:cNvPr>
          <p:cNvSpPr>
            <a:spLocks noGrp="1"/>
          </p:cNvSpPr>
          <p:nvPr>
            <p:ph type="dt" sz="half" idx="10"/>
          </p:nvPr>
        </p:nvSpPr>
        <p:spPr/>
        <p:txBody>
          <a:bodyPr/>
          <a:lstStyle/>
          <a:p>
            <a:fld id="{A8279179-91C4-472A-A705-031B1C062142}" type="datetime1">
              <a:rPr lang="en-US" smtClean="0"/>
              <a:t>7/30/2025</a:t>
            </a:fld>
            <a:endParaRPr lang="en-US"/>
          </a:p>
        </p:txBody>
      </p:sp>
      <p:sp>
        <p:nvSpPr>
          <p:cNvPr id="3" name="Footer Placeholder 2">
            <a:extLst>
              <a:ext uri="{FF2B5EF4-FFF2-40B4-BE49-F238E27FC236}">
                <a16:creationId xmlns:a16="http://schemas.microsoft.com/office/drawing/2014/main" id="{FA515668-9E82-0115-670A-B89D64111F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00B8BD-85C8-0F1E-05AD-2EAB32FD907D}"/>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2735186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7216D-B9C3-A005-32E5-79AD3E3E23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AA5563-7C29-BE70-233B-65DC48A481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04DC9E-69AD-0858-F69B-8C25B27439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9DDBB-F46F-3064-3373-76DF0CB5BA2B}"/>
              </a:ext>
            </a:extLst>
          </p:cNvPr>
          <p:cNvSpPr>
            <a:spLocks noGrp="1"/>
          </p:cNvSpPr>
          <p:nvPr>
            <p:ph type="dt" sz="half" idx="10"/>
          </p:nvPr>
        </p:nvSpPr>
        <p:spPr/>
        <p:txBody>
          <a:bodyPr/>
          <a:lstStyle/>
          <a:p>
            <a:fld id="{0B2C1A66-D8EF-46D5-9F72-BA60470ABC40}" type="datetime1">
              <a:rPr lang="en-US" smtClean="0"/>
              <a:t>7/30/2025</a:t>
            </a:fld>
            <a:endParaRPr lang="en-US"/>
          </a:p>
        </p:txBody>
      </p:sp>
      <p:sp>
        <p:nvSpPr>
          <p:cNvPr id="6" name="Footer Placeholder 5">
            <a:extLst>
              <a:ext uri="{FF2B5EF4-FFF2-40B4-BE49-F238E27FC236}">
                <a16:creationId xmlns:a16="http://schemas.microsoft.com/office/drawing/2014/main" id="{11E5CB7A-7D97-9162-D815-519DA247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89830-7D26-967C-00A4-30F98D4FC99B}"/>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4119958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626C-20DC-4F32-0EC9-8367DA3311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679670-7B34-8DA9-E7B8-CC3264CA4A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849B96-6FA0-A44C-12BA-E51573CD8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906BD9-365C-1394-6F67-7A2ABC827FCB}"/>
              </a:ext>
            </a:extLst>
          </p:cNvPr>
          <p:cNvSpPr>
            <a:spLocks noGrp="1"/>
          </p:cNvSpPr>
          <p:nvPr>
            <p:ph type="dt" sz="half" idx="10"/>
          </p:nvPr>
        </p:nvSpPr>
        <p:spPr/>
        <p:txBody>
          <a:bodyPr/>
          <a:lstStyle/>
          <a:p>
            <a:fld id="{83677A62-55B7-4708-92B1-270C7919D427}" type="datetime1">
              <a:rPr lang="en-US" smtClean="0"/>
              <a:t>7/30/2025</a:t>
            </a:fld>
            <a:endParaRPr lang="en-US"/>
          </a:p>
        </p:txBody>
      </p:sp>
      <p:sp>
        <p:nvSpPr>
          <p:cNvPr id="6" name="Footer Placeholder 5">
            <a:extLst>
              <a:ext uri="{FF2B5EF4-FFF2-40B4-BE49-F238E27FC236}">
                <a16:creationId xmlns:a16="http://schemas.microsoft.com/office/drawing/2014/main" id="{E94D6D37-1A45-ED9E-ADA0-36D24CD82D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2BD19F-CC54-C672-9FD2-4E3D6E8D97AE}"/>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3456929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7965-C115-F2B1-57CE-CDE146F1D7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329716-DE3C-74AC-ADB0-86B5855D36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4599-6BFC-44FF-A693-6F9DE7467A75}"/>
              </a:ext>
            </a:extLst>
          </p:cNvPr>
          <p:cNvSpPr>
            <a:spLocks noGrp="1"/>
          </p:cNvSpPr>
          <p:nvPr>
            <p:ph type="dt" sz="half" idx="10"/>
          </p:nvPr>
        </p:nvSpPr>
        <p:spPr/>
        <p:txBody>
          <a:bodyPr/>
          <a:lstStyle/>
          <a:p>
            <a:fld id="{46E6E784-1598-4A9E-BFC4-6FA18A8024F3}" type="datetime1">
              <a:rPr lang="en-US" smtClean="0"/>
              <a:t>7/30/2025</a:t>
            </a:fld>
            <a:endParaRPr lang="en-US"/>
          </a:p>
        </p:txBody>
      </p:sp>
      <p:sp>
        <p:nvSpPr>
          <p:cNvPr id="5" name="Footer Placeholder 4">
            <a:extLst>
              <a:ext uri="{FF2B5EF4-FFF2-40B4-BE49-F238E27FC236}">
                <a16:creationId xmlns:a16="http://schemas.microsoft.com/office/drawing/2014/main" id="{A70CD4D9-8355-5453-1706-1A396A05C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90531-054C-8C26-432D-74000EFB795F}"/>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2179140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972C3F-F423-C8A1-82D4-6A77C67B48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4D42C6-4241-528D-78AB-A2DD36E9D9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A29D0-43C5-A409-8232-E7E5BC46997D}"/>
              </a:ext>
            </a:extLst>
          </p:cNvPr>
          <p:cNvSpPr>
            <a:spLocks noGrp="1"/>
          </p:cNvSpPr>
          <p:nvPr>
            <p:ph type="dt" sz="half" idx="10"/>
          </p:nvPr>
        </p:nvSpPr>
        <p:spPr/>
        <p:txBody>
          <a:bodyPr/>
          <a:lstStyle/>
          <a:p>
            <a:fld id="{53FC53BB-1C13-4DE5-A474-4965209BF0FC}" type="datetime1">
              <a:rPr lang="en-US" smtClean="0"/>
              <a:t>7/30/2025</a:t>
            </a:fld>
            <a:endParaRPr lang="en-US"/>
          </a:p>
        </p:txBody>
      </p:sp>
      <p:sp>
        <p:nvSpPr>
          <p:cNvPr id="5" name="Footer Placeholder 4">
            <a:extLst>
              <a:ext uri="{FF2B5EF4-FFF2-40B4-BE49-F238E27FC236}">
                <a16:creationId xmlns:a16="http://schemas.microsoft.com/office/drawing/2014/main" id="{6EC53FD3-FCA9-899E-DD38-A789B80E1E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DCCAD1-63A7-A12D-CAC4-1D4070CB872A}"/>
              </a:ext>
            </a:extLst>
          </p:cNvPr>
          <p:cNvSpPr>
            <a:spLocks noGrp="1"/>
          </p:cNvSpPr>
          <p:nvPr>
            <p:ph type="sldNum" sz="quarter" idx="12"/>
          </p:nvPr>
        </p:nvSpPr>
        <p:spPr/>
        <p:txBody>
          <a:bodyPr/>
          <a:lstStyle/>
          <a:p>
            <a:fld id="{391FDEF6-1391-4D4B-A58D-C3DF55301A07}" type="slidenum">
              <a:rPr lang="en-US" smtClean="0"/>
              <a:t>‹#›</a:t>
            </a:fld>
            <a:endParaRPr lang="en-US"/>
          </a:p>
        </p:txBody>
      </p:sp>
    </p:spTree>
    <p:extLst>
      <p:ext uri="{BB962C8B-B14F-4D97-AF65-F5344CB8AC3E}">
        <p14:creationId xmlns:p14="http://schemas.microsoft.com/office/powerpoint/2010/main" val="846486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77860F-AAAC-418B-7216-F039EE3A5E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2B0A91-23E5-A489-1248-3E39C19D62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484818-50FB-A6B9-6E05-E7F34BF482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2AB556-7F1F-47A8-9574-1B4DC24FB96B}" type="datetime1">
              <a:rPr lang="en-US" smtClean="0"/>
              <a:t>7/30/2025</a:t>
            </a:fld>
            <a:endParaRPr lang="en-US"/>
          </a:p>
        </p:txBody>
      </p:sp>
      <p:sp>
        <p:nvSpPr>
          <p:cNvPr id="5" name="Footer Placeholder 4">
            <a:extLst>
              <a:ext uri="{FF2B5EF4-FFF2-40B4-BE49-F238E27FC236}">
                <a16:creationId xmlns:a16="http://schemas.microsoft.com/office/drawing/2014/main" id="{4F56A972-4B48-BCE5-2719-A484FAD288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29A1E5-3DC4-D597-2CB7-BAC728FBF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1FDEF6-1391-4D4B-A58D-C3DF55301A07}" type="slidenum">
              <a:rPr lang="en-US" smtClean="0"/>
              <a:t>‹#›</a:t>
            </a:fld>
            <a:endParaRPr lang="en-US"/>
          </a:p>
        </p:txBody>
      </p:sp>
    </p:spTree>
    <p:extLst>
      <p:ext uri="{BB962C8B-B14F-4D97-AF65-F5344CB8AC3E}">
        <p14:creationId xmlns:p14="http://schemas.microsoft.com/office/powerpoint/2010/main" val="1833058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8.png"/><Relationship Id="rId5" Type="http://schemas.openxmlformats.org/officeDocument/2006/relationships/diagramColors" Target="../diagrams/colors1.xml"/><Relationship Id="rId10" Type="http://schemas.openxmlformats.org/officeDocument/2006/relationships/image" Target="../media/image7.png"/><Relationship Id="rId4" Type="http://schemas.openxmlformats.org/officeDocument/2006/relationships/diagramQuickStyle" Target="../diagrams/quickStyle1.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diagramLayout" Target="../diagrams/layout2.xml"/><Relationship Id="rId7" Type="http://schemas.openxmlformats.org/officeDocument/2006/relationships/image" Target="NUL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NULL"/><Relationship Id="rId4" Type="http://schemas.openxmlformats.org/officeDocument/2006/relationships/diagramQuickStyle" Target="../diagrams/quickStyle2.xml"/><Relationship Id="rId9" Type="http://schemas.openxmlformats.org/officeDocument/2006/relationships/image" Target="NULL"/></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3.xml"/><Relationship Id="rId7" Type="http://schemas.openxmlformats.org/officeDocument/2006/relationships/image" Target="../media/image10.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hyperlink" Target="https://doi.org/10.1088/1757-899X/668/1/012013"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10.xml"/><Relationship Id="rId2" Type="http://schemas.openxmlformats.org/officeDocument/2006/relationships/diagramData" Target="../diagrams/data5.xml"/><Relationship Id="rId16" Type="http://schemas.openxmlformats.org/officeDocument/2006/relationships/image" Target="../media/image20.png"/><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6.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1.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2.xml"/><Relationship Id="rId16" Type="http://schemas.openxmlformats.org/officeDocument/2006/relationships/diagramColors" Target="../diagrams/colors90.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90.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90.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0.xml"/><Relationship Id="rId13" Type="http://schemas.openxmlformats.org/officeDocument/2006/relationships/diagramQuickStyle" Target="../diagrams/quickStyle11.xml"/><Relationship Id="rId18" Type="http://schemas.openxmlformats.org/officeDocument/2006/relationships/diagramQuickStyle" Target="../diagrams/quickStyle11.xml"/><Relationship Id="rId3" Type="http://schemas.openxmlformats.org/officeDocument/2006/relationships/diagramLayout" Target="../diagrams/layout10.xml"/><Relationship Id="rId7" Type="http://schemas.openxmlformats.org/officeDocument/2006/relationships/diagramData" Target="../diagrams/data120.xml"/><Relationship Id="rId12" Type="http://schemas.openxmlformats.org/officeDocument/2006/relationships/diagramLayout" Target="../diagrams/layout11.xml"/><Relationship Id="rId17" Type="http://schemas.openxmlformats.org/officeDocument/2006/relationships/diagramLayout" Target="../diagrams/layout11.xml"/><Relationship Id="rId2" Type="http://schemas.openxmlformats.org/officeDocument/2006/relationships/diagramData" Target="../diagrams/data12.xml"/><Relationship Id="rId16"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diagramData" Target="../diagrams/data13.xml"/><Relationship Id="rId5" Type="http://schemas.openxmlformats.org/officeDocument/2006/relationships/diagramColors" Target="../diagrams/colors10.xml"/><Relationship Id="rId15" Type="http://schemas.microsoft.com/office/2007/relationships/diagramDrawing" Target="../diagrams/drawing11.xml"/><Relationship Id="rId10" Type="http://schemas.openxmlformats.org/officeDocument/2006/relationships/diagramColors" Target="../diagrams/colors10.xml"/><Relationship Id="rId19"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0.xml"/><Relationship Id="rId14" Type="http://schemas.openxmlformats.org/officeDocument/2006/relationships/diagramColors" Target="../diagrams/colors11.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4.xml"/><Relationship Id="rId7" Type="http://schemas.microsoft.com/office/2007/relationships/diagramDrawing" Target="../diagrams/drawing12.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10" Type="http://schemas.openxmlformats.org/officeDocument/2006/relationships/image" Target="../media/image240.png"/><Relationship Id="rId4" Type="http://schemas.openxmlformats.org/officeDocument/2006/relationships/diagramLayout" Target="../diagrams/layout12.xml"/><Relationship Id="rId9" Type="http://schemas.openxmlformats.org/officeDocument/2006/relationships/image" Target="../media/image230.png"/></Relationships>
</file>

<file path=ppt/slides/_rels/slide1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16/j.ijpvp.2019.01.017"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40.png"/><Relationship Id="rId4" Type="http://schemas.openxmlformats.org/officeDocument/2006/relationships/image" Target="../media/image330.png"/></Relationships>
</file>

<file path=ppt/slides/_rels/slide18.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370.png"/></Relationships>
</file>

<file path=ppt/slides/_rels/slide19.xml.rels><?xml version="1.0" encoding="UTF-8" standalone="yes"?>
<Relationships xmlns="http://schemas.openxmlformats.org/package/2006/relationships"><Relationship Id="rId3" Type="http://schemas.openxmlformats.org/officeDocument/2006/relationships/image" Target="../media/image29.tif"/><Relationship Id="rId2" Type="http://schemas.openxmlformats.org/officeDocument/2006/relationships/image" Target="../media/image28.t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t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16/j.ijpvp.2019.01.017" TargetMode="External"/><Relationship Id="rId2" Type="http://schemas.openxmlformats.org/officeDocument/2006/relationships/hyperlink" Target="https://doi.org/10.1016/0749-6419(89)90015-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8884F7-2546-9AE1-7F2F-927C50A42DA5}"/>
              </a:ext>
            </a:extLst>
          </p:cNvPr>
          <p:cNvPicPr>
            <a:picLocks noChangeAspect="1"/>
          </p:cNvPicPr>
          <p:nvPr/>
        </p:nvPicPr>
        <p:blipFill>
          <a:blip r:embed="rId2">
            <a:alphaModFix amt="20000"/>
          </a:blip>
          <a:srcRect r="646"/>
          <a:stretch>
            <a:fillRect/>
          </a:stretch>
        </p:blipFill>
        <p:spPr>
          <a:xfrm>
            <a:off x="0" y="0"/>
            <a:ext cx="12192000" cy="6831339"/>
          </a:xfrm>
          <a:prstGeom prst="rect">
            <a:avLst/>
          </a:prstGeom>
        </p:spPr>
      </p:pic>
      <p:pic>
        <p:nvPicPr>
          <p:cNvPr id="5" name="Picture 4">
            <a:extLst>
              <a:ext uri="{FF2B5EF4-FFF2-40B4-BE49-F238E27FC236}">
                <a16:creationId xmlns:a16="http://schemas.microsoft.com/office/drawing/2014/main" id="{C296AEA8-0032-5BC7-2721-7F5FEE78BA90}"/>
              </a:ext>
            </a:extLst>
          </p:cNvPr>
          <p:cNvPicPr>
            <a:picLocks noChangeAspect="1"/>
          </p:cNvPicPr>
          <p:nvPr/>
        </p:nvPicPr>
        <p:blipFill>
          <a:blip r:embed="rId3"/>
          <a:srcRect l="4466" t="73253" r="4446" b="5432"/>
          <a:stretch>
            <a:fillRect/>
          </a:stretch>
        </p:blipFill>
        <p:spPr>
          <a:xfrm>
            <a:off x="1291166" y="4971362"/>
            <a:ext cx="9914466" cy="1734238"/>
          </a:xfrm>
          <a:prstGeom prst="rect">
            <a:avLst/>
          </a:prstGeom>
        </p:spPr>
      </p:pic>
      <p:sp>
        <p:nvSpPr>
          <p:cNvPr id="6" name="Rectangle 5">
            <a:extLst>
              <a:ext uri="{FF2B5EF4-FFF2-40B4-BE49-F238E27FC236}">
                <a16:creationId xmlns:a16="http://schemas.microsoft.com/office/drawing/2014/main" id="{8F418159-6791-48C4-1202-3FFA2643ED30}"/>
              </a:ext>
            </a:extLst>
          </p:cNvPr>
          <p:cNvSpPr/>
          <p:nvPr/>
        </p:nvSpPr>
        <p:spPr>
          <a:xfrm>
            <a:off x="611010" y="1534371"/>
            <a:ext cx="10969977" cy="22509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600" dirty="0">
                <a:solidFill>
                  <a:schemeClr val="tx1"/>
                </a:solidFill>
              </a:rPr>
              <a:t>Constitutive Modeling and Parameter Identification of Strain Hardening Behavior in 50CrMo4 Steel</a:t>
            </a:r>
            <a:endParaRPr lang="en-US" sz="3600" b="1" dirty="0">
              <a:solidFill>
                <a:schemeClr val="accent1">
                  <a:lumMod val="50000"/>
                </a:schemeClr>
              </a:solidFill>
              <a:effectLst>
                <a:outerShdw blurRad="38100" dist="38100" dir="2700000" algn="tl">
                  <a:srgbClr val="000000">
                    <a:alpha val="43137"/>
                  </a:srgbClr>
                </a:outerShdw>
              </a:effectLst>
            </a:endParaRPr>
          </a:p>
        </p:txBody>
      </p:sp>
      <p:sp>
        <p:nvSpPr>
          <p:cNvPr id="2" name="Rectangle 1">
            <a:extLst>
              <a:ext uri="{FF2B5EF4-FFF2-40B4-BE49-F238E27FC236}">
                <a16:creationId xmlns:a16="http://schemas.microsoft.com/office/drawing/2014/main" id="{C799F324-05C6-3589-DD67-0DAEE2766DE8}"/>
              </a:ext>
            </a:extLst>
          </p:cNvPr>
          <p:cNvSpPr/>
          <p:nvPr/>
        </p:nvSpPr>
        <p:spPr>
          <a:xfrm>
            <a:off x="952646" y="3435531"/>
            <a:ext cx="10286707" cy="13036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r"/>
            <a:r>
              <a:rPr lang="en-US" sz="2800" dirty="0">
                <a:solidFill>
                  <a:schemeClr val="accent1">
                    <a:lumMod val="50000"/>
                  </a:schemeClr>
                </a:solidFill>
              </a:rPr>
              <a:t>							   Badejo Olajide</a:t>
            </a:r>
          </a:p>
          <a:p>
            <a:pPr algn="r"/>
            <a:r>
              <a:rPr lang="en-US" sz="2800" dirty="0">
                <a:solidFill>
                  <a:schemeClr val="accent1">
                    <a:lumMod val="50000"/>
                  </a:schemeClr>
                </a:solidFill>
              </a:rPr>
              <a:t>							   Abdul-Hafiz Sulaiman</a:t>
            </a:r>
          </a:p>
          <a:p>
            <a:pPr algn="r"/>
            <a:r>
              <a:rPr lang="en-US" sz="2800" dirty="0">
                <a:solidFill>
                  <a:schemeClr val="accent1">
                    <a:lumMod val="50000"/>
                  </a:schemeClr>
                </a:solidFill>
              </a:rPr>
              <a:t>Haile Tsegu</a:t>
            </a:r>
          </a:p>
        </p:txBody>
      </p:sp>
      <p:pic>
        <p:nvPicPr>
          <p:cNvPr id="7" name="Picture 6">
            <a:extLst>
              <a:ext uri="{FF2B5EF4-FFF2-40B4-BE49-F238E27FC236}">
                <a16:creationId xmlns:a16="http://schemas.microsoft.com/office/drawing/2014/main" id="{B523CA44-975F-79C0-8F63-C08A7EC11428}"/>
              </a:ext>
            </a:extLst>
          </p:cNvPr>
          <p:cNvPicPr>
            <a:picLocks noChangeAspect="1"/>
          </p:cNvPicPr>
          <p:nvPr/>
        </p:nvPicPr>
        <p:blipFill>
          <a:blip r:embed="rId4"/>
          <a:srcRect l="7076" t="10609" r="7500" b="67276"/>
          <a:stretch>
            <a:fillRect/>
          </a:stretch>
        </p:blipFill>
        <p:spPr>
          <a:xfrm>
            <a:off x="1575303" y="152401"/>
            <a:ext cx="9297910" cy="1731730"/>
          </a:xfrm>
          <a:prstGeom prst="rect">
            <a:avLst/>
          </a:prstGeom>
        </p:spPr>
      </p:pic>
    </p:spTree>
    <p:extLst>
      <p:ext uri="{BB962C8B-B14F-4D97-AF65-F5344CB8AC3E}">
        <p14:creationId xmlns:p14="http://schemas.microsoft.com/office/powerpoint/2010/main" val="1222214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1D492F-7E49-76BC-EB3C-529B67C19E09}"/>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Introduction</a:t>
            </a:r>
          </a:p>
        </p:txBody>
      </p:sp>
      <p:graphicFrame>
        <p:nvGraphicFramePr>
          <p:cNvPr id="12" name="Diagram 11">
            <a:extLst>
              <a:ext uri="{FF2B5EF4-FFF2-40B4-BE49-F238E27FC236}">
                <a16:creationId xmlns:a16="http://schemas.microsoft.com/office/drawing/2014/main" id="{E3220E17-F50E-6248-E968-ABE6C865635A}"/>
              </a:ext>
            </a:extLst>
          </p:cNvPr>
          <p:cNvGraphicFramePr/>
          <p:nvPr>
            <p:extLst>
              <p:ext uri="{D42A27DB-BD31-4B8C-83A1-F6EECF244321}">
                <p14:modId xmlns:p14="http://schemas.microsoft.com/office/powerpoint/2010/main" val="853802589"/>
              </p:ext>
            </p:extLst>
          </p:nvPr>
        </p:nvGraphicFramePr>
        <p:xfrm>
          <a:off x="465178" y="1046817"/>
          <a:ext cx="10843674" cy="1051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787DD08-9DDB-56CD-94C4-7C392575CB43}"/>
                  </a:ext>
                </a:extLst>
              </p:cNvPr>
              <p:cNvSpPr/>
              <p:nvPr/>
            </p:nvSpPr>
            <p:spPr>
              <a:xfrm>
                <a:off x="442299" y="1885291"/>
                <a:ext cx="10515599" cy="87601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Strain hardening describes the property of materials to withstand higher stress after the onset of </a:t>
                </a:r>
                <a:r>
                  <a:rPr lang="en-US" i="1" dirty="0"/>
                  <a:t>yielding</a:t>
                </a:r>
                <a:r>
                  <a:rPr lang="en-US" dirty="0"/>
                  <a:t>.</a:t>
                </a:r>
                <a14:m>
                  <m:oMath xmlns:m="http://schemas.openxmlformats.org/officeDocument/2006/math">
                    <m:sSup>
                      <m:sSupPr>
                        <m:ctrlPr>
                          <a:rPr lang="en-US" sz="1000" b="0" i="1" smtClean="0">
                            <a:latin typeface="Cambria Math" panose="02040503050406030204" pitchFamily="18" charset="0"/>
                          </a:rPr>
                        </m:ctrlPr>
                      </m:sSupPr>
                      <m:e>
                        <m:r>
                          <m:rPr>
                            <m:nor/>
                          </m:rPr>
                          <a:rPr lang="en-US" sz="1000" b="0" i="0" smtClean="0">
                            <a:latin typeface="Cambria Math" panose="02040503050406030204" pitchFamily="18" charset="0"/>
                          </a:rPr>
                          <m:t> </m:t>
                        </m:r>
                      </m:e>
                      <m:sup>
                        <m:r>
                          <m:rPr>
                            <m:nor/>
                          </m:rPr>
                          <a:rPr lang="en-US" sz="1000" b="0" i="0" smtClean="0">
                            <a:latin typeface="Cambria Math" panose="02040503050406030204" pitchFamily="18" charset="0"/>
                          </a:rPr>
                          <m:t>[1]</m:t>
                        </m:r>
                      </m:sup>
                    </m:sSup>
                  </m:oMath>
                </a14:m>
                <a:endParaRPr lang="en-US" sz="1000" b="0" dirty="0"/>
              </a:p>
              <a:p>
                <a:pPr algn="ctr"/>
                <a:endParaRPr lang="en-US" dirty="0"/>
              </a:p>
            </p:txBody>
          </p:sp>
        </mc:Choice>
        <mc:Fallback xmlns="">
          <p:sp>
            <p:nvSpPr>
              <p:cNvPr id="8" name="Rectangle 7">
                <a:extLst>
                  <a:ext uri="{FF2B5EF4-FFF2-40B4-BE49-F238E27FC236}">
                    <a16:creationId xmlns:a16="http://schemas.microsoft.com/office/drawing/2014/main" id="{7787DD08-9DDB-56CD-94C4-7C392575CB43}"/>
                  </a:ext>
                </a:extLst>
              </p:cNvPr>
              <p:cNvSpPr>
                <a:spLocks noRot="1" noChangeAspect="1" noMove="1" noResize="1" noEditPoints="1" noAdjustHandles="1" noChangeArrowheads="1" noChangeShapeType="1" noTextEdit="1"/>
              </p:cNvSpPr>
              <p:nvPr/>
            </p:nvSpPr>
            <p:spPr>
              <a:xfrm>
                <a:off x="442299" y="1885291"/>
                <a:ext cx="10515599" cy="876016"/>
              </a:xfrm>
              <a:prstGeom prst="rect">
                <a:avLst/>
              </a:prstGeom>
              <a:blipFill>
                <a:blip r:embed="rId7"/>
                <a:stretch>
                  <a:fillRect/>
                </a:stretch>
              </a:blipFill>
              <a:ln>
                <a:noFill/>
              </a:ln>
            </p:spPr>
            <p:txBody>
              <a:bodyPr/>
              <a:lstStyle/>
              <a:p>
                <a:r>
                  <a:rPr lang="en-US">
                    <a:noFill/>
                  </a:rPr>
                  <a:t> </a:t>
                </a:r>
              </a:p>
            </p:txBody>
          </p:sp>
        </mc:Fallback>
      </mc:AlternateContent>
      <p:sp>
        <p:nvSpPr>
          <p:cNvPr id="14" name="Rectangle 13">
            <a:extLst>
              <a:ext uri="{FF2B5EF4-FFF2-40B4-BE49-F238E27FC236}">
                <a16:creationId xmlns:a16="http://schemas.microsoft.com/office/drawing/2014/main" id="{7067876F-948E-4328-E694-C6005D085EDD}"/>
              </a:ext>
            </a:extLst>
          </p:cNvPr>
          <p:cNvSpPr/>
          <p:nvPr/>
        </p:nvSpPr>
        <p:spPr>
          <a:xfrm>
            <a:off x="1010918" y="5313182"/>
            <a:ext cx="2011566" cy="4707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2060"/>
                </a:solidFill>
              </a:rPr>
              <a:t>Isotropic hardening</a:t>
            </a:r>
          </a:p>
        </p:txBody>
      </p:sp>
      <p:sp>
        <p:nvSpPr>
          <p:cNvPr id="19" name="Rectangle 18">
            <a:extLst>
              <a:ext uri="{FF2B5EF4-FFF2-40B4-BE49-F238E27FC236}">
                <a16:creationId xmlns:a16="http://schemas.microsoft.com/office/drawing/2014/main" id="{AF7A5F7E-8CD6-6103-31FD-0E1A9F8D57E6}"/>
              </a:ext>
            </a:extLst>
          </p:cNvPr>
          <p:cNvSpPr/>
          <p:nvPr/>
        </p:nvSpPr>
        <p:spPr>
          <a:xfrm>
            <a:off x="8230724" y="5280234"/>
            <a:ext cx="2230416" cy="4707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2060"/>
                </a:solidFill>
              </a:rPr>
              <a:t>Combined hardening</a:t>
            </a:r>
          </a:p>
        </p:txBody>
      </p:sp>
      <p:sp>
        <p:nvSpPr>
          <p:cNvPr id="20" name="Rectangle 19">
            <a:extLst>
              <a:ext uri="{FF2B5EF4-FFF2-40B4-BE49-F238E27FC236}">
                <a16:creationId xmlns:a16="http://schemas.microsoft.com/office/drawing/2014/main" id="{ADA64DE2-F40F-CDF6-5CA6-9E58EFD099EC}"/>
              </a:ext>
            </a:extLst>
          </p:cNvPr>
          <p:cNvSpPr/>
          <p:nvPr/>
        </p:nvSpPr>
        <p:spPr>
          <a:xfrm>
            <a:off x="4573298" y="5298996"/>
            <a:ext cx="2230416" cy="4707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rgbClr val="002060"/>
                </a:solidFill>
              </a:rPr>
              <a:t>Kinematic hardening</a:t>
            </a:r>
          </a:p>
        </p:txBody>
      </p:sp>
      <p:pic>
        <p:nvPicPr>
          <p:cNvPr id="22" name="Picture 21" descr="A diagram of a line with arrows&#10;&#10;AI-generated content may be incorrect.">
            <a:extLst>
              <a:ext uri="{FF2B5EF4-FFF2-40B4-BE49-F238E27FC236}">
                <a16:creationId xmlns:a16="http://schemas.microsoft.com/office/drawing/2014/main" id="{2A3942EC-0015-C3FE-6852-78ABFC426DB6}"/>
              </a:ext>
            </a:extLst>
          </p:cNvPr>
          <p:cNvPicPr>
            <a:picLocks noChangeAspect="1"/>
          </p:cNvPicPr>
          <p:nvPr/>
        </p:nvPicPr>
        <p:blipFill>
          <a:blip r:embed="rId8">
            <a:extLst>
              <a:ext uri="{28A0092B-C50C-407E-A947-70E740481C1C}">
                <a14:useLocalDpi xmlns:a14="http://schemas.microsoft.com/office/drawing/2010/main" val="0"/>
              </a:ext>
            </a:extLst>
          </a:blip>
          <a:srcRect l="1205" t="11587" r="73064" b="3764"/>
          <a:stretch/>
        </p:blipFill>
        <p:spPr>
          <a:xfrm>
            <a:off x="970826" y="2467759"/>
            <a:ext cx="2320054" cy="2874782"/>
          </a:xfrm>
          <a:prstGeom prst="rect">
            <a:avLst/>
          </a:prstGeom>
        </p:spPr>
      </p:pic>
      <p:pic>
        <p:nvPicPr>
          <p:cNvPr id="23" name="Picture 22" descr="A diagram of a line with arrows&#10;&#10;AI-generated content may be incorrect.">
            <a:extLst>
              <a:ext uri="{FF2B5EF4-FFF2-40B4-BE49-F238E27FC236}">
                <a16:creationId xmlns:a16="http://schemas.microsoft.com/office/drawing/2014/main" id="{1ECD6061-736E-C9D6-6DE0-44524E5E2E59}"/>
              </a:ext>
            </a:extLst>
          </p:cNvPr>
          <p:cNvPicPr>
            <a:picLocks noChangeAspect="1"/>
          </p:cNvPicPr>
          <p:nvPr/>
        </p:nvPicPr>
        <p:blipFill>
          <a:blip r:embed="rId8">
            <a:extLst>
              <a:ext uri="{28A0092B-C50C-407E-A947-70E740481C1C}">
                <a14:useLocalDpi xmlns:a14="http://schemas.microsoft.com/office/drawing/2010/main" val="0"/>
              </a:ext>
            </a:extLst>
          </a:blip>
          <a:srcRect l="37334" t="10745" r="37401" b="3487"/>
          <a:stretch/>
        </p:blipFill>
        <p:spPr>
          <a:xfrm>
            <a:off x="4771807" y="2493123"/>
            <a:ext cx="2230416" cy="2852059"/>
          </a:xfrm>
          <a:prstGeom prst="rect">
            <a:avLst/>
          </a:prstGeom>
        </p:spPr>
      </p:pic>
      <p:pic>
        <p:nvPicPr>
          <p:cNvPr id="24" name="Picture 23" descr="A diagram of a line with arrows&#10;&#10;AI-generated content may be incorrect.">
            <a:extLst>
              <a:ext uri="{FF2B5EF4-FFF2-40B4-BE49-F238E27FC236}">
                <a16:creationId xmlns:a16="http://schemas.microsoft.com/office/drawing/2014/main" id="{CE2B1B08-CC60-A980-5D44-3B757793E475}"/>
              </a:ext>
            </a:extLst>
          </p:cNvPr>
          <p:cNvPicPr>
            <a:picLocks noChangeAspect="1"/>
          </p:cNvPicPr>
          <p:nvPr/>
        </p:nvPicPr>
        <p:blipFill>
          <a:blip r:embed="rId8">
            <a:extLst>
              <a:ext uri="{28A0092B-C50C-407E-A947-70E740481C1C}">
                <a14:useLocalDpi xmlns:a14="http://schemas.microsoft.com/office/drawing/2010/main" val="0"/>
              </a:ext>
            </a:extLst>
          </a:blip>
          <a:srcRect l="72934" t="11047" r="1449" b="4611"/>
          <a:stretch/>
        </p:blipFill>
        <p:spPr>
          <a:xfrm>
            <a:off x="8178374" y="2575432"/>
            <a:ext cx="2261790" cy="2769031"/>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0850BE6-D15B-2770-E88A-ABF66F3BD13E}"/>
                  </a:ext>
                </a:extLst>
              </p:cNvPr>
              <p:cNvSpPr txBox="1"/>
              <p:nvPr/>
            </p:nvSpPr>
            <p:spPr>
              <a:xfrm>
                <a:off x="1069130" y="5768688"/>
                <a:ext cx="1883293" cy="268728"/>
              </a:xfrm>
              <a:prstGeom prst="rect">
                <a:avLst/>
              </a:prstGeom>
              <a:noFill/>
            </p:spPr>
            <p:txBody>
              <a:bodyPr wrap="square" lIns="0" tIns="0" rIns="0" bIns="0" rtlCol="0">
                <a:spAutoFit/>
              </a:bodyPr>
              <a:lstStyle/>
              <a:p>
                <a14:m>
                  <m:oMath xmlns:m="http://schemas.openxmlformats.org/officeDocument/2006/math">
                    <m:sSub>
                      <m:sSubPr>
                        <m:ctrlPr>
                          <a:rPr lang="en-US" sz="1600" b="0" i="1" smtClean="0">
                            <a:solidFill>
                              <a:schemeClr val="tx1">
                                <a:lumMod val="95000"/>
                                <a:lumOff val="5000"/>
                              </a:schemeClr>
                            </a:solidFill>
                            <a:latin typeface="Cambria Math" panose="02040503050406030204" pitchFamily="18" charset="0"/>
                          </a:rPr>
                        </m:ctrlPr>
                      </m:sSubPr>
                      <m:e>
                        <m:r>
                          <a:rPr lang="en-US" sz="1600" b="0" i="1" smtClean="0">
                            <a:solidFill>
                              <a:schemeClr val="tx1">
                                <a:lumMod val="95000"/>
                                <a:lumOff val="5000"/>
                              </a:schemeClr>
                            </a:solidFill>
                            <a:latin typeface="Cambria Math" panose="02040503050406030204" pitchFamily="18" charset="0"/>
                          </a:rPr>
                          <m:t>𝜎</m:t>
                        </m:r>
                      </m:e>
                      <m:sub>
                        <m:r>
                          <a:rPr lang="en-US" sz="1600" b="0" i="1" smtClean="0">
                            <a:solidFill>
                              <a:schemeClr val="tx1">
                                <a:lumMod val="95000"/>
                                <a:lumOff val="5000"/>
                              </a:schemeClr>
                            </a:solidFill>
                            <a:latin typeface="Cambria Math" panose="02040503050406030204" pitchFamily="18" charset="0"/>
                          </a:rPr>
                          <m:t>𝑦</m:t>
                        </m:r>
                      </m:sub>
                    </m:sSub>
                    <m:r>
                      <a:rPr lang="en-US" sz="1600" b="0" i="1" smtClean="0">
                        <a:solidFill>
                          <a:schemeClr val="tx1">
                            <a:lumMod val="95000"/>
                            <a:lumOff val="5000"/>
                          </a:schemeClr>
                        </a:solidFill>
                        <a:latin typeface="Cambria Math" panose="02040503050406030204" pitchFamily="18" charset="0"/>
                      </a:rPr>
                      <m:t>=</m:t>
                    </m:r>
                    <m:sSub>
                      <m:sSubPr>
                        <m:ctrlPr>
                          <a:rPr lang="en-US" sz="1600" b="0" i="1" smtClean="0">
                            <a:solidFill>
                              <a:schemeClr val="tx1">
                                <a:lumMod val="95000"/>
                                <a:lumOff val="5000"/>
                              </a:schemeClr>
                            </a:solidFill>
                            <a:latin typeface="Cambria Math" panose="02040503050406030204" pitchFamily="18" charset="0"/>
                          </a:rPr>
                        </m:ctrlPr>
                      </m:sSubPr>
                      <m:e>
                        <m:r>
                          <a:rPr lang="en-US" sz="1600" b="0" i="1" smtClean="0">
                            <a:solidFill>
                              <a:schemeClr val="tx1">
                                <a:lumMod val="95000"/>
                                <a:lumOff val="5000"/>
                              </a:schemeClr>
                            </a:solidFill>
                            <a:latin typeface="Cambria Math" panose="02040503050406030204" pitchFamily="18" charset="0"/>
                          </a:rPr>
                          <m:t>𝜎</m:t>
                        </m:r>
                      </m:e>
                      <m:sub>
                        <m:r>
                          <a:rPr lang="en-US" sz="1600" b="0" i="1" smtClean="0">
                            <a:solidFill>
                              <a:schemeClr val="tx1">
                                <a:lumMod val="95000"/>
                                <a:lumOff val="5000"/>
                              </a:schemeClr>
                            </a:solidFill>
                            <a:latin typeface="Cambria Math" panose="02040503050406030204" pitchFamily="18" charset="0"/>
                          </a:rPr>
                          <m:t>𝑦𝑜</m:t>
                        </m:r>
                      </m:sub>
                    </m:sSub>
                    <m:r>
                      <a:rPr lang="en-US" sz="1600" b="0" i="1" smtClean="0">
                        <a:solidFill>
                          <a:schemeClr val="tx1">
                            <a:lumMod val="95000"/>
                            <a:lumOff val="5000"/>
                          </a:schemeClr>
                        </a:solidFill>
                        <a:latin typeface="Cambria Math" panose="02040503050406030204" pitchFamily="18" charset="0"/>
                      </a:rPr>
                      <m:t>+</m:t>
                    </m:r>
                    <m:r>
                      <a:rPr lang="en-US" sz="1600" b="0" i="1" smtClean="0">
                        <a:solidFill>
                          <a:schemeClr val="tx1">
                            <a:lumMod val="95000"/>
                            <a:lumOff val="5000"/>
                          </a:schemeClr>
                        </a:solidFill>
                        <a:latin typeface="Cambria Math" panose="02040503050406030204" pitchFamily="18" charset="0"/>
                      </a:rPr>
                      <m:t>𝑠𝑖𝑔𝑛</m:t>
                    </m:r>
                    <m:r>
                      <a:rPr lang="en-US" sz="1600" b="0" i="1" smtClean="0">
                        <a:solidFill>
                          <a:schemeClr val="tx1">
                            <a:lumMod val="95000"/>
                            <a:lumOff val="5000"/>
                          </a:schemeClr>
                        </a:solidFill>
                        <a:latin typeface="Cambria Math" panose="02040503050406030204" pitchFamily="18" charset="0"/>
                      </a:rPr>
                      <m:t>(</m:t>
                    </m:r>
                    <m:r>
                      <m:rPr>
                        <m:sty m:val="p"/>
                      </m:rPr>
                      <a:rPr lang="en-US" sz="1600" b="0" i="0" smtClean="0">
                        <a:solidFill>
                          <a:schemeClr val="tx1">
                            <a:lumMod val="95000"/>
                            <a:lumOff val="5000"/>
                          </a:schemeClr>
                        </a:solidFill>
                        <a:latin typeface="Cambria Math" panose="02040503050406030204" pitchFamily="18" charset="0"/>
                      </a:rPr>
                      <m:t>Δ</m:t>
                    </m:r>
                    <m:r>
                      <a:rPr lang="en-US" sz="1600" b="0" i="1" smtClean="0">
                        <a:solidFill>
                          <a:schemeClr val="tx1">
                            <a:lumMod val="95000"/>
                            <a:lumOff val="5000"/>
                          </a:schemeClr>
                        </a:solidFill>
                        <a:latin typeface="Cambria Math" panose="02040503050406030204" pitchFamily="18" charset="0"/>
                      </a:rPr>
                      <m:t>𝜎</m:t>
                    </m:r>
                  </m:oMath>
                </a14:m>
                <a:r>
                  <a:rPr lang="en-US" sz="1600" dirty="0">
                    <a:solidFill>
                      <a:schemeClr val="tx1">
                        <a:lumMod val="95000"/>
                        <a:lumOff val="5000"/>
                      </a:schemeClr>
                    </a:solidFill>
                  </a:rPr>
                  <a:t>) </a:t>
                </a:r>
              </a:p>
            </p:txBody>
          </p:sp>
        </mc:Choice>
        <mc:Fallback xmlns="">
          <p:sp>
            <p:nvSpPr>
              <p:cNvPr id="25" name="TextBox 24">
                <a:extLst>
                  <a:ext uri="{FF2B5EF4-FFF2-40B4-BE49-F238E27FC236}">
                    <a16:creationId xmlns:a16="http://schemas.microsoft.com/office/drawing/2014/main" id="{60850BE6-D15B-2770-E88A-ABF66F3BD13E}"/>
                  </a:ext>
                </a:extLst>
              </p:cNvPr>
              <p:cNvSpPr txBox="1">
                <a:spLocks noRot="1" noChangeAspect="1" noMove="1" noResize="1" noEditPoints="1" noAdjustHandles="1" noChangeArrowheads="1" noChangeShapeType="1" noTextEdit="1"/>
              </p:cNvSpPr>
              <p:nvPr/>
            </p:nvSpPr>
            <p:spPr>
              <a:xfrm>
                <a:off x="1069130" y="5768688"/>
                <a:ext cx="1883293" cy="268728"/>
              </a:xfrm>
              <a:prstGeom prst="rect">
                <a:avLst/>
              </a:prstGeom>
              <a:blipFill>
                <a:blip r:embed="rId9"/>
                <a:stretch>
                  <a:fillRect l="-2589" t="-20455" r="-5502"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8575728-EF73-E902-CCD8-5FCE2C9655D5}"/>
                  </a:ext>
                </a:extLst>
              </p:cNvPr>
              <p:cNvSpPr txBox="1"/>
              <p:nvPr/>
            </p:nvSpPr>
            <p:spPr>
              <a:xfrm>
                <a:off x="4904042" y="5740610"/>
                <a:ext cx="1481838" cy="268728"/>
              </a:xfrm>
              <a:prstGeom prst="rect">
                <a:avLst/>
              </a:prstGeom>
              <a:noFill/>
            </p:spPr>
            <p:txBody>
              <a:bodyPr wrap="square" lIns="0" tIns="0" rIns="0" bIns="0" rtlCol="0">
                <a:spAutoFit/>
              </a:bodyPr>
              <a:lstStyle/>
              <a:p>
                <a14:m>
                  <m:oMath xmlns:m="http://schemas.openxmlformats.org/officeDocument/2006/math">
                    <m:sSub>
                      <m:sSubPr>
                        <m:ctrlPr>
                          <a:rPr lang="en-US" sz="1600" b="0" i="1" smtClean="0">
                            <a:solidFill>
                              <a:schemeClr val="tx1">
                                <a:lumMod val="95000"/>
                                <a:lumOff val="5000"/>
                              </a:schemeClr>
                            </a:solidFill>
                            <a:latin typeface="Cambria Math" panose="02040503050406030204" pitchFamily="18" charset="0"/>
                          </a:rPr>
                        </m:ctrlPr>
                      </m:sSubPr>
                      <m:e>
                        <m:r>
                          <a:rPr lang="en-US" sz="1600" b="0" i="1" smtClean="0">
                            <a:solidFill>
                              <a:schemeClr val="tx1">
                                <a:lumMod val="95000"/>
                                <a:lumOff val="5000"/>
                              </a:schemeClr>
                            </a:solidFill>
                            <a:latin typeface="Cambria Math" panose="02040503050406030204" pitchFamily="18" charset="0"/>
                          </a:rPr>
                          <m:t>𝜎</m:t>
                        </m:r>
                      </m:e>
                      <m:sub>
                        <m:r>
                          <a:rPr lang="en-US" sz="1600" b="0" i="1" smtClean="0">
                            <a:solidFill>
                              <a:schemeClr val="tx1">
                                <a:lumMod val="95000"/>
                                <a:lumOff val="5000"/>
                              </a:schemeClr>
                            </a:solidFill>
                            <a:latin typeface="Cambria Math" panose="02040503050406030204" pitchFamily="18" charset="0"/>
                          </a:rPr>
                          <m:t>𝑦</m:t>
                        </m:r>
                      </m:sub>
                    </m:sSub>
                    <m:r>
                      <a:rPr lang="en-US" sz="1600" b="0" i="1" smtClean="0">
                        <a:solidFill>
                          <a:schemeClr val="tx1">
                            <a:lumMod val="95000"/>
                            <a:lumOff val="5000"/>
                          </a:schemeClr>
                        </a:solidFill>
                        <a:latin typeface="Cambria Math" panose="02040503050406030204" pitchFamily="18" charset="0"/>
                      </a:rPr>
                      <m:t>=</m:t>
                    </m:r>
                    <m:sSub>
                      <m:sSubPr>
                        <m:ctrlPr>
                          <a:rPr lang="en-US" sz="1600" b="0" i="1" smtClean="0">
                            <a:solidFill>
                              <a:schemeClr val="tx1">
                                <a:lumMod val="95000"/>
                                <a:lumOff val="5000"/>
                              </a:schemeClr>
                            </a:solidFill>
                            <a:latin typeface="Cambria Math" panose="02040503050406030204" pitchFamily="18" charset="0"/>
                          </a:rPr>
                        </m:ctrlPr>
                      </m:sSubPr>
                      <m:e>
                        <m:r>
                          <a:rPr lang="en-US" sz="1600" b="0" i="1" smtClean="0">
                            <a:solidFill>
                              <a:schemeClr val="tx1">
                                <a:lumMod val="95000"/>
                                <a:lumOff val="5000"/>
                              </a:schemeClr>
                            </a:solidFill>
                            <a:latin typeface="Cambria Math" panose="02040503050406030204" pitchFamily="18" charset="0"/>
                          </a:rPr>
                          <m:t>𝜎</m:t>
                        </m:r>
                      </m:e>
                      <m:sub>
                        <m:r>
                          <a:rPr lang="en-US" sz="1600" b="0" i="1" smtClean="0">
                            <a:solidFill>
                              <a:schemeClr val="tx1">
                                <a:lumMod val="95000"/>
                                <a:lumOff val="5000"/>
                              </a:schemeClr>
                            </a:solidFill>
                            <a:latin typeface="Cambria Math" panose="02040503050406030204" pitchFamily="18" charset="0"/>
                          </a:rPr>
                          <m:t>𝑦𝑜</m:t>
                        </m:r>
                      </m:sub>
                    </m:sSub>
                    <m:r>
                      <a:rPr lang="en-US" sz="1600" b="0" i="1" smtClean="0">
                        <a:solidFill>
                          <a:schemeClr val="tx1">
                            <a:lumMod val="95000"/>
                            <a:lumOff val="5000"/>
                          </a:schemeClr>
                        </a:solidFill>
                        <a:latin typeface="Cambria Math" panose="02040503050406030204" pitchFamily="18" charset="0"/>
                      </a:rPr>
                      <m:t>+</m:t>
                    </m:r>
                    <m:r>
                      <m:rPr>
                        <m:sty m:val="p"/>
                      </m:rPr>
                      <a:rPr lang="en-US" sz="1600" b="0" i="0" smtClean="0">
                        <a:solidFill>
                          <a:schemeClr val="tx1">
                            <a:lumMod val="95000"/>
                            <a:lumOff val="5000"/>
                          </a:schemeClr>
                        </a:solidFill>
                        <a:latin typeface="Cambria Math" panose="02040503050406030204" pitchFamily="18" charset="0"/>
                      </a:rPr>
                      <m:t>Δ</m:t>
                    </m:r>
                    <m:r>
                      <a:rPr lang="en-US" sz="1600" b="0" i="1" smtClean="0">
                        <a:solidFill>
                          <a:schemeClr val="tx1">
                            <a:lumMod val="95000"/>
                            <a:lumOff val="5000"/>
                          </a:schemeClr>
                        </a:solidFill>
                        <a:latin typeface="Cambria Math" panose="02040503050406030204" pitchFamily="18" charset="0"/>
                      </a:rPr>
                      <m:t>𝜎</m:t>
                    </m:r>
                  </m:oMath>
                </a14:m>
                <a:r>
                  <a:rPr lang="en-US" sz="1600" dirty="0">
                    <a:solidFill>
                      <a:schemeClr val="tx1">
                        <a:lumMod val="95000"/>
                        <a:lumOff val="5000"/>
                      </a:schemeClr>
                    </a:solidFill>
                  </a:rPr>
                  <a:t> </a:t>
                </a:r>
              </a:p>
            </p:txBody>
          </p:sp>
        </mc:Choice>
        <mc:Fallback xmlns="">
          <p:sp>
            <p:nvSpPr>
              <p:cNvPr id="26" name="TextBox 25">
                <a:extLst>
                  <a:ext uri="{FF2B5EF4-FFF2-40B4-BE49-F238E27FC236}">
                    <a16:creationId xmlns:a16="http://schemas.microsoft.com/office/drawing/2014/main" id="{B8575728-EF73-E902-CCD8-5FCE2C9655D5}"/>
                  </a:ext>
                </a:extLst>
              </p:cNvPr>
              <p:cNvSpPr txBox="1">
                <a:spLocks noRot="1" noChangeAspect="1" noMove="1" noResize="1" noEditPoints="1" noAdjustHandles="1" noChangeArrowheads="1" noChangeShapeType="1" noTextEdit="1"/>
              </p:cNvSpPr>
              <p:nvPr/>
            </p:nvSpPr>
            <p:spPr>
              <a:xfrm>
                <a:off x="4904042" y="5740610"/>
                <a:ext cx="1481838" cy="268728"/>
              </a:xfrm>
              <a:prstGeom prst="rect">
                <a:avLst/>
              </a:prstGeom>
              <a:blipFill>
                <a:blip r:embed="rId10"/>
                <a:stretch>
                  <a:fillRect l="-3279" b="-20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F54D8E7-1339-130F-B5A9-622F6B3DB03A}"/>
                  </a:ext>
                </a:extLst>
              </p:cNvPr>
              <p:cNvSpPr/>
              <p:nvPr/>
            </p:nvSpPr>
            <p:spPr>
              <a:xfrm>
                <a:off x="298764" y="6165205"/>
                <a:ext cx="11380206" cy="6927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14:m>
                  <m:oMath xmlns:m="http://schemas.openxmlformats.org/officeDocument/2006/math">
                    <m:sSup>
                      <m:sSupPr>
                        <m:ctrlPr>
                          <a:rPr lang="en-US" sz="1000" i="1">
                            <a:latin typeface="Cambria Math" panose="02040503050406030204" pitchFamily="18" charset="0"/>
                          </a:rPr>
                        </m:ctrlPr>
                      </m:sSupPr>
                      <m:e>
                        <m:r>
                          <m:rPr>
                            <m:nor/>
                          </m:rPr>
                          <a:rPr lang="en-US" sz="1000">
                            <a:latin typeface="Cambria Math" panose="02040503050406030204" pitchFamily="18" charset="0"/>
                          </a:rPr>
                          <m:t> </m:t>
                        </m:r>
                      </m:e>
                      <m:sup>
                        <m:r>
                          <m:rPr>
                            <m:nor/>
                          </m:rPr>
                          <a:rPr lang="en-US" sz="1000">
                            <a:latin typeface="Cambria Math" panose="02040503050406030204" pitchFamily="18" charset="0"/>
                          </a:rPr>
                          <m:t>[1]</m:t>
                        </m:r>
                      </m:sup>
                    </m:sSup>
                    <m:r>
                      <a:rPr lang="en-US" sz="1000" i="1">
                        <a:latin typeface="Cambria Math" panose="02040503050406030204" pitchFamily="18" charset="0"/>
                      </a:rPr>
                      <m:t> </m:t>
                    </m:r>
                  </m:oMath>
                </a14:m>
                <a:r>
                  <a:rPr lang="en-US" sz="1000" dirty="0"/>
                  <a:t>Chen, W.-F., &amp; Han, D.-J. (2007). </a:t>
                </a:r>
                <a:r>
                  <a:rPr lang="en-US" sz="1000" i="1" dirty="0"/>
                  <a:t>Plasticity for structural engineers</a:t>
                </a:r>
                <a:r>
                  <a:rPr lang="en-US" sz="1000" dirty="0"/>
                  <a:t>. J. Ross Publishing.</a:t>
                </a:r>
              </a:p>
              <a:p>
                <a14:m>
                  <m:oMath xmlns:m="http://schemas.openxmlformats.org/officeDocument/2006/math">
                    <m:sSup>
                      <m:sSupPr>
                        <m:ctrlPr>
                          <a:rPr lang="en-US" sz="1000" i="1">
                            <a:latin typeface="Cambria Math" panose="02040503050406030204" pitchFamily="18" charset="0"/>
                          </a:rPr>
                        </m:ctrlPr>
                      </m:sSupPr>
                      <m:e>
                        <m:r>
                          <m:rPr>
                            <m:nor/>
                          </m:rPr>
                          <a:rPr lang="en-US" sz="1000">
                            <a:latin typeface="Cambria Math" panose="02040503050406030204" pitchFamily="18" charset="0"/>
                          </a:rPr>
                          <m:t> </m:t>
                        </m:r>
                      </m:e>
                      <m:sup>
                        <m:r>
                          <m:rPr>
                            <m:nor/>
                          </m:rPr>
                          <a:rPr lang="en-US" sz="1000">
                            <a:latin typeface="Cambria Math" panose="02040503050406030204" pitchFamily="18" charset="0"/>
                          </a:rPr>
                          <m:t>[</m:t>
                        </m:r>
                        <m:r>
                          <m:rPr>
                            <m:nor/>
                          </m:rPr>
                          <a:rPr lang="en-US" sz="1000" b="0" i="0" smtClean="0">
                            <a:latin typeface="Cambria Math" panose="02040503050406030204" pitchFamily="18" charset="0"/>
                          </a:rPr>
                          <m:t>2</m:t>
                        </m:r>
                        <m:r>
                          <m:rPr>
                            <m:nor/>
                          </m:rPr>
                          <a:rPr lang="en-US" sz="1000">
                            <a:latin typeface="Cambria Math" panose="02040503050406030204" pitchFamily="18" charset="0"/>
                          </a:rPr>
                          <m:t>]</m:t>
                        </m:r>
                      </m:sup>
                    </m:sSup>
                    <m:r>
                      <a:rPr lang="en-US" sz="1000" i="1">
                        <a:latin typeface="Cambria Math" panose="02040503050406030204" pitchFamily="18" charset="0"/>
                      </a:rPr>
                      <m:t> </m:t>
                    </m:r>
                  </m:oMath>
                </a14:m>
                <a:r>
                  <a:rPr lang="en-US" sz="1000" dirty="0"/>
                  <a:t>Stec, M. (2016, October 28). Modeling fatigue failure in elastoplastic materials. COMSOL Blog. Retrieved July 12, 2025, from https://www.comsol.com/blogs/modeling-fatigue-failure-in-elastoplastic-materials </a:t>
                </a:r>
              </a:p>
            </p:txBody>
          </p:sp>
        </mc:Choice>
        <mc:Fallback xmlns="">
          <p:sp>
            <p:nvSpPr>
              <p:cNvPr id="2" name="Rectangle 1">
                <a:extLst>
                  <a:ext uri="{FF2B5EF4-FFF2-40B4-BE49-F238E27FC236}">
                    <a16:creationId xmlns:a16="http://schemas.microsoft.com/office/drawing/2014/main" id="{8F54D8E7-1339-130F-B5A9-622F6B3DB03A}"/>
                  </a:ext>
                </a:extLst>
              </p:cNvPr>
              <p:cNvSpPr>
                <a:spLocks noRot="1" noChangeAspect="1" noMove="1" noResize="1" noEditPoints="1" noAdjustHandles="1" noChangeArrowheads="1" noChangeShapeType="1" noTextEdit="1"/>
              </p:cNvSpPr>
              <p:nvPr/>
            </p:nvSpPr>
            <p:spPr>
              <a:xfrm>
                <a:off x="298764" y="6165205"/>
                <a:ext cx="11380206" cy="692796"/>
              </a:xfrm>
              <a:prstGeom prst="rect">
                <a:avLst/>
              </a:prstGeom>
              <a:blipFill>
                <a:blip r:embed="rId11"/>
                <a:stretch>
                  <a:fillRect/>
                </a:stretch>
              </a:blipFill>
              <a:ln>
                <a:noFill/>
              </a:ln>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81DD8301-96E5-28AF-8348-45AA31FB7AA1}"/>
              </a:ext>
            </a:extLst>
          </p:cNvPr>
          <p:cNvCxnSpPr/>
          <p:nvPr/>
        </p:nvCxnSpPr>
        <p:spPr>
          <a:xfrm>
            <a:off x="362139" y="6255395"/>
            <a:ext cx="4585448" cy="0"/>
          </a:xfrm>
          <a:prstGeom prst="line">
            <a:avLst/>
          </a:prstGeom>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FFF1CA3-E5B0-9616-B06B-31734361D9D0}"/>
                  </a:ext>
                </a:extLst>
              </p:cNvPr>
              <p:cNvSpPr/>
              <p:nvPr/>
            </p:nvSpPr>
            <p:spPr>
              <a:xfrm>
                <a:off x="10440163" y="5612772"/>
                <a:ext cx="1664320" cy="28419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100" i="1" dirty="0">
                    <a:solidFill>
                      <a:schemeClr val="tx1"/>
                    </a:solidFill>
                  </a:rPr>
                  <a:t>COMSOL blog (2016)</a:t>
                </a:r>
                <a:r>
                  <a:rPr lang="en-US" sz="1100" dirty="0"/>
                  <a:t> </a:t>
                </a:r>
                <a14:m>
                  <m:oMath xmlns:m="http://schemas.openxmlformats.org/officeDocument/2006/math">
                    <m:sSup>
                      <m:sSupPr>
                        <m:ctrlPr>
                          <a:rPr lang="en-US" sz="1000" i="1">
                            <a:latin typeface="Cambria Math" panose="02040503050406030204" pitchFamily="18" charset="0"/>
                          </a:rPr>
                        </m:ctrlPr>
                      </m:sSupPr>
                      <m:e>
                        <m:r>
                          <m:rPr>
                            <m:nor/>
                          </m:rPr>
                          <a:rPr lang="en-US" sz="1000">
                            <a:latin typeface="Cambria Math" panose="02040503050406030204" pitchFamily="18" charset="0"/>
                          </a:rPr>
                          <m:t> </m:t>
                        </m:r>
                      </m:e>
                      <m:sup>
                        <m:r>
                          <m:rPr>
                            <m:nor/>
                          </m:rPr>
                          <a:rPr lang="en-US" sz="1000">
                            <a:latin typeface="Cambria Math" panose="02040503050406030204" pitchFamily="18" charset="0"/>
                          </a:rPr>
                          <m:t>[</m:t>
                        </m:r>
                        <m:r>
                          <m:rPr>
                            <m:nor/>
                          </m:rPr>
                          <a:rPr lang="en-US" sz="1000" b="0" i="0" smtClean="0">
                            <a:latin typeface="Cambria Math" panose="02040503050406030204" pitchFamily="18" charset="0"/>
                          </a:rPr>
                          <m:t>2</m:t>
                        </m:r>
                        <m:r>
                          <m:rPr>
                            <m:nor/>
                          </m:rPr>
                          <a:rPr lang="en-US" sz="1000">
                            <a:latin typeface="Cambria Math" panose="02040503050406030204" pitchFamily="18" charset="0"/>
                          </a:rPr>
                          <m:t>]</m:t>
                        </m:r>
                      </m:sup>
                    </m:sSup>
                  </m:oMath>
                </a14:m>
                <a:endParaRPr lang="en-US" sz="1000" i="1" dirty="0">
                  <a:solidFill>
                    <a:schemeClr val="tx1"/>
                  </a:solidFill>
                </a:endParaRPr>
              </a:p>
            </p:txBody>
          </p:sp>
        </mc:Choice>
        <mc:Fallback xmlns="">
          <p:sp>
            <p:nvSpPr>
              <p:cNvPr id="6" name="Rectangle 5">
                <a:extLst>
                  <a:ext uri="{FF2B5EF4-FFF2-40B4-BE49-F238E27FC236}">
                    <a16:creationId xmlns:a16="http://schemas.microsoft.com/office/drawing/2014/main" id="{4FFF1CA3-E5B0-9616-B06B-31734361D9D0}"/>
                  </a:ext>
                </a:extLst>
              </p:cNvPr>
              <p:cNvSpPr>
                <a:spLocks noRot="1" noChangeAspect="1" noMove="1" noResize="1" noEditPoints="1" noAdjustHandles="1" noChangeArrowheads="1" noChangeShapeType="1" noTextEdit="1"/>
              </p:cNvSpPr>
              <p:nvPr/>
            </p:nvSpPr>
            <p:spPr>
              <a:xfrm>
                <a:off x="10440163" y="5612772"/>
                <a:ext cx="1664320" cy="284195"/>
              </a:xfrm>
              <a:prstGeom prst="rect">
                <a:avLst/>
              </a:prstGeom>
              <a:blipFill>
                <a:blip r:embed="rId12"/>
                <a:stretch>
                  <a:fillRect b="-15217"/>
                </a:stretch>
              </a:blipFill>
              <a:ln>
                <a:noFill/>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21F91D7F-BE03-B251-3949-E38F34B1E55B}"/>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a:t>
            </a:r>
          </a:p>
        </p:txBody>
      </p:sp>
      <p:sp>
        <p:nvSpPr>
          <p:cNvPr id="9" name="TextBox 8">
            <a:extLst>
              <a:ext uri="{FF2B5EF4-FFF2-40B4-BE49-F238E27FC236}">
                <a16:creationId xmlns:a16="http://schemas.microsoft.com/office/drawing/2014/main" id="{E8F76C06-9CB0-B029-FF56-5467A83E23A1}"/>
              </a:ext>
            </a:extLst>
          </p:cNvPr>
          <p:cNvSpPr txBox="1"/>
          <p:nvPr/>
        </p:nvSpPr>
        <p:spPr>
          <a:xfrm>
            <a:off x="11132101" y="547918"/>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857496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52049-DF3E-DCB1-2666-E25E0D2812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ACBD26-E8BB-CB26-A4BA-6619C4963B84}"/>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Introduction</a:t>
            </a:r>
          </a:p>
        </p:txBody>
      </p:sp>
      <p:graphicFrame>
        <p:nvGraphicFramePr>
          <p:cNvPr id="12" name="Diagram 11">
            <a:extLst>
              <a:ext uri="{FF2B5EF4-FFF2-40B4-BE49-F238E27FC236}">
                <a16:creationId xmlns:a16="http://schemas.microsoft.com/office/drawing/2014/main" id="{0B486910-E91A-EEE3-2C96-B8ECFBD187F5}"/>
              </a:ext>
            </a:extLst>
          </p:cNvPr>
          <p:cNvGraphicFramePr/>
          <p:nvPr/>
        </p:nvGraphicFramePr>
        <p:xfrm>
          <a:off x="442297" y="871819"/>
          <a:ext cx="10843674" cy="8513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05F2A94-42A6-9C85-EDAB-CFC58489646B}"/>
                  </a:ext>
                </a:extLst>
              </p:cNvPr>
              <p:cNvSpPr/>
              <p:nvPr/>
            </p:nvSpPr>
            <p:spPr>
              <a:xfrm>
                <a:off x="442297" y="1723127"/>
                <a:ext cx="5653703" cy="2034061"/>
              </a:xfrm>
              <a:prstGeom prst="rect">
                <a:avLst/>
              </a:prstGeom>
              <a:noFill/>
              <a:ln>
                <a:solidFill>
                  <a:srgbClr val="000090"/>
                </a:solid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600" dirty="0"/>
                  <a:t>Generalized yield function </a:t>
                </a:r>
                <a14:m>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𝜎</m:t>
                        </m:r>
                        <m:r>
                          <a:rPr lang="en-US" sz="1600" b="0" i="1" smtClean="0">
                            <a:latin typeface="Cambria Math" panose="02040503050406030204" pitchFamily="18" charset="0"/>
                          </a:rPr>
                          <m:t>,</m:t>
                        </m:r>
                        <m:r>
                          <a:rPr lang="en-US" sz="1600" b="0" i="1" smtClean="0">
                            <a:latin typeface="Cambria Math" panose="02040503050406030204" pitchFamily="18" charset="0"/>
                          </a:rPr>
                          <m:t>𝛼</m:t>
                        </m:r>
                        <m:r>
                          <a:rPr lang="en-US" sz="1600" b="0" i="1" smtClean="0">
                            <a:latin typeface="Cambria Math" panose="02040503050406030204" pitchFamily="18" charset="0"/>
                          </a:rPr>
                          <m:t>,</m:t>
                        </m:r>
                        <m:r>
                          <a:rPr lang="en-US" sz="1600" b="0" i="1" smtClean="0">
                            <a:latin typeface="Cambria Math" panose="02040503050406030204" pitchFamily="18" charset="0"/>
                          </a:rPr>
                          <m:t>𝑘</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𝜎</m:t>
                        </m:r>
                      </m:e>
                      <m:sub>
                        <m:r>
                          <a:rPr lang="en-US" sz="1600" b="0" i="1" smtClean="0">
                            <a:latin typeface="Cambria Math" panose="02040503050406030204" pitchFamily="18" charset="0"/>
                          </a:rPr>
                          <m:t>𝑒𝑞</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𝜎</m:t>
                        </m:r>
                        <m:r>
                          <a:rPr lang="en-US" sz="1600" b="0" i="1" smtClean="0">
                            <a:latin typeface="Cambria Math" panose="02040503050406030204" pitchFamily="18" charset="0"/>
                          </a:rPr>
                          <m:t>−</m:t>
                        </m:r>
                        <m:r>
                          <a:rPr lang="en-US" sz="1600" b="0" i="1" smtClean="0">
                            <a:latin typeface="Cambria Math" panose="02040503050406030204" pitchFamily="18" charset="0"/>
                          </a:rPr>
                          <m:t>𝛼</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m:t>
                        </m:r>
                        <m:r>
                          <a:rPr lang="en-US" sz="1600" b="0" i="1" smtClean="0">
                            <a:latin typeface="Cambria Math" panose="02040503050406030204" pitchFamily="18" charset="0"/>
                          </a:rPr>
                          <m:t>𝜎</m:t>
                        </m:r>
                      </m:e>
                      <m:sub>
                        <m:r>
                          <a:rPr lang="en-US" sz="1600" b="0" i="1" smtClean="0">
                            <a:latin typeface="Cambria Math" panose="02040503050406030204" pitchFamily="18" charset="0"/>
                          </a:rPr>
                          <m:t>𝑦</m:t>
                        </m:r>
                      </m:sub>
                    </m:sSub>
                    <m:r>
                      <a:rPr lang="en-US" sz="1600" b="0" i="1" smtClean="0">
                        <a:latin typeface="Cambria Math" panose="02040503050406030204" pitchFamily="18" charset="0"/>
                      </a:rPr>
                      <m:t>+</m:t>
                    </m:r>
                    <m:r>
                      <a:rPr lang="en-US" sz="1600" b="0" i="1" smtClean="0">
                        <a:latin typeface="Cambria Math" panose="02040503050406030204" pitchFamily="18" charset="0"/>
                      </a:rPr>
                      <m:t>𝑅</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 </m:t>
                    </m:r>
                  </m:oMath>
                </a14:m>
                <a:endParaRPr lang="en-US" sz="1600" b="0" dirty="0"/>
              </a:p>
              <a:p>
                <a:pPr algn="ctr"/>
                <a:r>
                  <a:rPr lang="en-US" sz="1600" dirty="0"/>
                  <a:t>Yield criterion </a:t>
                </a:r>
                <a14:m>
                  <m:oMath xmlns:m="http://schemas.openxmlformats.org/officeDocument/2006/math">
                    <m:r>
                      <a:rPr lang="en-US" sz="1600" i="1">
                        <a:latin typeface="Cambria Math" panose="02040503050406030204" pitchFamily="18" charset="0"/>
                      </a:rPr>
                      <m:t>𝑓</m:t>
                    </m:r>
                    <m:d>
                      <m:dPr>
                        <m:ctrlPr>
                          <a:rPr lang="en-US" sz="1600" i="1">
                            <a:latin typeface="Cambria Math" panose="02040503050406030204" pitchFamily="18" charset="0"/>
                          </a:rPr>
                        </m:ctrlPr>
                      </m:dPr>
                      <m:e>
                        <m:r>
                          <a:rPr lang="en-US" sz="1600" i="1">
                            <a:latin typeface="Cambria Math" panose="02040503050406030204" pitchFamily="18" charset="0"/>
                          </a:rPr>
                          <m:t>𝜎</m:t>
                        </m:r>
                        <m:r>
                          <a:rPr lang="en-US" sz="1600" i="1">
                            <a:latin typeface="Cambria Math" panose="02040503050406030204" pitchFamily="18" charset="0"/>
                          </a:rPr>
                          <m:t>,</m:t>
                        </m:r>
                        <m:r>
                          <a:rPr lang="en-US" sz="1600" i="1">
                            <a:latin typeface="Cambria Math" panose="02040503050406030204" pitchFamily="18" charset="0"/>
                          </a:rPr>
                          <m:t>𝛼</m:t>
                        </m:r>
                        <m:r>
                          <a:rPr lang="en-US" sz="1600" i="1">
                            <a:latin typeface="Cambria Math" panose="02040503050406030204" pitchFamily="18" charset="0"/>
                          </a:rPr>
                          <m:t>,</m:t>
                        </m:r>
                        <m:r>
                          <a:rPr lang="en-US" sz="1600" i="1">
                            <a:latin typeface="Cambria Math" panose="02040503050406030204" pitchFamily="18" charset="0"/>
                          </a:rPr>
                          <m:t>𝑘</m:t>
                        </m:r>
                      </m:e>
                    </m:d>
                    <m:r>
                      <a:rPr lang="en-US" sz="1600" b="0" i="0" smtClean="0">
                        <a:latin typeface="Cambria Math" panose="02040503050406030204" pitchFamily="18" charset="0"/>
                      </a:rPr>
                      <m:t>=0</m:t>
                    </m:r>
                  </m:oMath>
                </a14:m>
                <a:endParaRPr lang="en-US" sz="1600" dirty="0"/>
              </a:p>
              <a:p>
                <a:pPr algn="ctr"/>
                <a:r>
                  <a:rPr lang="en-US" sz="1600" b="1" dirty="0"/>
                  <a:t>Isotropic,</a:t>
                </a:r>
                <a:r>
                  <a:rPr lang="en-US" sz="1600" dirty="0"/>
                  <a:t> </a:t>
                </a:r>
                <a14:m>
                  <m:oMath xmlns:m="http://schemas.openxmlformats.org/officeDocument/2006/math">
                    <m:r>
                      <a:rPr lang="en-US" sz="1600" b="0" i="0" smtClean="0">
                        <a:latin typeface="Cambria Math" panose="02040503050406030204" pitchFamily="18" charset="0"/>
                      </a:rPr>
                      <m:t> </m:t>
                    </m:r>
                    <m:r>
                      <a:rPr lang="en-US" sz="1600" i="1">
                        <a:latin typeface="Cambria Math" panose="02040503050406030204" pitchFamily="18" charset="0"/>
                      </a:rPr>
                      <m:t>𝑓</m:t>
                    </m:r>
                    <m:r>
                      <a:rPr lang="en-US" sz="1600" b="0" i="0" smtClean="0">
                        <a:latin typeface="Cambria Math" panose="02040503050406030204" pitchFamily="18" charset="0"/>
                      </a:rPr>
                      <m:t>= </m:t>
                    </m:r>
                    <m:r>
                      <a:rPr lang="en-US" sz="1600" i="1">
                        <a:latin typeface="Cambria Math" panose="02040503050406030204" pitchFamily="18" charset="0"/>
                      </a:rPr>
                      <m:t>𝑓</m:t>
                    </m:r>
                    <m:d>
                      <m:dPr>
                        <m:ctrlPr>
                          <a:rPr lang="en-US" sz="1600" i="1">
                            <a:latin typeface="Cambria Math" panose="02040503050406030204" pitchFamily="18" charset="0"/>
                          </a:rPr>
                        </m:ctrlPr>
                      </m:dPr>
                      <m:e>
                        <m:r>
                          <a:rPr lang="en-US" sz="1600" i="1">
                            <a:latin typeface="Cambria Math" panose="02040503050406030204" pitchFamily="18" charset="0"/>
                          </a:rPr>
                          <m:t>𝜎</m:t>
                        </m:r>
                        <m:r>
                          <a:rPr lang="en-US" sz="1600" i="1">
                            <a:latin typeface="Cambria Math" panose="02040503050406030204" pitchFamily="18" charset="0"/>
                          </a:rPr>
                          <m:t>,</m:t>
                        </m:r>
                        <m:r>
                          <a:rPr lang="en-US" sz="1600" i="1">
                            <a:latin typeface="Cambria Math" panose="02040503050406030204" pitchFamily="18" charset="0"/>
                          </a:rPr>
                          <m:t>𝑘</m:t>
                        </m:r>
                      </m:e>
                    </m:d>
                  </m:oMath>
                </a14:m>
                <a:r>
                  <a:rPr lang="en-US" sz="1600" dirty="0"/>
                  <a:t>,  and </a:t>
                </a:r>
                <a:r>
                  <a:rPr lang="en-US" sz="1600" b="1" dirty="0"/>
                  <a:t>Kinematic,</a:t>
                </a:r>
                <a:r>
                  <a:rPr lang="en-US" sz="1600" dirty="0"/>
                  <a:t> </a:t>
                </a:r>
                <a14:m>
                  <m:oMath xmlns:m="http://schemas.openxmlformats.org/officeDocument/2006/math">
                    <m:r>
                      <a:rPr lang="en-US" sz="1600" i="1">
                        <a:latin typeface="Cambria Math" panose="02040503050406030204" pitchFamily="18" charset="0"/>
                      </a:rPr>
                      <m:t>𝑓</m:t>
                    </m:r>
                    <m:r>
                      <a:rPr lang="en-US" sz="1600">
                        <a:latin typeface="Cambria Math" panose="02040503050406030204" pitchFamily="18" charset="0"/>
                      </a:rPr>
                      <m:t>= </m:t>
                    </m:r>
                    <m:r>
                      <a:rPr lang="en-US" sz="1600" i="1">
                        <a:latin typeface="Cambria Math" panose="02040503050406030204" pitchFamily="18" charset="0"/>
                      </a:rPr>
                      <m:t>𝑓</m:t>
                    </m:r>
                    <m:d>
                      <m:dPr>
                        <m:ctrlPr>
                          <a:rPr lang="en-US" sz="1600" i="1">
                            <a:latin typeface="Cambria Math" panose="02040503050406030204" pitchFamily="18" charset="0"/>
                          </a:rPr>
                        </m:ctrlPr>
                      </m:dPr>
                      <m:e>
                        <m:r>
                          <a:rPr lang="en-US" sz="1600" i="1">
                            <a:latin typeface="Cambria Math" panose="02040503050406030204" pitchFamily="18" charset="0"/>
                          </a:rPr>
                          <m:t>𝜎</m:t>
                        </m:r>
                        <m:r>
                          <a:rPr lang="en-US" sz="1600" i="1">
                            <a:latin typeface="Cambria Math" panose="02040503050406030204" pitchFamily="18" charset="0"/>
                          </a:rPr>
                          <m:t>,</m:t>
                        </m:r>
                        <m:r>
                          <a:rPr lang="en-US" sz="1600" b="0" i="1" smtClean="0">
                            <a:latin typeface="Cambria Math" panose="02040503050406030204" pitchFamily="18" charset="0"/>
                          </a:rPr>
                          <m:t>𝛼</m:t>
                        </m:r>
                      </m:e>
                    </m:d>
                  </m:oMath>
                </a14:m>
                <a:endParaRPr lang="en-US" sz="1600" dirty="0"/>
              </a:p>
              <a:p>
                <a:pPr algn="ctr"/>
                <a:r>
                  <a:rPr lang="en-US" sz="1600" i="1" dirty="0"/>
                  <a:t>Where; plastic equivalent </a:t>
                </a:r>
                <a14:m>
                  <m:oMath xmlns:m="http://schemas.openxmlformats.org/officeDocument/2006/math">
                    <m:r>
                      <a:rPr lang="en-US" sz="1600" i="1">
                        <a:latin typeface="Cambria Math" panose="02040503050406030204" pitchFamily="18" charset="0"/>
                      </a:rPr>
                      <m:t>𝑘</m:t>
                    </m:r>
                  </m:oMath>
                </a14:m>
                <a:r>
                  <a:rPr lang="en-US" sz="1600" i="1" dirty="0"/>
                  <a:t>, in rate form, </a:t>
                </a:r>
                <a14:m>
                  <m:oMath xmlns:m="http://schemas.openxmlformats.org/officeDocument/2006/math">
                    <m:acc>
                      <m:accPr>
                        <m:chr m:val="̇"/>
                        <m:ctrlPr>
                          <a:rPr lang="en-US" sz="1600" i="1">
                            <a:latin typeface="Cambria Math" panose="02040503050406030204" pitchFamily="18" charset="0"/>
                          </a:rPr>
                        </m:ctrlPr>
                      </m:accPr>
                      <m:e>
                        <m:r>
                          <a:rPr lang="en-US" sz="1600" i="1">
                            <a:latin typeface="Cambria Math" panose="02040503050406030204" pitchFamily="18" charset="0"/>
                          </a:rPr>
                          <m:t>𝑘</m:t>
                        </m:r>
                      </m:e>
                    </m:acc>
                    <m:r>
                      <a:rPr lang="en-US" sz="1600" i="1">
                        <a:latin typeface="Cambria Math" panose="02040503050406030204" pitchFamily="18" charset="0"/>
                      </a:rPr>
                      <m:t>=</m:t>
                    </m:r>
                    <m:acc>
                      <m:accPr>
                        <m:chr m:val="̇"/>
                        <m:ctrlPr>
                          <a:rPr lang="en-US" sz="1600" i="1">
                            <a:latin typeface="Cambria Math" panose="02040503050406030204" pitchFamily="18" charset="0"/>
                          </a:rPr>
                        </m:ctrlPr>
                      </m:accPr>
                      <m:e>
                        <m:sSup>
                          <m:sSupPr>
                            <m:ctrlPr>
                              <a:rPr lang="en-US" sz="1600" i="1">
                                <a:latin typeface="Cambria Math" panose="02040503050406030204" pitchFamily="18" charset="0"/>
                              </a:rPr>
                            </m:ctrlPr>
                          </m:sSupPr>
                          <m:e>
                            <m:acc>
                              <m:accPr>
                                <m:chr m:val="̅"/>
                                <m:ctrlPr>
                                  <a:rPr lang="en-US" sz="1600" i="1">
                                    <a:latin typeface="Cambria Math" panose="02040503050406030204" pitchFamily="18" charset="0"/>
                                  </a:rPr>
                                </m:ctrlPr>
                              </m:accPr>
                              <m:e>
                                <m:r>
                                  <a:rPr lang="en-US" sz="1600" i="1">
                                    <a:latin typeface="Cambria Math" panose="02040503050406030204" pitchFamily="18" charset="0"/>
                                  </a:rPr>
                                  <m:t>𝜀</m:t>
                                </m:r>
                              </m:e>
                            </m:acc>
                          </m:e>
                          <m:sup>
                            <m:r>
                              <a:rPr lang="en-US" sz="1600" i="1">
                                <a:latin typeface="Cambria Math" panose="02040503050406030204" pitchFamily="18" charset="0"/>
                              </a:rPr>
                              <m:t>𝑝𝑙</m:t>
                            </m:r>
                          </m:sup>
                        </m:sSup>
                      </m:e>
                    </m:acc>
                    <m:r>
                      <a:rPr lang="en-US" sz="1600" i="1">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𝜀</m:t>
                        </m:r>
                      </m:e>
                      <m:sub>
                        <m:r>
                          <a:rPr lang="en-US" sz="1600" i="1">
                            <a:latin typeface="Cambria Math" panose="02040503050406030204" pitchFamily="18" charset="0"/>
                            <a:ea typeface="Cambria Math" panose="02040503050406030204" pitchFamily="18" charset="0"/>
                          </a:rPr>
                          <m:t>𝑒𝑞</m:t>
                        </m:r>
                      </m:sub>
                    </m:sSub>
                    <m:d>
                      <m:dPr>
                        <m:ctrlPr>
                          <a:rPr lang="en-US" sz="1600" i="1">
                            <a:latin typeface="Cambria Math" panose="02040503050406030204" pitchFamily="18" charset="0"/>
                            <a:ea typeface="Cambria Math" panose="02040503050406030204" pitchFamily="18" charset="0"/>
                          </a:rPr>
                        </m:ctrlPr>
                      </m:dPr>
                      <m:e>
                        <m:acc>
                          <m:accPr>
                            <m:chr m:val="̇"/>
                            <m:ctrlPr>
                              <a:rPr lang="en-US" sz="1600" i="1">
                                <a:latin typeface="Cambria Math" panose="02040503050406030204" pitchFamily="18" charset="0"/>
                                <a:ea typeface="Cambria Math" panose="02040503050406030204" pitchFamily="18" charset="0"/>
                              </a:rPr>
                            </m:ctrlPr>
                          </m:accPr>
                          <m:e>
                            <m:r>
                              <a:rPr lang="en-US" sz="1600" b="0" i="1">
                                <a:latin typeface="Cambria Math" panose="02040503050406030204" pitchFamily="18" charset="0"/>
                                <a:ea typeface="Cambria Math" panose="02040503050406030204" pitchFamily="18" charset="0"/>
                              </a:rPr>
                              <m:t>𝜀</m:t>
                            </m:r>
                          </m:e>
                        </m:acc>
                      </m:e>
                    </m:d>
                  </m:oMath>
                </a14:m>
                <a:r>
                  <a:rPr lang="en-US" sz="1600" b="1" i="1" dirty="0"/>
                  <a:t> </a:t>
                </a:r>
                <a:r>
                  <a:rPr lang="en-US" sz="1600" i="1" dirty="0"/>
                  <a:t>and, </a:t>
                </a:r>
              </a:p>
              <a:p>
                <a:pPr algn="ctr"/>
                <a14:m>
                  <m:oMath xmlns:m="http://schemas.openxmlformats.org/officeDocument/2006/math">
                    <m:acc>
                      <m:accPr>
                        <m:chr m:val="̇"/>
                        <m:ctrlPr>
                          <a:rPr lang="en-US" sz="1600" i="1">
                            <a:latin typeface="Cambria Math" panose="02040503050406030204" pitchFamily="18" charset="0"/>
                            <a:ea typeface="Cambria Math" panose="02040503050406030204" pitchFamily="18" charset="0"/>
                          </a:rPr>
                        </m:ctrlPr>
                      </m:accPr>
                      <m:e>
                        <m:r>
                          <a:rPr lang="en-US" sz="1600" b="0" i="1">
                            <a:latin typeface="Cambria Math" panose="02040503050406030204" pitchFamily="18" charset="0"/>
                            <a:ea typeface="Cambria Math" panose="02040503050406030204" pitchFamily="18" charset="0"/>
                          </a:rPr>
                          <m:t>𝜀</m:t>
                        </m:r>
                      </m:e>
                    </m:acc>
                    <m:r>
                      <a:rPr lang="en-US" sz="1600" b="1" i="1">
                        <a:latin typeface="Cambria Math" panose="02040503050406030204" pitchFamily="18" charset="0"/>
                        <a:ea typeface="Cambria Math" panose="02040503050406030204" pitchFamily="18" charset="0"/>
                      </a:rPr>
                      <m:t>= </m:t>
                    </m:r>
                    <m:acc>
                      <m:accPr>
                        <m:chr m:val="̇"/>
                        <m:ctrlPr>
                          <a:rPr lang="en-US" sz="1600" i="1">
                            <a:latin typeface="Cambria Math" panose="02040503050406030204" pitchFamily="18" charset="0"/>
                            <a:ea typeface="Cambria Math" panose="02040503050406030204" pitchFamily="18" charset="0"/>
                          </a:rPr>
                        </m:ctrlPr>
                      </m:accPr>
                      <m:e>
                        <m:r>
                          <a:rPr lang="en-US" sz="1600" i="1">
                            <a:latin typeface="Cambria Math" panose="02040503050406030204" pitchFamily="18" charset="0"/>
                            <a:ea typeface="Cambria Math" panose="02040503050406030204" pitchFamily="18" charset="0"/>
                          </a:rPr>
                          <m:t>𝜆</m:t>
                        </m:r>
                      </m:e>
                    </m:acc>
                    <m:r>
                      <a:rPr lang="en-US" sz="1600" b="0" i="1">
                        <a:latin typeface="Cambria Math" panose="02040503050406030204" pitchFamily="18" charset="0"/>
                        <a:ea typeface="Cambria Math" panose="02040503050406030204" pitchFamily="18" charset="0"/>
                      </a:rPr>
                      <m:t>𝑛</m:t>
                    </m:r>
                  </m:oMath>
                </a14:m>
                <a:r>
                  <a:rPr lang="en-US" sz="1600" i="1" dirty="0"/>
                  <a:t> (Reuss-Prandtl Flow rule).</a:t>
                </a:r>
              </a:p>
              <a:p>
                <a:pPr algn="ctr"/>
                <a:endParaRPr lang="en-US" sz="1600" dirty="0"/>
              </a:p>
            </p:txBody>
          </p:sp>
        </mc:Choice>
        <mc:Fallback xmlns="">
          <p:sp>
            <p:nvSpPr>
              <p:cNvPr id="8" name="Rectangle 7">
                <a:extLst>
                  <a:ext uri="{FF2B5EF4-FFF2-40B4-BE49-F238E27FC236}">
                    <a16:creationId xmlns:a16="http://schemas.microsoft.com/office/drawing/2014/main" id="{D05F2A94-42A6-9C85-EDAB-CFC58489646B}"/>
                  </a:ext>
                </a:extLst>
              </p:cNvPr>
              <p:cNvSpPr>
                <a:spLocks noRot="1" noChangeAspect="1" noMove="1" noResize="1" noEditPoints="1" noAdjustHandles="1" noChangeArrowheads="1" noChangeShapeType="1" noTextEdit="1"/>
              </p:cNvSpPr>
              <p:nvPr/>
            </p:nvSpPr>
            <p:spPr>
              <a:xfrm>
                <a:off x="442297" y="1723127"/>
                <a:ext cx="5653703" cy="2034061"/>
              </a:xfrm>
              <a:prstGeom prst="rect">
                <a:avLst/>
              </a:prstGeom>
              <a:blipFill>
                <a:blip r:embed="rId7"/>
                <a:stretch>
                  <a:fillRect l="-538"/>
                </a:stretch>
              </a:blipFill>
              <a:ln>
                <a:solidFill>
                  <a:srgbClr val="00009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88338BE-6B0F-CF96-FE04-9A67C25EDB17}"/>
                  </a:ext>
                </a:extLst>
              </p:cNvPr>
              <p:cNvSpPr/>
              <p:nvPr/>
            </p:nvSpPr>
            <p:spPr>
              <a:xfrm>
                <a:off x="442297" y="3840316"/>
                <a:ext cx="5653702" cy="2759268"/>
              </a:xfrm>
              <a:prstGeom prst="rect">
                <a:avLst/>
              </a:prstGeom>
              <a:noFill/>
              <a:ln w="9525" cap="flat" cmpd="sng" algn="ctr">
                <a:solidFill>
                  <a:srgbClr val="00009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sz="1600" b="1" dirty="0">
                    <a:solidFill>
                      <a:schemeClr val="tx1"/>
                    </a:solidFill>
                  </a:rPr>
                  <a:t>Monotonic Empirical Hardening Models</a:t>
                </a:r>
              </a:p>
              <a:p>
                <a:pPr lvl="0"/>
                <a:r>
                  <a:rPr lang="en-US" sz="1600" dirty="0">
                    <a:solidFill>
                      <a:schemeClr val="tx1">
                        <a:lumMod val="95000"/>
                        <a:lumOff val="5000"/>
                      </a:schemeClr>
                    </a:solidFill>
                  </a:rPr>
                  <a:t>Stress directly modeled from strain (isotropic hardening): </a:t>
                </a:r>
              </a:p>
              <a:p>
                <a:pPr marL="285750" lvl="0" indent="-285750">
                  <a:buFont typeface="Arial" panose="020B0604020202020204" pitchFamily="34" charset="0"/>
                  <a:buChar char="•"/>
                </a:pPr>
                <a:r>
                  <a:rPr lang="en-US" sz="1600" dirty="0">
                    <a:solidFill>
                      <a:schemeClr val="tx1">
                        <a:lumMod val="95000"/>
                        <a:lumOff val="5000"/>
                      </a:schemeClr>
                    </a:solidFill>
                  </a:rPr>
                  <a:t>Hollomon, </a:t>
                </a:r>
                <a:r>
                  <a:rPr lang="el-GR" sz="1600" dirty="0">
                    <a:solidFill>
                      <a:schemeClr val="tx1">
                        <a:lumMod val="95000"/>
                        <a:lumOff val="5000"/>
                      </a:schemeClr>
                    </a:solidFill>
                  </a:rPr>
                  <a:t>σ = </a:t>
                </a:r>
                <a:r>
                  <a:rPr lang="en-US" sz="1600" dirty="0">
                    <a:solidFill>
                      <a:schemeClr val="tx1">
                        <a:lumMod val="95000"/>
                        <a:lumOff val="5000"/>
                      </a:schemeClr>
                    </a:solidFill>
                  </a:rPr>
                  <a:t>K·</a:t>
                </a:r>
                <a:r>
                  <a:rPr lang="el-GR" sz="1600" dirty="0">
                    <a:solidFill>
                      <a:schemeClr val="tx1">
                        <a:lumMod val="95000"/>
                        <a:lumOff val="5000"/>
                      </a:schemeClr>
                    </a:solidFill>
                  </a:rPr>
                  <a:t>ε</a:t>
                </a:r>
                <a:r>
                  <a:rPr lang="en-US" sz="1600" dirty="0">
                    <a:solidFill>
                      <a:schemeClr val="tx1">
                        <a:lumMod val="95000"/>
                        <a:lumOff val="5000"/>
                      </a:schemeClr>
                    </a:solidFill>
                  </a:rPr>
                  <a:t>ⁿ</a:t>
                </a:r>
              </a:p>
              <a:p>
                <a:pPr marL="285750" lvl="0" indent="-285750">
                  <a:buFont typeface="Arial" panose="020B0604020202020204" pitchFamily="34" charset="0"/>
                  <a:buChar char="•"/>
                </a:pPr>
                <a:r>
                  <a:rPr lang="en-US" sz="1600" dirty="0">
                    <a:solidFill>
                      <a:schemeClr val="tx1">
                        <a:lumMod val="95000"/>
                        <a:lumOff val="5000"/>
                      </a:schemeClr>
                    </a:solidFill>
                  </a:rPr>
                  <a:t>Swift, </a:t>
                </a:r>
                <a:r>
                  <a:rPr lang="el-GR" sz="1600" dirty="0">
                    <a:solidFill>
                      <a:schemeClr val="tx1">
                        <a:lumMod val="95000"/>
                        <a:lumOff val="5000"/>
                      </a:schemeClr>
                    </a:solidFill>
                  </a:rPr>
                  <a:t>σ = </a:t>
                </a:r>
                <a:r>
                  <a:rPr lang="en-US" sz="1600" dirty="0">
                    <a:solidFill>
                      <a:schemeClr val="tx1">
                        <a:lumMod val="95000"/>
                        <a:lumOff val="5000"/>
                      </a:schemeClr>
                    </a:solidFill>
                  </a:rPr>
                  <a:t>K(</a:t>
                </a:r>
                <a:r>
                  <a:rPr lang="el-GR" sz="1600" dirty="0">
                    <a:solidFill>
                      <a:schemeClr val="tx1">
                        <a:lumMod val="95000"/>
                        <a:lumOff val="5000"/>
                      </a:schemeClr>
                    </a:solidFill>
                  </a:rPr>
                  <a:t>ε + ε₀)</a:t>
                </a:r>
                <a:r>
                  <a:rPr lang="en-US" sz="1600" dirty="0">
                    <a:solidFill>
                      <a:schemeClr val="tx1">
                        <a:lumMod val="95000"/>
                        <a:lumOff val="5000"/>
                      </a:schemeClr>
                    </a:solidFill>
                  </a:rPr>
                  <a:t>ⁿ</a:t>
                </a:r>
              </a:p>
              <a:p>
                <a:pPr marL="285750" lvl="0" indent="-285750">
                  <a:buFont typeface="Arial" panose="020B0604020202020204" pitchFamily="34" charset="0"/>
                  <a:buChar char="•"/>
                </a:pPr>
                <a:r>
                  <a:rPr lang="en-US" sz="1600" dirty="0">
                    <a:solidFill>
                      <a:schemeClr val="tx1">
                        <a:lumMod val="95000"/>
                        <a:lumOff val="5000"/>
                      </a:schemeClr>
                    </a:solidFill>
                  </a:rPr>
                  <a:t>Voce, </a:t>
                </a:r>
                <a:r>
                  <a:rPr lang="el-GR" sz="1600" dirty="0">
                    <a:solidFill>
                      <a:schemeClr val="tx1">
                        <a:lumMod val="95000"/>
                        <a:lumOff val="5000"/>
                      </a:schemeClr>
                    </a:solidFill>
                  </a:rPr>
                  <a:t>σ = σ₀ </a:t>
                </a:r>
                <a:r>
                  <a:rPr lang="en-US" sz="1600" dirty="0">
                    <a:solidFill>
                      <a:schemeClr val="tx1">
                        <a:lumMod val="95000"/>
                        <a:lumOff val="5000"/>
                      </a:schemeClr>
                    </a:solidFill>
                  </a:rPr>
                  <a:t>+</a:t>
                </a:r>
                <a:r>
                  <a:rPr lang="el-GR" sz="1600" dirty="0">
                    <a:solidFill>
                      <a:schemeClr val="tx1">
                        <a:lumMod val="95000"/>
                        <a:lumOff val="5000"/>
                      </a:schemeClr>
                    </a:solidFill>
                  </a:rPr>
                  <a:t> (</a:t>
                </a:r>
                <a14:m>
                  <m:oMath xmlns:m="http://schemas.openxmlformats.org/officeDocument/2006/math">
                    <m:sSub>
                      <m:sSubPr>
                        <m:ctrlPr>
                          <a:rPr lang="en-US" sz="1600" i="1">
                            <a:solidFill>
                              <a:schemeClr val="tx1">
                                <a:lumMod val="95000"/>
                                <a:lumOff val="5000"/>
                              </a:schemeClr>
                            </a:solidFill>
                            <a:latin typeface="Cambria Math" panose="02040503050406030204" pitchFamily="18" charset="0"/>
                          </a:rPr>
                        </m:ctrlPr>
                      </m:sSubPr>
                      <m:e>
                        <m:r>
                          <m:rPr>
                            <m:nor/>
                          </m:rPr>
                          <a:rPr lang="el-GR" sz="1600">
                            <a:solidFill>
                              <a:schemeClr val="tx1">
                                <a:lumMod val="95000"/>
                                <a:lumOff val="5000"/>
                              </a:schemeClr>
                            </a:solidFill>
                          </a:rPr>
                          <m:t>σ</m:t>
                        </m:r>
                      </m:e>
                      <m:sub>
                        <m:r>
                          <a:rPr lang="en-US" sz="1600" b="0" i="1" smtClean="0">
                            <a:solidFill>
                              <a:schemeClr val="tx1">
                                <a:lumMod val="95000"/>
                                <a:lumOff val="5000"/>
                              </a:schemeClr>
                            </a:solidFill>
                            <a:latin typeface="Cambria Math" panose="02040503050406030204" pitchFamily="18" charset="0"/>
                          </a:rPr>
                          <m:t>𝑠</m:t>
                        </m:r>
                      </m:sub>
                    </m:sSub>
                  </m:oMath>
                </a14:m>
                <a:r>
                  <a:rPr lang="en-US" sz="1600" dirty="0">
                    <a:solidFill>
                      <a:schemeClr val="tx1">
                        <a:lumMod val="95000"/>
                        <a:lumOff val="5000"/>
                      </a:schemeClr>
                    </a:solidFill>
                  </a:rPr>
                  <a:t> − </a:t>
                </a:r>
                <a:r>
                  <a:rPr lang="el-GR" sz="1600" dirty="0">
                    <a:solidFill>
                      <a:schemeClr val="tx1">
                        <a:lumMod val="95000"/>
                        <a:lumOff val="5000"/>
                      </a:schemeClr>
                    </a:solidFill>
                  </a:rPr>
                  <a:t>σ₀)(1 − </a:t>
                </a:r>
                <a14:m>
                  <m:oMath xmlns:m="http://schemas.openxmlformats.org/officeDocument/2006/math">
                    <m:sSup>
                      <m:sSupPr>
                        <m:ctrlPr>
                          <a:rPr lang="en-US" sz="1600" i="1">
                            <a:solidFill>
                              <a:schemeClr val="tx1">
                                <a:lumMod val="95000"/>
                                <a:lumOff val="5000"/>
                              </a:schemeClr>
                            </a:solidFill>
                            <a:latin typeface="Cambria Math" panose="02040503050406030204" pitchFamily="18" charset="0"/>
                          </a:rPr>
                        </m:ctrlPr>
                      </m:sSupPr>
                      <m:e>
                        <m:r>
                          <a:rPr lang="en-US" sz="1600" b="0" i="1" smtClean="0">
                            <a:solidFill>
                              <a:schemeClr val="tx1">
                                <a:lumMod val="95000"/>
                                <a:lumOff val="5000"/>
                              </a:schemeClr>
                            </a:solidFill>
                            <a:latin typeface="Cambria Math" panose="02040503050406030204" pitchFamily="18" charset="0"/>
                          </a:rPr>
                          <m:t>𝑒</m:t>
                        </m:r>
                      </m:e>
                      <m:sup>
                        <m:r>
                          <a:rPr lang="en-US" sz="1600" b="0" i="1" smtClean="0">
                            <a:solidFill>
                              <a:schemeClr val="tx1">
                                <a:lumMod val="95000"/>
                                <a:lumOff val="5000"/>
                              </a:schemeClr>
                            </a:solidFill>
                            <a:latin typeface="Cambria Math" panose="02040503050406030204" pitchFamily="18" charset="0"/>
                          </a:rPr>
                          <m:t>−</m:t>
                        </m:r>
                        <m:r>
                          <a:rPr lang="el-GR" sz="1600" b="0" i="1" smtClean="0">
                            <a:solidFill>
                              <a:schemeClr val="tx1">
                                <a:lumMod val="95000"/>
                                <a:lumOff val="5000"/>
                              </a:schemeClr>
                            </a:solidFill>
                            <a:latin typeface="Cambria Math" panose="02040503050406030204" pitchFamily="18" charset="0"/>
                          </a:rPr>
                          <m:t>𝛽𝜀</m:t>
                        </m:r>
                      </m:sup>
                    </m:sSup>
                    <m:r>
                      <a:rPr lang="el-GR" sz="1600" b="0" i="1" smtClean="0">
                        <a:solidFill>
                          <a:schemeClr val="tx1">
                            <a:lumMod val="95000"/>
                            <a:lumOff val="5000"/>
                          </a:schemeClr>
                        </a:solidFill>
                        <a:latin typeface="Cambria Math" panose="02040503050406030204" pitchFamily="18" charset="0"/>
                      </a:rPr>
                      <m:t>)</m:t>
                    </m:r>
                  </m:oMath>
                </a14:m>
                <a:r>
                  <a:rPr lang="en-US" sz="1600" dirty="0">
                    <a:solidFill>
                      <a:schemeClr val="tx1">
                        <a:lumMod val="95000"/>
                        <a:lumOff val="5000"/>
                      </a:schemeClr>
                    </a:solidFill>
                  </a:rPr>
                  <a:t> </a:t>
                </a:r>
              </a:p>
              <a:p>
                <a:pPr marL="285750" lvl="0" indent="-285750">
                  <a:buFont typeface="Arial" panose="020B0604020202020204" pitchFamily="34" charset="0"/>
                  <a:buChar char="•"/>
                </a:pPr>
                <a:r>
                  <a:rPr lang="en-US" sz="1600" i="0" dirty="0">
                    <a:solidFill>
                      <a:schemeClr val="tx1">
                        <a:lumMod val="95000"/>
                        <a:lumOff val="5000"/>
                      </a:schemeClr>
                    </a:solidFill>
                    <a:effectLst/>
                  </a:rPr>
                  <a:t>Ramberg-Osgood, </a:t>
                </a:r>
                <a:r>
                  <a:rPr lang="el-GR" sz="1600" i="0" baseline="0" dirty="0">
                    <a:solidFill>
                      <a:schemeClr val="tx1">
                        <a:lumMod val="95000"/>
                        <a:lumOff val="5000"/>
                      </a:schemeClr>
                    </a:solidFill>
                    <a:effectLst/>
                  </a:rPr>
                  <a:t>ε = </a:t>
                </a:r>
                <a14:m>
                  <m:oMath xmlns:m="http://schemas.openxmlformats.org/officeDocument/2006/math">
                    <m:f>
                      <m:fPr>
                        <m:ctrlPr>
                          <a:rPr lang="el-GR" sz="1600" i="1" baseline="0" smtClean="0">
                            <a:solidFill>
                              <a:schemeClr val="tx1">
                                <a:lumMod val="95000"/>
                                <a:lumOff val="5000"/>
                              </a:schemeClr>
                            </a:solidFill>
                            <a:effectLst/>
                            <a:latin typeface="Cambria Math" panose="02040503050406030204" pitchFamily="18" charset="0"/>
                          </a:rPr>
                        </m:ctrlPr>
                      </m:fPr>
                      <m:num>
                        <m:r>
                          <m:rPr>
                            <m:sty m:val="p"/>
                          </m:rPr>
                          <a:rPr lang="el-GR" sz="1600" b="0" i="0" baseline="0" smtClean="0">
                            <a:solidFill>
                              <a:schemeClr val="tx1">
                                <a:lumMod val="95000"/>
                                <a:lumOff val="5000"/>
                              </a:schemeClr>
                            </a:solidFill>
                            <a:effectLst/>
                            <a:latin typeface="Cambria Math" panose="02040503050406030204" pitchFamily="18" charset="0"/>
                          </a:rPr>
                          <m:t>σ</m:t>
                        </m:r>
                      </m:num>
                      <m:den>
                        <m:r>
                          <a:rPr lang="en-US" sz="1600" b="0" i="1" baseline="0" smtClean="0">
                            <a:solidFill>
                              <a:schemeClr val="tx1">
                                <a:lumMod val="95000"/>
                                <a:lumOff val="5000"/>
                              </a:schemeClr>
                            </a:solidFill>
                            <a:effectLst/>
                            <a:latin typeface="Cambria Math" panose="02040503050406030204" pitchFamily="18" charset="0"/>
                          </a:rPr>
                          <m:t>𝐸</m:t>
                        </m:r>
                      </m:den>
                    </m:f>
                  </m:oMath>
                </a14:m>
                <a:r>
                  <a:rPr lang="en-US" sz="1600" dirty="0">
                    <a:solidFill>
                      <a:schemeClr val="tx1">
                        <a:lumMod val="95000"/>
                        <a:lumOff val="5000"/>
                      </a:schemeClr>
                    </a:solidFill>
                    <a:effectLst/>
                  </a:rPr>
                  <a:t> + K</a:t>
                </a:r>
                <a14:m>
                  <m:oMath xmlns:m="http://schemas.openxmlformats.org/officeDocument/2006/math">
                    <m:sSup>
                      <m:sSupPr>
                        <m:ctrlPr>
                          <a:rPr lang="en-US" sz="1600" i="1" smtClean="0">
                            <a:solidFill>
                              <a:schemeClr val="tx1">
                                <a:lumMod val="95000"/>
                                <a:lumOff val="5000"/>
                              </a:schemeClr>
                            </a:solidFill>
                            <a:effectLst/>
                            <a:latin typeface="Cambria Math" panose="02040503050406030204" pitchFamily="18" charset="0"/>
                          </a:rPr>
                        </m:ctrlPr>
                      </m:sSupPr>
                      <m:e>
                        <m:d>
                          <m:dPr>
                            <m:ctrlPr>
                              <a:rPr lang="en-US" sz="1600" i="1" smtClean="0">
                                <a:solidFill>
                                  <a:schemeClr val="tx1">
                                    <a:lumMod val="95000"/>
                                    <a:lumOff val="5000"/>
                                  </a:schemeClr>
                                </a:solidFill>
                                <a:effectLst/>
                                <a:latin typeface="Cambria Math" panose="02040503050406030204" pitchFamily="18" charset="0"/>
                              </a:rPr>
                            </m:ctrlPr>
                          </m:dPr>
                          <m:e>
                            <m:f>
                              <m:fPr>
                                <m:ctrlPr>
                                  <a:rPr lang="en-US" sz="1600" i="1" smtClean="0">
                                    <a:solidFill>
                                      <a:schemeClr val="tx1">
                                        <a:lumMod val="95000"/>
                                        <a:lumOff val="5000"/>
                                      </a:schemeClr>
                                    </a:solidFill>
                                    <a:effectLst/>
                                    <a:latin typeface="Cambria Math" panose="02040503050406030204" pitchFamily="18" charset="0"/>
                                  </a:rPr>
                                </m:ctrlPr>
                              </m:fPr>
                              <m:num>
                                <m:r>
                                  <m:rPr>
                                    <m:sty m:val="p"/>
                                  </m:rPr>
                                  <a:rPr lang="el-GR" sz="1600" b="0" i="0" baseline="0" smtClean="0">
                                    <a:solidFill>
                                      <a:schemeClr val="tx1">
                                        <a:lumMod val="95000"/>
                                        <a:lumOff val="5000"/>
                                      </a:schemeClr>
                                    </a:solidFill>
                                    <a:effectLst/>
                                    <a:latin typeface="Cambria Math" panose="02040503050406030204" pitchFamily="18" charset="0"/>
                                  </a:rPr>
                                  <m:t>σ</m:t>
                                </m:r>
                              </m:num>
                              <m:den>
                                <m:r>
                                  <m:rPr>
                                    <m:sty m:val="p"/>
                                  </m:rPr>
                                  <a:rPr lang="el-GR" sz="1600" b="0" i="0" baseline="0" smtClean="0">
                                    <a:solidFill>
                                      <a:schemeClr val="tx1">
                                        <a:lumMod val="95000"/>
                                        <a:lumOff val="5000"/>
                                      </a:schemeClr>
                                    </a:solidFill>
                                    <a:effectLst/>
                                    <a:latin typeface="Cambria Math" panose="02040503050406030204" pitchFamily="18" charset="0"/>
                                  </a:rPr>
                                  <m:t>σ</m:t>
                                </m:r>
                                <m:r>
                                  <a:rPr lang="el-GR" sz="1600" b="0" i="0" baseline="0" smtClean="0">
                                    <a:solidFill>
                                      <a:schemeClr val="tx1">
                                        <a:lumMod val="95000"/>
                                        <a:lumOff val="5000"/>
                                      </a:schemeClr>
                                    </a:solidFill>
                                    <a:effectLst/>
                                    <a:latin typeface="Cambria Math" panose="02040503050406030204" pitchFamily="18" charset="0"/>
                                  </a:rPr>
                                  <m:t>₀</m:t>
                                </m:r>
                              </m:den>
                            </m:f>
                          </m:e>
                        </m:d>
                      </m:e>
                      <m:sup>
                        <m:r>
                          <a:rPr lang="en-US" sz="1600" b="0" i="1" smtClean="0">
                            <a:solidFill>
                              <a:schemeClr val="tx1">
                                <a:lumMod val="95000"/>
                                <a:lumOff val="5000"/>
                              </a:schemeClr>
                            </a:solidFill>
                            <a:effectLst/>
                            <a:latin typeface="Cambria Math" panose="02040503050406030204" pitchFamily="18" charset="0"/>
                          </a:rPr>
                          <m:t>𝑛</m:t>
                        </m:r>
                      </m:sup>
                    </m:sSup>
                  </m:oMath>
                </a14:m>
                <a:endParaRPr lang="en-US" sz="1600" dirty="0">
                  <a:solidFill>
                    <a:schemeClr val="tx1">
                      <a:lumMod val="95000"/>
                      <a:lumOff val="5000"/>
                    </a:schemeClr>
                  </a:solidFill>
                </a:endParaRPr>
              </a:p>
              <a:p>
                <a:pPr marL="285750" lvl="0" indent="-285750">
                  <a:buFont typeface="Arial" panose="020B0604020202020204" pitchFamily="34" charset="0"/>
                  <a:buChar char="•"/>
                </a:pPr>
                <a:r>
                  <a:rPr lang="en-US" sz="1600" dirty="0">
                    <a:solidFill>
                      <a:schemeClr val="tx1">
                        <a:lumMod val="95000"/>
                        <a:lumOff val="5000"/>
                      </a:schemeClr>
                    </a:solidFill>
                    <a:effectLst/>
                  </a:rPr>
                  <a:t>Ludwik, </a:t>
                </a:r>
                <a:r>
                  <a:rPr lang="el-GR" sz="1600" i="0" baseline="0" dirty="0">
                    <a:solidFill>
                      <a:schemeClr val="tx1">
                        <a:lumMod val="95000"/>
                        <a:lumOff val="5000"/>
                      </a:schemeClr>
                    </a:solidFill>
                    <a:effectLst/>
                  </a:rPr>
                  <a:t>σ = σ₀</a:t>
                </a:r>
                <a:r>
                  <a:rPr lang="en-US" sz="1600" i="0" baseline="0" dirty="0">
                    <a:solidFill>
                      <a:schemeClr val="tx1">
                        <a:lumMod val="95000"/>
                        <a:lumOff val="5000"/>
                      </a:schemeClr>
                    </a:solidFill>
                    <a:effectLst/>
                  </a:rPr>
                  <a:t> + K·</a:t>
                </a:r>
                <a:r>
                  <a:rPr lang="el-GR" sz="1600" i="0" baseline="0" dirty="0">
                    <a:solidFill>
                      <a:schemeClr val="tx1">
                        <a:lumMod val="95000"/>
                        <a:lumOff val="5000"/>
                      </a:schemeClr>
                    </a:solidFill>
                    <a:effectLst/>
                  </a:rPr>
                  <a:t>ε</a:t>
                </a:r>
                <a:r>
                  <a:rPr lang="en-US" sz="1600" i="0" baseline="0" dirty="0">
                    <a:solidFill>
                      <a:schemeClr val="tx1">
                        <a:lumMod val="95000"/>
                        <a:lumOff val="5000"/>
                      </a:schemeClr>
                    </a:solidFill>
                    <a:effectLst/>
                  </a:rPr>
                  <a:t>ⁿ</a:t>
                </a:r>
              </a:p>
              <a:p>
                <a:pPr marL="285750" lvl="0" indent="-285750">
                  <a:buFont typeface="Arial" panose="020B0604020202020204" pitchFamily="34" charset="0"/>
                  <a:buChar char="•"/>
                </a:pPr>
                <a:r>
                  <a:rPr lang="en-US" sz="1600" i="0" dirty="0">
                    <a:solidFill>
                      <a:schemeClr val="tx1">
                        <a:lumMod val="95000"/>
                        <a:lumOff val="5000"/>
                      </a:schemeClr>
                    </a:solidFill>
                    <a:effectLst/>
                  </a:rPr>
                  <a:t>Hockett–Sherby, </a:t>
                </a:r>
                <a:r>
                  <a:rPr lang="el-GR" sz="1600" i="0" baseline="0" dirty="0">
                    <a:solidFill>
                      <a:schemeClr val="tx1">
                        <a:lumMod val="95000"/>
                        <a:lumOff val="5000"/>
                      </a:schemeClr>
                    </a:solidFill>
                    <a:effectLst/>
                  </a:rPr>
                  <a:t>σ = σ₀ + (</a:t>
                </a:r>
                <a14:m>
                  <m:oMath xmlns:m="http://schemas.openxmlformats.org/officeDocument/2006/math">
                    <m:sSub>
                      <m:sSubPr>
                        <m:ctrlPr>
                          <a:rPr lang="en-US" sz="1600" i="1" baseline="0">
                            <a:solidFill>
                              <a:schemeClr val="tx1">
                                <a:lumMod val="95000"/>
                                <a:lumOff val="5000"/>
                              </a:schemeClr>
                            </a:solidFill>
                            <a:effectLst/>
                            <a:latin typeface="Cambria Math" panose="02040503050406030204" pitchFamily="18" charset="0"/>
                          </a:rPr>
                        </m:ctrlPr>
                      </m:sSubPr>
                      <m:e>
                        <m:r>
                          <m:rPr>
                            <m:nor/>
                          </m:rPr>
                          <a:rPr lang="el-GR" sz="1600">
                            <a:solidFill>
                              <a:schemeClr val="tx1">
                                <a:lumMod val="95000"/>
                                <a:lumOff val="5000"/>
                              </a:schemeClr>
                            </a:solidFill>
                            <a:effectLst/>
                          </a:rPr>
                          <m:t>σ</m:t>
                        </m:r>
                      </m:e>
                      <m:sub>
                        <m:r>
                          <a:rPr lang="en-US" sz="1600" b="0" i="1" smtClean="0">
                            <a:solidFill>
                              <a:schemeClr val="tx1">
                                <a:lumMod val="95000"/>
                                <a:lumOff val="5000"/>
                              </a:schemeClr>
                            </a:solidFill>
                            <a:effectLst/>
                            <a:latin typeface="Cambria Math" panose="02040503050406030204" pitchFamily="18" charset="0"/>
                          </a:rPr>
                          <m:t>𝑠</m:t>
                        </m:r>
                      </m:sub>
                    </m:sSub>
                  </m:oMath>
                </a14:m>
                <a:r>
                  <a:rPr lang="en-US" sz="1600" i="0" baseline="0" dirty="0">
                    <a:solidFill>
                      <a:schemeClr val="tx1">
                        <a:lumMod val="95000"/>
                        <a:lumOff val="5000"/>
                      </a:schemeClr>
                    </a:solidFill>
                    <a:effectLst/>
                  </a:rPr>
                  <a:t> − </a:t>
                </a:r>
                <a:r>
                  <a:rPr lang="el-GR" sz="1600" i="0" baseline="0" dirty="0">
                    <a:solidFill>
                      <a:schemeClr val="tx1">
                        <a:lumMod val="95000"/>
                        <a:lumOff val="5000"/>
                      </a:schemeClr>
                    </a:solidFill>
                    <a:effectLst/>
                  </a:rPr>
                  <a:t>σ₀)(1 − </a:t>
                </a:r>
                <a14:m>
                  <m:oMath xmlns:m="http://schemas.openxmlformats.org/officeDocument/2006/math">
                    <m:sSup>
                      <m:sSupPr>
                        <m:ctrlPr>
                          <a:rPr lang="en-US" sz="1600" i="1" baseline="0">
                            <a:solidFill>
                              <a:schemeClr val="tx1">
                                <a:lumMod val="95000"/>
                                <a:lumOff val="5000"/>
                              </a:schemeClr>
                            </a:solidFill>
                            <a:effectLst/>
                            <a:latin typeface="Cambria Math" panose="02040503050406030204" pitchFamily="18" charset="0"/>
                          </a:rPr>
                        </m:ctrlPr>
                      </m:sSupPr>
                      <m:e>
                        <m:r>
                          <a:rPr lang="en-US" sz="1600" b="0" i="1" baseline="0" smtClean="0">
                            <a:solidFill>
                              <a:schemeClr val="tx1">
                                <a:lumMod val="95000"/>
                                <a:lumOff val="5000"/>
                              </a:schemeClr>
                            </a:solidFill>
                            <a:effectLst/>
                            <a:latin typeface="Cambria Math" panose="02040503050406030204" pitchFamily="18" charset="0"/>
                          </a:rPr>
                          <m:t>𝑒</m:t>
                        </m:r>
                      </m:e>
                      <m:sup>
                        <m:r>
                          <a:rPr lang="en-US" sz="1600" b="0" i="1" smtClean="0">
                            <a:solidFill>
                              <a:schemeClr val="tx1">
                                <a:lumMod val="95000"/>
                                <a:lumOff val="5000"/>
                              </a:schemeClr>
                            </a:solidFill>
                            <a:effectLst/>
                            <a:latin typeface="Cambria Math" panose="02040503050406030204" pitchFamily="18" charset="0"/>
                          </a:rPr>
                          <m:t>−</m:t>
                        </m:r>
                        <m:r>
                          <a:rPr lang="el-GR" sz="1600" b="0" i="1" smtClean="0">
                            <a:solidFill>
                              <a:schemeClr val="tx1">
                                <a:lumMod val="95000"/>
                                <a:lumOff val="5000"/>
                              </a:schemeClr>
                            </a:solidFill>
                            <a:effectLst/>
                            <a:latin typeface="Cambria Math" panose="02040503050406030204" pitchFamily="18" charset="0"/>
                          </a:rPr>
                          <m:t>𝛽</m:t>
                        </m:r>
                        <m:r>
                          <m:rPr>
                            <m:sty m:val="p"/>
                          </m:rPr>
                          <a:rPr lang="el-GR" sz="1600" b="0" i="0" baseline="0" smtClean="0">
                            <a:solidFill>
                              <a:schemeClr val="tx1">
                                <a:lumMod val="95000"/>
                                <a:lumOff val="5000"/>
                              </a:schemeClr>
                            </a:solidFill>
                            <a:effectLst/>
                            <a:latin typeface="Cambria Math" panose="02040503050406030204" pitchFamily="18" charset="0"/>
                          </a:rPr>
                          <m:t>ε</m:t>
                        </m:r>
                        <m:r>
                          <a:rPr lang="en-US" sz="1600" b="0" i="0" baseline="0" smtClean="0">
                            <a:solidFill>
                              <a:schemeClr val="tx1">
                                <a:lumMod val="95000"/>
                                <a:lumOff val="5000"/>
                              </a:schemeClr>
                            </a:solidFill>
                            <a:effectLst/>
                            <a:latin typeface="Cambria Math" panose="02040503050406030204" pitchFamily="18" charset="0"/>
                          </a:rPr>
                          <m:t>ⁿ</m:t>
                        </m:r>
                      </m:sup>
                    </m:sSup>
                    <m:r>
                      <a:rPr lang="el-GR" sz="1600" b="0" i="1" baseline="0" smtClean="0">
                        <a:solidFill>
                          <a:schemeClr val="tx1">
                            <a:lumMod val="95000"/>
                            <a:lumOff val="5000"/>
                          </a:schemeClr>
                        </a:solidFill>
                        <a:effectLst/>
                        <a:latin typeface="Cambria Math" panose="02040503050406030204" pitchFamily="18" charset="0"/>
                      </a:rPr>
                      <m:t>)</m:t>
                    </m:r>
                  </m:oMath>
                </a14:m>
                <a:endParaRPr lang="en-US" sz="1600" dirty="0">
                  <a:solidFill>
                    <a:schemeClr val="tx1">
                      <a:lumMod val="95000"/>
                      <a:lumOff val="5000"/>
                    </a:schemeClr>
                  </a:solidFill>
                </a:endParaRPr>
              </a:p>
              <a:p>
                <a:pPr algn="ctr"/>
                <a:endParaRPr lang="en-US" sz="1600" dirty="0">
                  <a:solidFill>
                    <a:schemeClr val="tx1">
                      <a:lumMod val="95000"/>
                      <a:lumOff val="5000"/>
                    </a:schemeClr>
                  </a:solidFill>
                </a:endParaRPr>
              </a:p>
            </p:txBody>
          </p:sp>
        </mc:Choice>
        <mc:Fallback xmlns="">
          <p:sp>
            <p:nvSpPr>
              <p:cNvPr id="2" name="Rectangle 1">
                <a:extLst>
                  <a:ext uri="{FF2B5EF4-FFF2-40B4-BE49-F238E27FC236}">
                    <a16:creationId xmlns:a16="http://schemas.microsoft.com/office/drawing/2014/main" id="{588338BE-6B0F-CF96-FE04-9A67C25EDB17}"/>
                  </a:ext>
                </a:extLst>
              </p:cNvPr>
              <p:cNvSpPr>
                <a:spLocks noRot="1" noChangeAspect="1" noMove="1" noResize="1" noEditPoints="1" noAdjustHandles="1" noChangeArrowheads="1" noChangeShapeType="1" noTextEdit="1"/>
              </p:cNvSpPr>
              <p:nvPr/>
            </p:nvSpPr>
            <p:spPr>
              <a:xfrm>
                <a:off x="442297" y="3840316"/>
                <a:ext cx="5653702" cy="2759268"/>
              </a:xfrm>
              <a:prstGeom prst="rect">
                <a:avLst/>
              </a:prstGeom>
              <a:blipFill>
                <a:blip r:embed="rId8"/>
                <a:stretch>
                  <a:fillRect l="-538"/>
                </a:stretch>
              </a:blipFill>
              <a:ln w="9525" cap="flat" cmpd="sng" algn="ctr">
                <a:solidFill>
                  <a:srgbClr val="000090"/>
                </a:solidFill>
                <a:prstDash val="solid"/>
                <a:round/>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4">
                <a:extLst>
                  <a:ext uri="{FF2B5EF4-FFF2-40B4-BE49-F238E27FC236}">
                    <a16:creationId xmlns:a16="http://schemas.microsoft.com/office/drawing/2014/main" id="{D70D3FE4-E871-1F5A-18F6-F35B24397B67}"/>
                  </a:ext>
                </a:extLst>
              </p:cNvPr>
              <p:cNvSpPr txBox="1">
                <a:spLocks/>
              </p:cNvSpPr>
              <p:nvPr/>
            </p:nvSpPr>
            <p:spPr>
              <a:xfrm>
                <a:off x="6636746" y="1723127"/>
                <a:ext cx="5011700" cy="2477727"/>
              </a:xfrm>
              <a:prstGeom prst="rect">
                <a:avLst/>
              </a:prstGeom>
              <a:noFill/>
              <a:ln w="9525" cap="flat" cmpd="sng" algn="ctr">
                <a:solidFill>
                  <a:srgbClr val="00009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r>
                  <a:rPr lang="en-US" sz="1600" b="1" dirty="0">
                    <a:solidFill>
                      <a:schemeClr val="tx1"/>
                    </a:solidFill>
                  </a:rPr>
                  <a:t>Cyclic Empirical Hardening Model</a:t>
                </a:r>
              </a:p>
              <a:p>
                <a:pPr marL="342900" indent="-342900"/>
                <a:r>
                  <a:rPr lang="en-US" sz="1600" dirty="0">
                    <a:solidFill>
                      <a:schemeClr val="tx1">
                        <a:lumMod val="95000"/>
                        <a:lumOff val="5000"/>
                      </a:schemeClr>
                    </a:solidFill>
                  </a:rPr>
                  <a:t>Capture strain hardening &amp; softening under cyclic loading</a:t>
                </a:r>
              </a:p>
              <a:p>
                <a:pPr>
                  <a:buFont typeface="Arial" panose="020B0604020202020204" pitchFamily="34" charset="0"/>
                  <a:buNone/>
                </a:pPr>
                <a:r>
                  <a:rPr lang="en-US" sz="1600" b="1" dirty="0">
                    <a:solidFill>
                      <a:schemeClr val="tx1">
                        <a:lumMod val="95000"/>
                        <a:lumOff val="5000"/>
                      </a:schemeClr>
                    </a:solidFill>
                  </a:rPr>
                  <a:t>Chaboche Model</a:t>
                </a:r>
                <a:r>
                  <a:rPr lang="en-US" sz="1600" dirty="0">
                    <a:solidFill>
                      <a:schemeClr val="tx1">
                        <a:lumMod val="95000"/>
                        <a:lumOff val="5000"/>
                      </a:schemeClr>
                    </a:solidFill>
                  </a:rPr>
                  <a:t>:</a:t>
                </a:r>
              </a:p>
              <a:p>
                <a:pPr marL="342900" indent="-342900"/>
                <a:r>
                  <a:rPr lang="en-US" sz="1600" dirty="0">
                    <a:solidFill>
                      <a:schemeClr val="tx1">
                        <a:lumMod val="95000"/>
                        <a:lumOff val="5000"/>
                      </a:schemeClr>
                    </a:solidFill>
                  </a:rPr>
                  <a:t>Backstress + isotropic hardening (nonlinear behavior)</a:t>
                </a:r>
              </a:p>
              <a:p>
                <a:pPr marL="342900" indent="-342900"/>
                <a:r>
                  <a:rPr lang="en-US" sz="1600" dirty="0">
                    <a:solidFill>
                      <a:schemeClr val="tx1">
                        <a:lumMod val="95000"/>
                        <a:lumOff val="5000"/>
                      </a:schemeClr>
                    </a:solidFill>
                  </a:rPr>
                  <a:t>Isotropic hardening evolution:</a:t>
                </a:r>
              </a:p>
              <a:p>
                <a:r>
                  <a:rPr lang="en-US" dirty="0">
                    <a:solidFill>
                      <a:schemeClr val="tx1">
                        <a:lumMod val="95000"/>
                        <a:lumOff val="5000"/>
                      </a:schemeClr>
                    </a:solidFill>
                  </a:rPr>
                  <a:t>	</a:t>
                </a:r>
                <a:r>
                  <a:rPr lang="en-US" sz="2400" dirty="0">
                    <a:solidFill>
                      <a:schemeClr val="tx1">
                        <a:lumMod val="95000"/>
                        <a:lumOff val="5000"/>
                      </a:schemeClr>
                    </a:solidFill>
                  </a:rPr>
                  <a:t> </a:t>
                </a:r>
                <a14:m>
                  <m:oMath xmlns:m="http://schemas.openxmlformats.org/officeDocument/2006/math">
                    <m:acc>
                      <m:accPr>
                        <m:chr m:val="̇"/>
                        <m:ctrlPr>
                          <a:rPr lang="en-US" sz="1700" i="1" smtClean="0">
                            <a:solidFill>
                              <a:schemeClr val="tx1">
                                <a:lumMod val="95000"/>
                                <a:lumOff val="5000"/>
                              </a:schemeClr>
                            </a:solidFill>
                            <a:latin typeface="Cambria Math" panose="02040503050406030204" pitchFamily="18" charset="0"/>
                          </a:rPr>
                        </m:ctrlPr>
                      </m:accPr>
                      <m:e>
                        <m:r>
                          <a:rPr lang="en-US" sz="1700" i="1">
                            <a:solidFill>
                              <a:schemeClr val="tx1">
                                <a:lumMod val="95000"/>
                                <a:lumOff val="5000"/>
                              </a:schemeClr>
                            </a:solidFill>
                            <a:latin typeface="Cambria Math" panose="02040503050406030204" pitchFamily="18" charset="0"/>
                          </a:rPr>
                          <m:t>𝑅</m:t>
                        </m:r>
                      </m:e>
                    </m:acc>
                    <m:r>
                      <a:rPr lang="en-US" sz="1700" i="1">
                        <a:solidFill>
                          <a:schemeClr val="tx1">
                            <a:lumMod val="95000"/>
                            <a:lumOff val="5000"/>
                          </a:schemeClr>
                        </a:solidFill>
                        <a:latin typeface="Cambria Math" panose="02040503050406030204" pitchFamily="18" charset="0"/>
                      </a:rPr>
                      <m:t>(</m:t>
                    </m:r>
                    <m:r>
                      <a:rPr lang="en-US" sz="1700" i="1">
                        <a:solidFill>
                          <a:schemeClr val="tx1">
                            <a:lumMod val="95000"/>
                            <a:lumOff val="5000"/>
                          </a:schemeClr>
                        </a:solidFill>
                        <a:latin typeface="Cambria Math" panose="02040503050406030204" pitchFamily="18" charset="0"/>
                      </a:rPr>
                      <m:t>𝑘</m:t>
                    </m:r>
                    <m:r>
                      <a:rPr lang="en-US" sz="1700" i="1">
                        <a:solidFill>
                          <a:schemeClr val="tx1">
                            <a:lumMod val="95000"/>
                            <a:lumOff val="5000"/>
                          </a:schemeClr>
                        </a:solidFill>
                        <a:latin typeface="Cambria Math" panose="02040503050406030204" pitchFamily="18" charset="0"/>
                      </a:rPr>
                      <m:t>)=</m:t>
                    </m:r>
                    <m:r>
                      <a:rPr lang="en-US" sz="1700" i="1">
                        <a:solidFill>
                          <a:schemeClr val="tx1">
                            <a:lumMod val="95000"/>
                            <a:lumOff val="5000"/>
                          </a:schemeClr>
                        </a:solidFill>
                        <a:latin typeface="Cambria Math" panose="02040503050406030204" pitchFamily="18" charset="0"/>
                      </a:rPr>
                      <m:t>𝑏</m:t>
                    </m:r>
                    <m:d>
                      <m:dPr>
                        <m:ctrlPr>
                          <a:rPr lang="en-US" sz="1700" i="1">
                            <a:solidFill>
                              <a:schemeClr val="tx1">
                                <a:lumMod val="95000"/>
                                <a:lumOff val="5000"/>
                              </a:schemeClr>
                            </a:solidFill>
                            <a:latin typeface="Cambria Math" panose="02040503050406030204" pitchFamily="18" charset="0"/>
                          </a:rPr>
                        </m:ctrlPr>
                      </m:dPr>
                      <m:e>
                        <m:r>
                          <a:rPr lang="en-US" sz="1700" i="1">
                            <a:solidFill>
                              <a:schemeClr val="tx1">
                                <a:lumMod val="95000"/>
                                <a:lumOff val="5000"/>
                              </a:schemeClr>
                            </a:solidFill>
                            <a:latin typeface="Cambria Math" panose="02040503050406030204" pitchFamily="18" charset="0"/>
                          </a:rPr>
                          <m:t>𝑄</m:t>
                        </m:r>
                        <m:r>
                          <a:rPr lang="en-US" sz="1700" i="1">
                            <a:solidFill>
                              <a:schemeClr val="tx1">
                                <a:lumMod val="95000"/>
                                <a:lumOff val="5000"/>
                              </a:schemeClr>
                            </a:solidFill>
                            <a:latin typeface="Cambria Math" panose="02040503050406030204" pitchFamily="18" charset="0"/>
                          </a:rPr>
                          <m:t>−</m:t>
                        </m:r>
                        <m:r>
                          <a:rPr lang="en-US" sz="1700" i="1">
                            <a:solidFill>
                              <a:schemeClr val="tx1">
                                <a:lumMod val="95000"/>
                                <a:lumOff val="5000"/>
                              </a:schemeClr>
                            </a:solidFill>
                            <a:latin typeface="Cambria Math" panose="02040503050406030204" pitchFamily="18" charset="0"/>
                          </a:rPr>
                          <m:t>𝑅</m:t>
                        </m:r>
                      </m:e>
                    </m:d>
                    <m:r>
                      <a:rPr lang="en-US" sz="1700" i="1">
                        <a:solidFill>
                          <a:schemeClr val="tx1">
                            <a:lumMod val="95000"/>
                            <a:lumOff val="5000"/>
                          </a:schemeClr>
                        </a:solidFill>
                        <a:latin typeface="Cambria Math" panose="02040503050406030204" pitchFamily="18" charset="0"/>
                      </a:rPr>
                      <m:t> </m:t>
                    </m:r>
                    <m:acc>
                      <m:accPr>
                        <m:chr m:val="̇"/>
                        <m:ctrlPr>
                          <a:rPr lang="en-US" sz="1700" i="1">
                            <a:solidFill>
                              <a:schemeClr val="tx1">
                                <a:lumMod val="95000"/>
                                <a:lumOff val="5000"/>
                              </a:schemeClr>
                            </a:solidFill>
                            <a:latin typeface="Cambria Math" panose="02040503050406030204" pitchFamily="18" charset="0"/>
                          </a:rPr>
                        </m:ctrlPr>
                      </m:accPr>
                      <m:e>
                        <m:sSup>
                          <m:sSupPr>
                            <m:ctrlPr>
                              <a:rPr lang="en-US" sz="1700" i="1">
                                <a:solidFill>
                                  <a:schemeClr val="tx1">
                                    <a:lumMod val="95000"/>
                                    <a:lumOff val="5000"/>
                                  </a:schemeClr>
                                </a:solidFill>
                                <a:latin typeface="Cambria Math" panose="02040503050406030204" pitchFamily="18" charset="0"/>
                              </a:rPr>
                            </m:ctrlPr>
                          </m:sSupPr>
                          <m:e>
                            <m:acc>
                              <m:accPr>
                                <m:chr m:val="̅"/>
                                <m:ctrlPr>
                                  <a:rPr lang="en-US" sz="1700" i="1">
                                    <a:solidFill>
                                      <a:schemeClr val="tx1">
                                        <a:lumMod val="95000"/>
                                        <a:lumOff val="5000"/>
                                      </a:schemeClr>
                                    </a:solidFill>
                                    <a:latin typeface="Cambria Math" panose="02040503050406030204" pitchFamily="18" charset="0"/>
                                  </a:rPr>
                                </m:ctrlPr>
                              </m:accPr>
                              <m:e>
                                <m:r>
                                  <m:rPr>
                                    <m:sty m:val="p"/>
                                  </m:rPr>
                                  <a:rPr lang="en-US" sz="1700">
                                    <a:solidFill>
                                      <a:schemeClr val="tx1">
                                        <a:lumMod val="95000"/>
                                        <a:lumOff val="5000"/>
                                      </a:schemeClr>
                                    </a:solidFill>
                                    <a:latin typeface="Cambria Math" panose="02040503050406030204" pitchFamily="18" charset="0"/>
                                  </a:rPr>
                                  <m:t>ε</m:t>
                                </m:r>
                              </m:e>
                            </m:acc>
                          </m:e>
                          <m:sup>
                            <m:r>
                              <a:rPr lang="en-US" sz="1700" i="1">
                                <a:solidFill>
                                  <a:schemeClr val="tx1">
                                    <a:lumMod val="95000"/>
                                    <a:lumOff val="5000"/>
                                  </a:schemeClr>
                                </a:solidFill>
                                <a:latin typeface="Cambria Math" panose="02040503050406030204" pitchFamily="18" charset="0"/>
                              </a:rPr>
                              <m:t>𝑝𝑙</m:t>
                            </m:r>
                          </m:sup>
                        </m:sSup>
                      </m:e>
                    </m:acc>
                  </m:oMath>
                </a14:m>
                <a:endParaRPr lang="en-US" sz="1700" dirty="0">
                  <a:solidFill>
                    <a:schemeClr val="tx1">
                      <a:lumMod val="95000"/>
                      <a:lumOff val="5000"/>
                    </a:schemeClr>
                  </a:solidFill>
                </a:endParaRPr>
              </a:p>
              <a:p>
                <a:endParaRPr lang="en-US" dirty="0">
                  <a:solidFill>
                    <a:schemeClr val="tx1">
                      <a:lumMod val="95000"/>
                      <a:lumOff val="5000"/>
                    </a:schemeClr>
                  </a:solidFill>
                </a:endParaRPr>
              </a:p>
            </p:txBody>
          </p:sp>
        </mc:Choice>
        <mc:Fallback xmlns="">
          <p:sp>
            <p:nvSpPr>
              <p:cNvPr id="3" name="Text Placeholder 4">
                <a:extLst>
                  <a:ext uri="{FF2B5EF4-FFF2-40B4-BE49-F238E27FC236}">
                    <a16:creationId xmlns:a16="http://schemas.microsoft.com/office/drawing/2014/main" id="{D70D3FE4-E871-1F5A-18F6-F35B24397B67}"/>
                  </a:ext>
                </a:extLst>
              </p:cNvPr>
              <p:cNvSpPr txBox="1">
                <a:spLocks noRot="1" noChangeAspect="1" noMove="1" noResize="1" noEditPoints="1" noAdjustHandles="1" noChangeArrowheads="1" noChangeShapeType="1" noTextEdit="1"/>
              </p:cNvSpPr>
              <p:nvPr/>
            </p:nvSpPr>
            <p:spPr>
              <a:xfrm>
                <a:off x="6636746" y="1723127"/>
                <a:ext cx="5011700" cy="2477727"/>
              </a:xfrm>
              <a:prstGeom prst="rect">
                <a:avLst/>
              </a:prstGeom>
              <a:blipFill>
                <a:blip r:embed="rId9"/>
                <a:stretch>
                  <a:fillRect l="-2063" t="-1471" b="-3186"/>
                </a:stretch>
              </a:blipFill>
              <a:ln w="9525" cap="flat" cmpd="sng" algn="ctr">
                <a:solidFill>
                  <a:srgbClr val="000090"/>
                </a:solidFill>
                <a:prstDash val="solid"/>
                <a:round/>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Placeholder 4">
                <a:extLst>
                  <a:ext uri="{FF2B5EF4-FFF2-40B4-BE49-F238E27FC236}">
                    <a16:creationId xmlns:a16="http://schemas.microsoft.com/office/drawing/2014/main" id="{546116C0-A7FD-B8A8-B96C-A27D1EF641DC}"/>
                  </a:ext>
                </a:extLst>
              </p:cNvPr>
              <p:cNvSpPr txBox="1">
                <a:spLocks/>
              </p:cNvSpPr>
              <p:nvPr/>
            </p:nvSpPr>
            <p:spPr>
              <a:xfrm>
                <a:off x="6636746" y="4292876"/>
                <a:ext cx="5011700" cy="2306708"/>
              </a:xfrm>
              <a:prstGeom prst="rect">
                <a:avLst/>
              </a:prstGeom>
              <a:noFill/>
              <a:ln w="9525" cap="flat" cmpd="sng" algn="ctr">
                <a:solidFill>
                  <a:srgbClr val="00009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600" b="1" dirty="0">
                    <a:solidFill>
                      <a:schemeClr val="tx1"/>
                    </a:solidFill>
                  </a:rPr>
                  <a:t>Kinematic</a:t>
                </a:r>
                <a:r>
                  <a:rPr lang="en-US" sz="1600" b="1" dirty="0">
                    <a:effectLst>
                      <a:outerShdw blurRad="38100" dist="38100" dir="2700000" algn="tl">
                        <a:srgbClr val="000000">
                          <a:alpha val="43137"/>
                        </a:srgbClr>
                      </a:outerShdw>
                    </a:effectLst>
                  </a:rPr>
                  <a:t> </a:t>
                </a:r>
                <a:r>
                  <a:rPr lang="en-US" sz="1600" b="1" dirty="0">
                    <a:solidFill>
                      <a:schemeClr val="tx1"/>
                    </a:solidFill>
                  </a:rPr>
                  <a:t>Hardening (Back stress Evolution)</a:t>
                </a:r>
              </a:p>
              <a:p>
                <a:endParaRPr lang="en-US" sz="1600" dirty="0">
                  <a:solidFill>
                    <a:schemeClr val="tx1"/>
                  </a:solidFill>
                </a:endParaRPr>
              </a:p>
              <a:p>
                <a:pPr marL="342900" indent="-342900">
                  <a:buFont typeface="Arial" panose="020B0604020202020204" pitchFamily="34" charset="0"/>
                  <a:buChar char="•"/>
                </a:pPr>
                <a:r>
                  <a:rPr lang="en-US" sz="1600" dirty="0">
                    <a:solidFill>
                      <a:schemeClr val="tx1">
                        <a:lumMod val="95000"/>
                        <a:lumOff val="5000"/>
                      </a:schemeClr>
                    </a:solidFill>
                  </a:rPr>
                  <a:t>Linear: Ziegler model</a:t>
                </a:r>
              </a:p>
              <a:p>
                <a:r>
                  <a:rPr lang="en-US" sz="1600" dirty="0">
                    <a:solidFill>
                      <a:schemeClr val="tx1">
                        <a:lumMod val="95000"/>
                        <a:lumOff val="5000"/>
                      </a:schemeClr>
                    </a:solidFill>
                  </a:rPr>
                  <a:t>	</a:t>
                </a:r>
                <a:r>
                  <a:rPr kumimoji="0" lang="en-US" sz="16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 </a:t>
                </a:r>
                <a14:m>
                  <m:oMath xmlns:m="http://schemas.openxmlformats.org/officeDocument/2006/math">
                    <m:acc>
                      <m:accPr>
                        <m:chr m:val="̇"/>
                        <m:ctrlPr>
                          <a:rPr kumimoji="0" lang="en-US" sz="16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rPr>
                        </m:ctrlPr>
                      </m:accPr>
                      <m:e>
                        <m: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t>𝛼</m:t>
                        </m:r>
                      </m:e>
                    </m:acc>
                    <m: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t>=</m:t>
                    </m:r>
                    <m: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t>𝐶</m:t>
                    </m:r>
                    <m: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t> </m:t>
                    </m:r>
                    <m:acc>
                      <m:accPr>
                        <m:chr m:val="̇"/>
                        <m:ctrlP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ctrlPr>
                      </m:accPr>
                      <m:e>
                        <m:sSup>
                          <m:sSupPr>
                            <m:ctrlP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ctrlPr>
                          </m:sSupPr>
                          <m:e>
                            <m: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t>𝜀</m:t>
                            </m:r>
                          </m:e>
                          <m:sup>
                            <m:r>
                              <a:rPr kumimoji="0" lang="en-US" sz="16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rPr>
                              <m:t>𝑝𝑙</m:t>
                            </m:r>
                          </m:sup>
                        </m:sSup>
                      </m:e>
                    </m:acc>
                  </m:oMath>
                </a14:m>
                <a:r>
                  <a:rPr lang="en-US" sz="1600" i="1" dirty="0">
                    <a:solidFill>
                      <a:schemeClr val="tx1">
                        <a:lumMod val="95000"/>
                        <a:lumOff val="5000"/>
                      </a:schemeClr>
                    </a:solidFill>
                  </a:rPr>
                  <a:t> </a:t>
                </a:r>
              </a:p>
              <a:p>
                <a:pPr marL="342900" indent="-342900">
                  <a:buFont typeface="Arial" panose="020B0604020202020204" pitchFamily="34" charset="0"/>
                  <a:buChar char="•"/>
                </a:pPr>
                <a:r>
                  <a:rPr lang="en-US" sz="1600" dirty="0">
                    <a:solidFill>
                      <a:schemeClr val="tx1">
                        <a:lumMod val="95000"/>
                        <a:lumOff val="5000"/>
                      </a:schemeClr>
                    </a:solidFill>
                  </a:rPr>
                  <a:t>Nonlinear: Armstrong–Frederick</a:t>
                </a:r>
              </a:p>
              <a:p>
                <a:r>
                  <a:rPr lang="en-US" sz="1600" dirty="0">
                    <a:solidFill>
                      <a:schemeClr val="tx1">
                        <a:lumMod val="95000"/>
                        <a:lumOff val="5000"/>
                      </a:schemeClr>
                    </a:solidFill>
                  </a:rPr>
                  <a:t>	</a:t>
                </a:r>
                <a:r>
                  <a:rPr lang="en-US" sz="1600" dirty="0">
                    <a:solidFill>
                      <a:prstClr val="black"/>
                    </a:solidFill>
                  </a:rPr>
                  <a:t> </a:t>
                </a:r>
                <a14:m>
                  <m:oMath xmlns:m="http://schemas.openxmlformats.org/officeDocument/2006/math">
                    <m:acc>
                      <m:accPr>
                        <m:chr m:val="̇"/>
                        <m:ctrlPr>
                          <a:rPr lang="en-US" sz="1600" i="1">
                            <a:solidFill>
                              <a:prstClr val="black"/>
                            </a:solidFill>
                            <a:latin typeface="Cambria Math" panose="02040503050406030204" pitchFamily="18" charset="0"/>
                          </a:rPr>
                        </m:ctrlPr>
                      </m:accPr>
                      <m:e>
                        <m:r>
                          <m:rPr>
                            <m:sty m:val="p"/>
                          </m:rPr>
                          <a:rPr lang="en-US" sz="1600">
                            <a:solidFill>
                              <a:prstClr val="black"/>
                            </a:solidFill>
                            <a:latin typeface="Cambria Math" panose="02040503050406030204" pitchFamily="18" charset="0"/>
                          </a:rPr>
                          <m:t>α</m:t>
                        </m:r>
                      </m:e>
                    </m:acc>
                    <m:r>
                      <a:rPr lang="en-US" sz="1600" i="1">
                        <a:solidFill>
                          <a:prstClr val="black"/>
                        </a:solidFill>
                        <a:latin typeface="Cambria Math" panose="02040503050406030204" pitchFamily="18" charset="0"/>
                      </a:rPr>
                      <m:t>=</m:t>
                    </m:r>
                    <m:r>
                      <a:rPr lang="en-US" sz="1600" i="1">
                        <a:solidFill>
                          <a:prstClr val="black"/>
                        </a:solidFill>
                        <a:latin typeface="Cambria Math" panose="02040503050406030204" pitchFamily="18" charset="0"/>
                      </a:rPr>
                      <m:t>𝐶</m:t>
                    </m:r>
                    <m:r>
                      <a:rPr lang="en-US" sz="1600" i="1">
                        <a:solidFill>
                          <a:prstClr val="black"/>
                        </a:solidFill>
                        <a:latin typeface="Cambria Math" panose="02040503050406030204" pitchFamily="18" charset="0"/>
                      </a:rPr>
                      <m:t> </m:t>
                    </m:r>
                    <m:acc>
                      <m:accPr>
                        <m:chr m:val="̇"/>
                        <m:ctrlPr>
                          <a:rPr lang="en-US" sz="1600" i="1">
                            <a:solidFill>
                              <a:prstClr val="black"/>
                            </a:solidFill>
                            <a:latin typeface="Cambria Math" panose="02040503050406030204" pitchFamily="18" charset="0"/>
                          </a:rPr>
                        </m:ctrlPr>
                      </m:accPr>
                      <m:e>
                        <m:sSup>
                          <m:sSupPr>
                            <m:ctrlPr>
                              <a:rPr lang="en-US" sz="1600" i="1">
                                <a:solidFill>
                                  <a:prstClr val="black"/>
                                </a:solidFill>
                                <a:latin typeface="Cambria Math" panose="02040503050406030204" pitchFamily="18" charset="0"/>
                              </a:rPr>
                            </m:ctrlPr>
                          </m:sSupPr>
                          <m:e>
                            <m:r>
                              <m:rPr>
                                <m:sty m:val="p"/>
                              </m:rPr>
                              <a:rPr lang="en-US" sz="1600">
                                <a:solidFill>
                                  <a:prstClr val="black"/>
                                </a:solidFill>
                                <a:latin typeface="Cambria Math" panose="02040503050406030204" pitchFamily="18" charset="0"/>
                              </a:rPr>
                              <m:t>ε</m:t>
                            </m:r>
                          </m:e>
                          <m:sup>
                            <m:r>
                              <a:rPr lang="en-US" sz="1600" i="1">
                                <a:solidFill>
                                  <a:prstClr val="black"/>
                                </a:solidFill>
                                <a:latin typeface="Cambria Math" panose="02040503050406030204" pitchFamily="18" charset="0"/>
                              </a:rPr>
                              <m:t>𝑝𝑙</m:t>
                            </m:r>
                          </m:sup>
                        </m:sSup>
                      </m:e>
                    </m:acc>
                    <m:r>
                      <a:rPr lang="en-US" sz="1600" i="1">
                        <a:solidFill>
                          <a:prstClr val="black"/>
                        </a:solidFill>
                        <a:latin typeface="Cambria Math" panose="02040503050406030204" pitchFamily="18" charset="0"/>
                      </a:rPr>
                      <m:t>−</m:t>
                    </m:r>
                    <m:r>
                      <m:rPr>
                        <m:sty m:val="p"/>
                      </m:rPr>
                      <a:rPr lang="en-US" sz="1600">
                        <a:solidFill>
                          <a:prstClr val="black"/>
                        </a:solidFill>
                        <a:latin typeface="Cambria Math" panose="02040503050406030204" pitchFamily="18" charset="0"/>
                      </a:rPr>
                      <m:t>γ</m:t>
                    </m:r>
                    <m:r>
                      <a:rPr lang="en-US" sz="1600" i="1">
                        <a:solidFill>
                          <a:prstClr val="black"/>
                        </a:solidFill>
                        <a:latin typeface="Cambria Math" panose="02040503050406030204" pitchFamily="18" charset="0"/>
                      </a:rPr>
                      <m:t> </m:t>
                    </m:r>
                    <m:r>
                      <m:rPr>
                        <m:sty m:val="p"/>
                      </m:rPr>
                      <a:rPr lang="en-US" sz="1600">
                        <a:solidFill>
                          <a:prstClr val="black"/>
                        </a:solidFill>
                        <a:latin typeface="Cambria Math" panose="02040503050406030204" pitchFamily="18" charset="0"/>
                      </a:rPr>
                      <m:t>α</m:t>
                    </m:r>
                    <m:r>
                      <a:rPr lang="en-US" sz="1600" i="1">
                        <a:solidFill>
                          <a:prstClr val="black"/>
                        </a:solidFill>
                        <a:latin typeface="Cambria Math" panose="02040503050406030204" pitchFamily="18" charset="0"/>
                      </a:rPr>
                      <m:t> </m:t>
                    </m:r>
                    <m:acc>
                      <m:accPr>
                        <m:chr m:val="̇"/>
                        <m:ctrlPr>
                          <a:rPr lang="en-US" sz="1600" i="1">
                            <a:solidFill>
                              <a:prstClr val="black"/>
                            </a:solidFill>
                            <a:latin typeface="Cambria Math" panose="02040503050406030204" pitchFamily="18" charset="0"/>
                          </a:rPr>
                        </m:ctrlPr>
                      </m:accPr>
                      <m:e>
                        <m:sSup>
                          <m:sSupPr>
                            <m:ctrlPr>
                              <a:rPr lang="en-US" sz="1600" i="1">
                                <a:solidFill>
                                  <a:prstClr val="black"/>
                                </a:solidFill>
                                <a:latin typeface="Cambria Math" panose="02040503050406030204" pitchFamily="18" charset="0"/>
                              </a:rPr>
                            </m:ctrlPr>
                          </m:sSupPr>
                          <m:e>
                            <m:acc>
                              <m:accPr>
                                <m:chr m:val="̅"/>
                                <m:ctrlPr>
                                  <a:rPr lang="en-US" sz="1600" i="1">
                                    <a:solidFill>
                                      <a:prstClr val="black"/>
                                    </a:solidFill>
                                    <a:latin typeface="Cambria Math" panose="02040503050406030204" pitchFamily="18" charset="0"/>
                                  </a:rPr>
                                </m:ctrlPr>
                              </m:accPr>
                              <m:e>
                                <m:r>
                                  <m:rPr>
                                    <m:sty m:val="p"/>
                                  </m:rPr>
                                  <a:rPr lang="en-US" sz="1600">
                                    <a:solidFill>
                                      <a:prstClr val="black"/>
                                    </a:solidFill>
                                    <a:latin typeface="Cambria Math" panose="02040503050406030204" pitchFamily="18" charset="0"/>
                                  </a:rPr>
                                  <m:t>ε</m:t>
                                </m:r>
                              </m:e>
                            </m:acc>
                          </m:e>
                          <m:sup>
                            <m:r>
                              <a:rPr lang="en-US" sz="1600" i="1">
                                <a:solidFill>
                                  <a:prstClr val="black"/>
                                </a:solidFill>
                                <a:latin typeface="Cambria Math" panose="02040503050406030204" pitchFamily="18" charset="0"/>
                              </a:rPr>
                              <m:t>𝑝𝑙</m:t>
                            </m:r>
                          </m:sup>
                        </m:sSup>
                      </m:e>
                    </m:acc>
                  </m:oMath>
                </a14:m>
                <a:endParaRPr lang="en-US" sz="1600" dirty="0">
                  <a:solidFill>
                    <a:schemeClr val="tx1">
                      <a:lumMod val="95000"/>
                      <a:lumOff val="5000"/>
                    </a:schemeClr>
                  </a:solidFill>
                </a:endParaRPr>
              </a:p>
              <a:p>
                <a:endParaRPr lang="en-US" sz="1600" dirty="0">
                  <a:solidFill>
                    <a:schemeClr val="tx1">
                      <a:lumMod val="95000"/>
                      <a:lumOff val="5000"/>
                    </a:schemeClr>
                  </a:solidFill>
                </a:endParaRPr>
              </a:p>
            </p:txBody>
          </p:sp>
        </mc:Choice>
        <mc:Fallback xmlns="">
          <p:sp>
            <p:nvSpPr>
              <p:cNvPr id="10" name="Text Placeholder 4">
                <a:extLst>
                  <a:ext uri="{FF2B5EF4-FFF2-40B4-BE49-F238E27FC236}">
                    <a16:creationId xmlns:a16="http://schemas.microsoft.com/office/drawing/2014/main" id="{546116C0-A7FD-B8A8-B96C-A27D1EF641DC}"/>
                  </a:ext>
                </a:extLst>
              </p:cNvPr>
              <p:cNvSpPr txBox="1">
                <a:spLocks noRot="1" noChangeAspect="1" noMove="1" noResize="1" noEditPoints="1" noAdjustHandles="1" noChangeArrowheads="1" noChangeShapeType="1" noTextEdit="1"/>
              </p:cNvSpPr>
              <p:nvPr/>
            </p:nvSpPr>
            <p:spPr>
              <a:xfrm>
                <a:off x="6636746" y="4292876"/>
                <a:ext cx="5011700" cy="2306708"/>
              </a:xfrm>
              <a:prstGeom prst="rect">
                <a:avLst/>
              </a:prstGeom>
              <a:blipFill>
                <a:blip r:embed="rId10"/>
                <a:stretch>
                  <a:fillRect l="-607" t="-1575"/>
                </a:stretch>
              </a:blipFill>
              <a:ln w="9525" cap="flat" cmpd="sng" algn="ctr">
                <a:solidFill>
                  <a:srgbClr val="000090"/>
                </a:solidFill>
                <a:prstDash val="solid"/>
                <a:round/>
                <a:headEnd type="none" w="med" len="med"/>
                <a:tailEnd type="none" w="med" len="med"/>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4408F25B-EC36-B2B9-7F09-CBC6BAABF62C}"/>
              </a:ext>
            </a:extLst>
          </p:cNvPr>
          <p:cNvCxnSpPr>
            <a:cxnSpLocks/>
          </p:cNvCxnSpPr>
          <p:nvPr/>
        </p:nvCxnSpPr>
        <p:spPr>
          <a:xfrm>
            <a:off x="442297" y="3798751"/>
            <a:ext cx="592760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FF016DD-2318-5D10-B62C-E3D3B156F948}"/>
              </a:ext>
            </a:extLst>
          </p:cNvPr>
          <p:cNvCxnSpPr>
            <a:cxnSpLocks/>
          </p:cNvCxnSpPr>
          <p:nvPr/>
        </p:nvCxnSpPr>
        <p:spPr>
          <a:xfrm>
            <a:off x="6369900" y="4244425"/>
            <a:ext cx="52785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C12FAE5-5D1A-3244-D7D9-F288B39C5CC6}"/>
              </a:ext>
            </a:extLst>
          </p:cNvPr>
          <p:cNvCxnSpPr>
            <a:cxnSpLocks/>
          </p:cNvCxnSpPr>
          <p:nvPr/>
        </p:nvCxnSpPr>
        <p:spPr>
          <a:xfrm>
            <a:off x="6373661" y="1603859"/>
            <a:ext cx="0" cy="5114993"/>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0305444-11B4-B146-9D24-794B435FE01A}"/>
              </a:ext>
            </a:extLst>
          </p:cNvPr>
          <p:cNvCxnSpPr/>
          <p:nvPr/>
        </p:nvCxnSpPr>
        <p:spPr>
          <a:xfrm>
            <a:off x="5416826" y="6718852"/>
            <a:ext cx="1987826"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ight Triangle 29">
            <a:extLst>
              <a:ext uri="{FF2B5EF4-FFF2-40B4-BE49-F238E27FC236}">
                <a16:creationId xmlns:a16="http://schemas.microsoft.com/office/drawing/2014/main" id="{95D5E056-4848-3D3C-A466-913000D88518}"/>
              </a:ext>
            </a:extLst>
          </p:cNvPr>
          <p:cNvSpPr/>
          <p:nvPr/>
        </p:nvSpPr>
        <p:spPr>
          <a:xfrm>
            <a:off x="6373661" y="6599584"/>
            <a:ext cx="100220" cy="119264"/>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Triangle 30">
            <a:extLst>
              <a:ext uri="{FF2B5EF4-FFF2-40B4-BE49-F238E27FC236}">
                <a16:creationId xmlns:a16="http://schemas.microsoft.com/office/drawing/2014/main" id="{478E6198-3811-8AEB-D51E-634FE6143961}"/>
              </a:ext>
            </a:extLst>
          </p:cNvPr>
          <p:cNvSpPr/>
          <p:nvPr/>
        </p:nvSpPr>
        <p:spPr>
          <a:xfrm flipH="1">
            <a:off x="6269680" y="6606453"/>
            <a:ext cx="100220" cy="112397"/>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A0E475F-CB3D-2189-BD57-C28C6A581481}"/>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2</a:t>
            </a:r>
          </a:p>
        </p:txBody>
      </p:sp>
      <p:sp>
        <p:nvSpPr>
          <p:cNvPr id="5" name="TextBox 4">
            <a:extLst>
              <a:ext uri="{FF2B5EF4-FFF2-40B4-BE49-F238E27FC236}">
                <a16:creationId xmlns:a16="http://schemas.microsoft.com/office/drawing/2014/main" id="{6B7ED57E-64DF-DA01-184D-C8BF6314ACED}"/>
              </a:ext>
            </a:extLst>
          </p:cNvPr>
          <p:cNvSpPr txBox="1"/>
          <p:nvPr/>
        </p:nvSpPr>
        <p:spPr>
          <a:xfrm>
            <a:off x="11132101" y="547918"/>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410137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11E7A-8C17-FDAE-4853-989C639CF1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3FDC49-BA94-8E9D-6E73-27899C09D88A}"/>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Introduction</a:t>
            </a:r>
          </a:p>
        </p:txBody>
      </p:sp>
      <p:graphicFrame>
        <p:nvGraphicFramePr>
          <p:cNvPr id="12" name="Diagram 11">
            <a:extLst>
              <a:ext uri="{FF2B5EF4-FFF2-40B4-BE49-F238E27FC236}">
                <a16:creationId xmlns:a16="http://schemas.microsoft.com/office/drawing/2014/main" id="{EC846F89-A784-9FB2-5ED5-2165A46C387E}"/>
              </a:ext>
            </a:extLst>
          </p:cNvPr>
          <p:cNvGraphicFramePr/>
          <p:nvPr>
            <p:extLst>
              <p:ext uri="{D42A27DB-BD31-4B8C-83A1-F6EECF244321}">
                <p14:modId xmlns:p14="http://schemas.microsoft.com/office/powerpoint/2010/main" val="2726581759"/>
              </p:ext>
            </p:extLst>
          </p:nvPr>
        </p:nvGraphicFramePr>
        <p:xfrm>
          <a:off x="674163" y="1081650"/>
          <a:ext cx="10843674" cy="1051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a:extLst>
              <a:ext uri="{FF2B5EF4-FFF2-40B4-BE49-F238E27FC236}">
                <a16:creationId xmlns:a16="http://schemas.microsoft.com/office/drawing/2014/main" id="{4936A2DF-5810-9E37-B2A5-1856A90D73B7}"/>
              </a:ext>
            </a:extLst>
          </p:cNvPr>
          <p:cNvSpPr/>
          <p:nvPr/>
        </p:nvSpPr>
        <p:spPr>
          <a:xfrm>
            <a:off x="674163" y="2133624"/>
            <a:ext cx="10843674" cy="4194747"/>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marL="285750" indent="-285750">
              <a:lnSpc>
                <a:spcPct val="150000"/>
              </a:lnSpc>
              <a:buFont typeface="Arial" panose="020B0604020202020204" pitchFamily="34" charset="0"/>
              <a:buChar char="•"/>
            </a:pPr>
            <a:r>
              <a:rPr lang="en-US" sz="1600" dirty="0"/>
              <a:t>Constitutive models comprises of different parameters e.g. saturation control rate </a:t>
            </a:r>
            <a:r>
              <a:rPr lang="en-US" sz="1600" b="1" dirty="0"/>
              <a:t>b</a:t>
            </a:r>
            <a:r>
              <a:rPr lang="en-US" sz="1600" dirty="0"/>
              <a:t>, Hollomon strength coefficient </a:t>
            </a:r>
            <a:r>
              <a:rPr lang="en-US" sz="1600" b="1" dirty="0"/>
              <a:t>K</a:t>
            </a:r>
            <a:r>
              <a:rPr lang="en-US" sz="1600" dirty="0"/>
              <a:t>, Swift strain hardening exponent </a:t>
            </a:r>
            <a:r>
              <a:rPr lang="en-US" sz="1600" b="1" dirty="0"/>
              <a:t>n</a:t>
            </a:r>
            <a:r>
              <a:rPr lang="en-US" sz="1600" dirty="0"/>
              <a:t>.</a:t>
            </a:r>
          </a:p>
          <a:p>
            <a:pPr marL="285750" indent="-285750">
              <a:lnSpc>
                <a:spcPct val="150000"/>
              </a:lnSpc>
              <a:buFont typeface="Arial" panose="020B0604020202020204" pitchFamily="34" charset="0"/>
              <a:buChar char="•"/>
            </a:pPr>
            <a:r>
              <a:rPr lang="en-US" sz="1600" dirty="0"/>
              <a:t>These parameters could be identified from experimental data using optimization algorithms, which mostly involve establishing an objective function. </a:t>
            </a:r>
          </a:p>
          <a:p>
            <a:pPr marL="285750" indent="-285750">
              <a:lnSpc>
                <a:spcPct val="150000"/>
              </a:lnSpc>
              <a:buFont typeface="Arial" panose="020B0604020202020204" pitchFamily="34" charset="0"/>
              <a:buChar char="•"/>
            </a:pPr>
            <a:endParaRPr lang="en-US" sz="1600" dirty="0"/>
          </a:p>
          <a:p>
            <a:pPr>
              <a:lnSpc>
                <a:spcPct val="150000"/>
              </a:lnSpc>
            </a:pPr>
            <a:r>
              <a:rPr lang="en-US" sz="1600" dirty="0"/>
              <a:t>Examples are:</a:t>
            </a:r>
          </a:p>
          <a:p>
            <a:pPr marL="285750" indent="-285750">
              <a:lnSpc>
                <a:spcPct val="150000"/>
              </a:lnSpc>
              <a:buFont typeface="Arial" panose="020B0604020202020204" pitchFamily="34" charset="0"/>
              <a:buChar char="•"/>
            </a:pPr>
            <a:r>
              <a:rPr lang="de-DE" sz="1600" b="1" i="1" dirty="0"/>
              <a:t>Least squares method (LSM)</a:t>
            </a:r>
            <a:endParaRPr lang="en-US" sz="1600" b="1" i="1" dirty="0"/>
          </a:p>
          <a:p>
            <a:pPr marL="285750" indent="-285750">
              <a:lnSpc>
                <a:spcPct val="150000"/>
              </a:lnSpc>
              <a:buFont typeface="Arial" panose="020B0604020202020204" pitchFamily="34" charset="0"/>
              <a:buChar char="•"/>
            </a:pPr>
            <a:r>
              <a:rPr lang="en-US" sz="1600" b="1" i="1" dirty="0"/>
              <a:t>Interior-Point Method – </a:t>
            </a:r>
            <a:r>
              <a:rPr lang="en-US" sz="1600" i="1" dirty="0"/>
              <a:t>(Barrier Method)</a:t>
            </a:r>
          </a:p>
          <a:p>
            <a:pPr marL="285750" indent="-285750">
              <a:lnSpc>
                <a:spcPct val="150000"/>
              </a:lnSpc>
              <a:buFont typeface="Arial" panose="020B0604020202020204" pitchFamily="34" charset="0"/>
              <a:buChar char="•"/>
            </a:pPr>
            <a:r>
              <a:rPr lang="en-US" sz="1600" i="1" dirty="0"/>
              <a:t>Particle Swarm Model</a:t>
            </a:r>
          </a:p>
          <a:p>
            <a:pPr>
              <a:lnSpc>
                <a:spcPct val="150000"/>
              </a:lnSpc>
            </a:pPr>
            <a:endParaRPr lang="en-US" sz="1600" dirty="0"/>
          </a:p>
          <a:p>
            <a:pPr>
              <a:lnSpc>
                <a:spcPct val="150000"/>
              </a:lnSpc>
            </a:pPr>
            <a:r>
              <a:rPr lang="en-US" sz="1600" dirty="0"/>
              <a:t>These models are easily realized in languages like MATLAB e.g., LSM as polyfit </a:t>
            </a:r>
            <a:r>
              <a:rPr lang="en-US" sz="1600" dirty="0">
                <a:solidFill>
                  <a:schemeClr val="tx1">
                    <a:lumMod val="95000"/>
                    <a:lumOff val="5000"/>
                  </a:schemeClr>
                </a:solidFill>
              </a:rPr>
              <a:t>- </a:t>
            </a:r>
            <a:r>
              <a:rPr lang="en-US" sz="1600" dirty="0">
                <a:solidFill>
                  <a:schemeClr val="tx1">
                    <a:lumMod val="95000"/>
                    <a:lumOff val="5000"/>
                  </a:schemeClr>
                </a:solidFill>
                <a:latin typeface="Monospac821 BT" panose="020B0609020202020204" pitchFamily="49" charset="0"/>
              </a:rPr>
              <a:t>polyfit(x, y, n)</a:t>
            </a:r>
          </a:p>
          <a:p>
            <a:pPr marL="285750" indent="-285750">
              <a:buFont typeface="Arial" panose="020B0604020202020204" pitchFamily="34" charset="0"/>
              <a:buChar char="•"/>
            </a:pPr>
            <a:endParaRPr lang="en-US" sz="1600" dirty="0"/>
          </a:p>
        </p:txBody>
      </p:sp>
      <p:pic>
        <p:nvPicPr>
          <p:cNvPr id="16" name="Picture 15">
            <a:extLst>
              <a:ext uri="{FF2B5EF4-FFF2-40B4-BE49-F238E27FC236}">
                <a16:creationId xmlns:a16="http://schemas.microsoft.com/office/drawing/2014/main" id="{AC899769-4978-51AD-B146-58C0D5487C23}"/>
              </a:ext>
            </a:extLst>
          </p:cNvPr>
          <p:cNvPicPr>
            <a:picLocks noChangeAspect="1"/>
          </p:cNvPicPr>
          <p:nvPr/>
        </p:nvPicPr>
        <p:blipFill>
          <a:blip r:embed="rId7">
            <a:alphaModFix amt="20000"/>
            <a:extLst>
              <a:ext uri="{BEBA8EAE-BF5A-486C-A8C5-ECC9F3942E4B}">
                <a14:imgProps xmlns:a14="http://schemas.microsoft.com/office/drawing/2010/main">
                  <a14:imgLayer r:embed="rId8">
                    <a14:imgEffect>
                      <a14:saturation sat="66000"/>
                    </a14:imgEffect>
                  </a14:imgLayer>
                </a14:imgProps>
              </a:ext>
            </a:extLst>
          </a:blip>
          <a:stretch>
            <a:fillRect/>
          </a:stretch>
        </p:blipFill>
        <p:spPr>
          <a:xfrm>
            <a:off x="7645763" y="2133624"/>
            <a:ext cx="3872074" cy="4194747"/>
          </a:xfrm>
          <a:prstGeom prst="rect">
            <a:avLst/>
          </a:prstGeom>
        </p:spPr>
      </p:pic>
      <p:sp>
        <p:nvSpPr>
          <p:cNvPr id="2" name="Rectangle 1">
            <a:extLst>
              <a:ext uri="{FF2B5EF4-FFF2-40B4-BE49-F238E27FC236}">
                <a16:creationId xmlns:a16="http://schemas.microsoft.com/office/drawing/2014/main" id="{67B110C7-F6A2-9AC5-EA30-B14F0C65C694}"/>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3</a:t>
            </a:r>
          </a:p>
        </p:txBody>
      </p:sp>
      <p:sp>
        <p:nvSpPr>
          <p:cNvPr id="3" name="TextBox 2">
            <a:extLst>
              <a:ext uri="{FF2B5EF4-FFF2-40B4-BE49-F238E27FC236}">
                <a16:creationId xmlns:a16="http://schemas.microsoft.com/office/drawing/2014/main" id="{9DDEBAC2-061E-E448-F927-0FF22D4BC1F3}"/>
              </a:ext>
            </a:extLst>
          </p:cNvPr>
          <p:cNvSpPr txBox="1"/>
          <p:nvPr/>
        </p:nvSpPr>
        <p:spPr>
          <a:xfrm>
            <a:off x="10730800" y="529629"/>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4205017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BCC80-5125-E740-FCEA-B9A799F5D04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9F2FB5-9BE6-CCBB-16B5-7BEADE84BFFA}"/>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Objectives</a:t>
            </a:r>
          </a:p>
        </p:txBody>
      </p:sp>
      <p:graphicFrame>
        <p:nvGraphicFramePr>
          <p:cNvPr id="5" name="Diagram 4">
            <a:extLst>
              <a:ext uri="{FF2B5EF4-FFF2-40B4-BE49-F238E27FC236}">
                <a16:creationId xmlns:a16="http://schemas.microsoft.com/office/drawing/2014/main" id="{CCFCBB19-B55E-4067-44F8-B496F5BD6AB5}"/>
              </a:ext>
            </a:extLst>
          </p:cNvPr>
          <p:cNvGraphicFramePr/>
          <p:nvPr>
            <p:extLst>
              <p:ext uri="{D42A27DB-BD31-4B8C-83A1-F6EECF244321}">
                <p14:modId xmlns:p14="http://schemas.microsoft.com/office/powerpoint/2010/main" val="538654262"/>
              </p:ext>
            </p:extLst>
          </p:nvPr>
        </p:nvGraphicFramePr>
        <p:xfrm>
          <a:off x="584154" y="1167897"/>
          <a:ext cx="11023692" cy="5223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a:extLst>
              <a:ext uri="{FF2B5EF4-FFF2-40B4-BE49-F238E27FC236}">
                <a16:creationId xmlns:a16="http://schemas.microsoft.com/office/drawing/2014/main" id="{BF5AE58D-6EFB-D7C6-B606-71AA25964E4C}"/>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4</a:t>
            </a:r>
          </a:p>
        </p:txBody>
      </p:sp>
      <p:sp>
        <p:nvSpPr>
          <p:cNvPr id="3" name="TextBox 2">
            <a:extLst>
              <a:ext uri="{FF2B5EF4-FFF2-40B4-BE49-F238E27FC236}">
                <a16:creationId xmlns:a16="http://schemas.microsoft.com/office/drawing/2014/main" id="{5028BC26-CE99-7B51-CB17-05465E66C368}"/>
              </a:ext>
            </a:extLst>
          </p:cNvPr>
          <p:cNvSpPr txBox="1"/>
          <p:nvPr/>
        </p:nvSpPr>
        <p:spPr>
          <a:xfrm>
            <a:off x="10713720" y="528061"/>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827234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A4FA7-FD5C-07C0-20AA-5016654AAA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FD57FE-2A96-4264-AC7F-20E94B5EDA56}"/>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Literature Review</a:t>
            </a:r>
          </a:p>
        </p:txBody>
      </p:sp>
      <p:sp>
        <p:nvSpPr>
          <p:cNvPr id="2" name="Rectangle 4">
            <a:extLst>
              <a:ext uri="{FF2B5EF4-FFF2-40B4-BE49-F238E27FC236}">
                <a16:creationId xmlns:a16="http://schemas.microsoft.com/office/drawing/2014/main" id="{B86BD42F-E1B6-F740-103B-CFFC663E601C}"/>
              </a:ext>
            </a:extLst>
          </p:cNvPr>
          <p:cNvSpPr>
            <a:spLocks noChangeArrowheads="1"/>
          </p:cNvSpPr>
          <p:nvPr/>
        </p:nvSpPr>
        <p:spPr bwMode="auto">
          <a:xfrm>
            <a:off x="171448" y="4551979"/>
            <a:ext cx="114681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sz="1600" dirty="0"/>
              <a:t>A</a:t>
            </a:r>
            <a:r>
              <a:rPr kumimoji="0" lang="en-US" altLang="en-US" sz="1600" b="0" i="0" u="none" strike="noStrike" cap="none" normalizeH="0" baseline="0" dirty="0">
                <a:ln>
                  <a:noFill/>
                </a:ln>
                <a:solidFill>
                  <a:schemeClr val="tx1"/>
                </a:solidFill>
                <a:effectLst/>
              </a:rPr>
              <a:t>ntus </a:t>
            </a:r>
            <a:r>
              <a:rPr kumimoji="0" lang="en-US" altLang="en-US" sz="1600" b="0" i="1" u="none" strike="noStrike" cap="none" normalizeH="0" baseline="0" dirty="0">
                <a:ln>
                  <a:noFill/>
                </a:ln>
                <a:solidFill>
                  <a:schemeClr val="tx1"/>
                </a:solidFill>
                <a:effectLst/>
              </a:rPr>
              <a:t>et al</a:t>
            </a:r>
            <a:r>
              <a:rPr kumimoji="0" lang="en-US" altLang="en-US" sz="1600" b="0" i="0" u="none" strike="noStrike" cap="none" normalizeH="0" baseline="0" dirty="0">
                <a:ln>
                  <a:noFill/>
                </a:ln>
                <a:solidFill>
                  <a:schemeClr val="tx1"/>
                </a:solidFill>
                <a:effectLst/>
              </a:rPr>
              <a:t>. (2023) proposed a fast and accurate method for identifying Chaboche model parameters using analytical expressions derived from stabilized cyclic stress responses. The approach demonstrated strong agreement with experimental data and finite element simulations for both steel and aluminum specimens.</a:t>
            </a:r>
            <a:r>
              <a:rPr lang="en-US" sz="1600" dirty="0"/>
              <a:t> </a:t>
            </a:r>
            <a:endParaRPr kumimoji="0" lang="en-US" altLang="en-US" sz="1000" b="0" i="0" u="none" strike="noStrike" cap="none" normalizeH="0" baseline="0" dirty="0">
              <a:ln>
                <a:noFill/>
              </a:ln>
              <a:solidFill>
                <a:schemeClr val="tx1"/>
              </a:solidFill>
              <a:effectLst/>
            </a:endParaRPr>
          </a:p>
        </p:txBody>
      </p:sp>
      <p:sp>
        <p:nvSpPr>
          <p:cNvPr id="6" name="Rectangle 4">
            <a:extLst>
              <a:ext uri="{FF2B5EF4-FFF2-40B4-BE49-F238E27FC236}">
                <a16:creationId xmlns:a16="http://schemas.microsoft.com/office/drawing/2014/main" id="{AB03F378-D4EF-84A7-22F1-AEBD5BFF4BB7}"/>
              </a:ext>
            </a:extLst>
          </p:cNvPr>
          <p:cNvSpPr>
            <a:spLocks noChangeArrowheads="1"/>
          </p:cNvSpPr>
          <p:nvPr/>
        </p:nvSpPr>
        <p:spPr bwMode="auto">
          <a:xfrm>
            <a:off x="171448" y="1487780"/>
            <a:ext cx="1146810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1600" dirty="0"/>
          </a:p>
          <a:p>
            <a:pPr marL="285750" lvl="0" indent="-285750" algn="just" eaLnBrk="0" fontAlgn="base" hangingPunct="0">
              <a:spcBef>
                <a:spcPct val="0"/>
              </a:spcBef>
              <a:spcAft>
                <a:spcPct val="0"/>
              </a:spcAft>
              <a:buFont typeface="Arial" panose="020B0604020202020204" pitchFamily="34" charset="0"/>
              <a:buChar char="•"/>
            </a:pPr>
            <a:r>
              <a:rPr lang="en-US" sz="1600" dirty="0"/>
              <a:t>Shang </a:t>
            </a:r>
            <a:r>
              <a:rPr lang="en-US" sz="1600" i="1" dirty="0"/>
              <a:t>et al. </a:t>
            </a:r>
            <a:r>
              <a:rPr lang="en-US" sz="1600" dirty="0"/>
              <a:t>(2023) combined the Swift-Voce and P-model formulations with an artificial neural network (ANN) to characterize the strain rate and temperature-dependent behavior of an aluminum alloy. The ANN effectively captured complex hardening responses, including post-necking behavior, and was implemented into ABAQUS for advanced material modeling. </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A69143CC-7180-5ABF-FFAC-6338D1140AB2}"/>
              </a:ext>
            </a:extLst>
          </p:cNvPr>
          <p:cNvSpPr txBox="1"/>
          <p:nvPr/>
        </p:nvSpPr>
        <p:spPr>
          <a:xfrm>
            <a:off x="171448" y="3612653"/>
            <a:ext cx="11468109" cy="830997"/>
          </a:xfrm>
          <a:prstGeom prst="rect">
            <a:avLst/>
          </a:prstGeom>
          <a:noFill/>
        </p:spPr>
        <p:txBody>
          <a:bodyPr wrap="square">
            <a:spAutoFit/>
          </a:bodyPr>
          <a:lstStyle/>
          <a:p>
            <a:pPr marL="285750" indent="-285750" algn="just">
              <a:buFont typeface="Arial" panose="020B0604020202020204" pitchFamily="34" charset="0"/>
              <a:buChar char="•"/>
            </a:pPr>
            <a:r>
              <a:rPr lang="en-US" sz="1600" dirty="0" err="1">
                <a:cs typeface="Arial" panose="020B0604020202020204" pitchFamily="34" charset="0"/>
              </a:rPr>
              <a:t>Bouajila</a:t>
            </a:r>
            <a:r>
              <a:rPr lang="en-US" sz="1600" dirty="0">
                <a:cs typeface="Arial" panose="020B0604020202020204" pitchFamily="34" charset="0"/>
              </a:rPr>
              <a:t> &amp; </a:t>
            </a:r>
            <a:r>
              <a:rPr lang="en-US" sz="1600" dirty="0" err="1">
                <a:cs typeface="Arial" panose="020B0604020202020204" pitchFamily="34" charset="0"/>
              </a:rPr>
              <a:t>Riccius</a:t>
            </a:r>
            <a:r>
              <a:rPr lang="en-US" sz="1600" dirty="0">
                <a:cs typeface="Arial" panose="020B0604020202020204" pitchFamily="34" charset="0"/>
              </a:rPr>
              <a:t> (2016) developed a </a:t>
            </a:r>
            <a:r>
              <a:rPr lang="en-US" sz="1600" dirty="0" err="1">
                <a:cs typeface="Arial" panose="020B0604020202020204" pitchFamily="34" charset="0"/>
              </a:rPr>
              <a:t>viscoplastic</a:t>
            </a:r>
            <a:r>
              <a:rPr lang="en-US" sz="1600" dirty="0">
                <a:cs typeface="Arial" panose="020B0604020202020204" pitchFamily="34" charset="0"/>
              </a:rPr>
              <a:t> extension of the Chaboche model by calibrating it against experimental strain and stress-controlled cyclic tests. Using nonlinear least-squares optimization (</a:t>
            </a:r>
            <a:r>
              <a:rPr lang="en-US" sz="1600" dirty="0" err="1">
                <a:cs typeface="Arial" panose="020B0604020202020204" pitchFamily="34" charset="0"/>
              </a:rPr>
              <a:t>l</a:t>
            </a:r>
            <a:r>
              <a:rPr lang="en-US" sz="1600" dirty="0" err="1">
                <a:latin typeface="Cambria" panose="02040503050406030204" pitchFamily="18" charset="0"/>
                <a:ea typeface="Cambria" panose="02040503050406030204" pitchFamily="18" charset="0"/>
                <a:cs typeface="Arial" panose="020B0604020202020204" pitchFamily="34" charset="0"/>
              </a:rPr>
              <a:t>sqnonlin</a:t>
            </a:r>
            <a:r>
              <a:rPr lang="en-US" sz="1600" dirty="0">
                <a:cs typeface="Arial" panose="020B0604020202020204" pitchFamily="34" charset="0"/>
              </a:rPr>
              <a:t>) in MATLAB, they accurately identified model parameters that reproduced key cyclic phenomena, including stress relaxation and cyclic softening.</a:t>
            </a:r>
            <a:r>
              <a:rPr lang="en-US" sz="1600" dirty="0"/>
              <a:t> </a:t>
            </a:r>
            <a:endParaRPr lang="en-US" sz="1000" dirty="0">
              <a:cs typeface="Arial" panose="020B0604020202020204" pitchFamily="34" charset="0"/>
            </a:endParaRPr>
          </a:p>
        </p:txBody>
      </p:sp>
      <p:sp>
        <p:nvSpPr>
          <p:cNvPr id="14" name="Rectangle 4">
            <a:extLst>
              <a:ext uri="{FF2B5EF4-FFF2-40B4-BE49-F238E27FC236}">
                <a16:creationId xmlns:a16="http://schemas.microsoft.com/office/drawing/2014/main" id="{FF22D099-5766-0977-9B4D-134F97CFF14A}"/>
              </a:ext>
            </a:extLst>
          </p:cNvPr>
          <p:cNvSpPr>
            <a:spLocks noChangeArrowheads="1"/>
          </p:cNvSpPr>
          <p:nvPr/>
        </p:nvSpPr>
        <p:spPr bwMode="auto">
          <a:xfrm>
            <a:off x="-1" y="5742056"/>
            <a:ext cx="12077699" cy="1385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100" b="1" dirty="0"/>
              <a:t>Chen, J. J., Lian, C. W., &amp; Lin, J. P. (2019</a:t>
            </a:r>
            <a:r>
              <a:rPr lang="en-US" sz="1100" dirty="0"/>
              <a:t>). </a:t>
            </a:r>
            <a:r>
              <a:rPr lang="en-US" sz="1100" i="1" dirty="0"/>
              <a:t>Validation of constitutive models for experimental stress-strain relationship of high-strength steel sheets under uniaxial tension</a:t>
            </a:r>
            <a:r>
              <a:rPr lang="en-US" sz="1100" dirty="0"/>
              <a:t>. IOP Conference. Series: Materials Science and Engineering, 668, 012013. </a:t>
            </a:r>
            <a:r>
              <a:rPr lang="en-US" sz="1100" dirty="0">
                <a:hlinkClick r:id="rId2"/>
              </a:rPr>
              <a:t>https://doi.org/10.1088/1757-899X/668/1/012013</a:t>
            </a:r>
            <a:endParaRPr lang="en-US" sz="1100" dirty="0"/>
          </a:p>
          <a:p>
            <a:r>
              <a:rPr lang="en-US" sz="1100" b="1" dirty="0"/>
              <a:t>Ramberg, W., &amp; Osgood, W. R. (1943).</a:t>
            </a:r>
            <a:r>
              <a:rPr lang="en-US" sz="1100" dirty="0"/>
              <a:t> </a:t>
            </a:r>
            <a:r>
              <a:rPr lang="en-US" sz="1100" i="1" dirty="0"/>
              <a:t>Description of stress-strain curves by three parameters</a:t>
            </a:r>
            <a:r>
              <a:rPr lang="en-US" sz="1100" dirty="0"/>
              <a:t> (NACA Technical Note No. 902). National Advisory Committee for Aeronautics.</a:t>
            </a:r>
            <a:endParaRPr lang="en-US" altLang="en-US" sz="1100" dirty="0"/>
          </a:p>
          <a:p>
            <a:pPr algn="just" eaLnBrk="0" fontAlgn="base" hangingPunct="0">
              <a:spcBef>
                <a:spcPct val="0"/>
              </a:spcBef>
              <a:spcAft>
                <a:spcPct val="0"/>
              </a:spcAft>
            </a:pPr>
            <a:r>
              <a:rPr lang="en-US" altLang="en-US" sz="1100" b="1" dirty="0"/>
              <a:t>Shang </a:t>
            </a:r>
            <a:r>
              <a:rPr lang="en-US" altLang="en-US" sz="1100" b="1" i="1" dirty="0"/>
              <a:t>et al</a:t>
            </a:r>
            <a:r>
              <a:rPr lang="en-US" altLang="en-US" sz="1100" b="1" dirty="0"/>
              <a:t>. (2023). </a:t>
            </a:r>
            <a:r>
              <a:rPr lang="en-US" altLang="en-US" sz="1100" i="1" dirty="0"/>
              <a:t>Strain rate &amp; thermal effects in 5182-O aluminum alloy flow </a:t>
            </a:r>
            <a:r>
              <a:rPr lang="en-US" altLang="en-US" sz="1100" i="1" dirty="0" err="1"/>
              <a:t>curveInt</a:t>
            </a:r>
            <a:r>
              <a:rPr lang="en-US" altLang="en-US" sz="1100" i="1" dirty="0"/>
              <a:t>. J. of Material Forming, </a:t>
            </a:r>
            <a:r>
              <a:rPr lang="en-US" altLang="en-US" sz="1100" dirty="0"/>
              <a:t>16(1), 1–20 </a:t>
            </a:r>
            <a:r>
              <a:rPr lang="en-US" altLang="en-US" sz="1100" dirty="0">
                <a:solidFill>
                  <a:schemeClr val="accent1">
                    <a:lumMod val="75000"/>
                  </a:schemeClr>
                </a:solidFill>
              </a:rPr>
              <a:t>https://doi.org/10.1007/s12289-022-01721-4</a:t>
            </a:r>
            <a:endParaRPr lang="en-US" altLang="en-US" sz="1100" i="1" dirty="0">
              <a:solidFill>
                <a:schemeClr val="accent1">
                  <a:lumMod val="75000"/>
                </a:schemeClr>
              </a:solidFill>
            </a:endParaRPr>
          </a:p>
          <a:p>
            <a:pPr lvl="0" algn="just" eaLnBrk="0" fontAlgn="base" hangingPunct="0">
              <a:spcBef>
                <a:spcPct val="0"/>
              </a:spcBef>
              <a:spcAft>
                <a:spcPct val="0"/>
              </a:spcAft>
            </a:pPr>
            <a:r>
              <a:rPr lang="en-US" altLang="en-US" sz="1100" b="1" dirty="0" err="1"/>
              <a:t>Bouajila</a:t>
            </a:r>
            <a:r>
              <a:rPr lang="en-US" altLang="en-US" sz="1100" b="1" dirty="0"/>
              <a:t> &amp; </a:t>
            </a:r>
            <a:r>
              <a:rPr lang="en-US" altLang="en-US" sz="1100" b="1" dirty="0" err="1"/>
              <a:t>Riccius</a:t>
            </a:r>
            <a:r>
              <a:rPr lang="en-US" altLang="en-US" sz="1100" b="1" dirty="0"/>
              <a:t> (2016</a:t>
            </a:r>
            <a:r>
              <a:rPr lang="en-US" altLang="en-US" sz="1100" dirty="0"/>
              <a:t>)</a:t>
            </a:r>
            <a:r>
              <a:rPr lang="en-US" altLang="en-US" sz="1100" i="1" dirty="0"/>
              <a:t>. Cyclic and </a:t>
            </a:r>
            <a:r>
              <a:rPr lang="en-US" altLang="en-US" sz="1100" i="1" dirty="0" err="1"/>
              <a:t>viscoplastic</a:t>
            </a:r>
            <a:r>
              <a:rPr lang="en-US" altLang="en-US" sz="1100" i="1" dirty="0"/>
              <a:t> modeling of copper alloy using </a:t>
            </a:r>
            <a:r>
              <a:rPr lang="en-US" altLang="en-US" sz="1100" i="1" dirty="0" err="1"/>
              <a:t>Chaboche</a:t>
            </a:r>
            <a:r>
              <a:rPr lang="en-US" altLang="en-US" sz="1100" i="1" dirty="0"/>
              <a:t> model. German Aerospace Center (DLR)</a:t>
            </a:r>
          </a:p>
          <a:p>
            <a:pPr algn="just" eaLnBrk="0" fontAlgn="base" hangingPunct="0">
              <a:spcBef>
                <a:spcPct val="0"/>
              </a:spcBef>
              <a:spcAft>
                <a:spcPct val="0"/>
              </a:spcAft>
            </a:pPr>
            <a:r>
              <a:rPr lang="en-US" altLang="en-US" sz="1100" b="1" dirty="0"/>
              <a:t>Antus </a:t>
            </a:r>
            <a:r>
              <a:rPr lang="en-US" altLang="en-US" sz="1100" b="1" i="1" dirty="0"/>
              <a:t>et al</a:t>
            </a:r>
            <a:r>
              <a:rPr lang="en-US" altLang="en-US" sz="1100" b="1" dirty="0"/>
              <a:t>. (2023). </a:t>
            </a:r>
            <a:r>
              <a:rPr lang="en-US" altLang="en-US" sz="1100" i="1" dirty="0"/>
              <a:t>Fast identification of Chaboche model using strain-controlled </a:t>
            </a:r>
            <a:r>
              <a:rPr lang="en-US" altLang="en-US" sz="1100" i="1" dirty="0" err="1"/>
              <a:t>cyclesInt</a:t>
            </a:r>
            <a:r>
              <a:rPr lang="en-US" altLang="en-US" sz="1100" i="1" dirty="0"/>
              <a:t>. J. of Plasticity, </a:t>
            </a:r>
            <a:r>
              <a:rPr lang="en-US" altLang="en-US" sz="1100" dirty="0"/>
              <a:t>160, 103503. </a:t>
            </a:r>
            <a:r>
              <a:rPr lang="en-US" altLang="en-US" sz="1100" dirty="0">
                <a:solidFill>
                  <a:schemeClr val="accent1">
                    <a:lumMod val="75000"/>
                  </a:schemeClr>
                </a:solidFill>
              </a:rPr>
              <a:t>https://doi.org/10.1016/j.ijplas.2022.103503</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p>
        </p:txBody>
      </p:sp>
      <p:sp>
        <p:nvSpPr>
          <p:cNvPr id="5" name="TextBox 4">
            <a:extLst>
              <a:ext uri="{FF2B5EF4-FFF2-40B4-BE49-F238E27FC236}">
                <a16:creationId xmlns:a16="http://schemas.microsoft.com/office/drawing/2014/main" id="{FC1EB0C6-F877-6B66-0F59-264727E41A88}"/>
              </a:ext>
            </a:extLst>
          </p:cNvPr>
          <p:cNvSpPr txBox="1"/>
          <p:nvPr/>
        </p:nvSpPr>
        <p:spPr>
          <a:xfrm>
            <a:off x="171450" y="890273"/>
            <a:ext cx="11468107" cy="830997"/>
          </a:xfrm>
          <a:prstGeom prst="rect">
            <a:avLst/>
          </a:prstGeom>
          <a:noFill/>
        </p:spPr>
        <p:txBody>
          <a:bodyPr wrap="square">
            <a:spAutoFit/>
          </a:bodyPr>
          <a:lstStyle/>
          <a:p>
            <a:pPr marL="285750" indent="-285750">
              <a:buFont typeface="Arial" panose="020B0604020202020204" pitchFamily="34" charset="0"/>
              <a:buChar char="•"/>
            </a:pPr>
            <a:r>
              <a:rPr lang="en-US" sz="1600" dirty="0"/>
              <a:t>Chen </a:t>
            </a:r>
            <a:r>
              <a:rPr lang="en-US" sz="1600" i="1" dirty="0"/>
              <a:t>et al.</a:t>
            </a:r>
            <a:r>
              <a:rPr lang="en-US" sz="1600" dirty="0"/>
              <a:t> (2019) evaluated several constitutive models, including Ludwik, Swift, Ghosh, and Hockett-Sherby for high-strength steels under uniaxial tension. They found the Hockett-Sherby model offered superior accuracy, especially for ultra-high strength steels, and demonstrated that combining it with the Swift model and digital image correlation (DIC) improves predictions at large strains. </a:t>
            </a:r>
            <a:endParaRPr lang="en-US" sz="1000" dirty="0"/>
          </a:p>
        </p:txBody>
      </p:sp>
      <p:sp>
        <p:nvSpPr>
          <p:cNvPr id="8" name="TextBox 7">
            <a:extLst>
              <a:ext uri="{FF2B5EF4-FFF2-40B4-BE49-F238E27FC236}">
                <a16:creationId xmlns:a16="http://schemas.microsoft.com/office/drawing/2014/main" id="{E60155F7-AE5F-731C-36A0-8BA4F47C0B5A}"/>
              </a:ext>
            </a:extLst>
          </p:cNvPr>
          <p:cNvSpPr txBox="1"/>
          <p:nvPr/>
        </p:nvSpPr>
        <p:spPr>
          <a:xfrm>
            <a:off x="171448" y="2673327"/>
            <a:ext cx="11468109" cy="830997"/>
          </a:xfrm>
          <a:prstGeom prst="rect">
            <a:avLst/>
          </a:prstGeom>
          <a:noFill/>
        </p:spPr>
        <p:txBody>
          <a:bodyPr wrap="square">
            <a:spAutoFit/>
          </a:bodyPr>
          <a:lstStyle/>
          <a:p>
            <a:pPr marL="285750" indent="-285750">
              <a:buFont typeface="Arial" panose="020B0604020202020204" pitchFamily="34" charset="0"/>
              <a:buChar char="•"/>
            </a:pPr>
            <a:r>
              <a:rPr lang="en-US" sz="1600" dirty="0"/>
              <a:t>Ramberg and Osgood (1943) introduced a model to describe stress-strain curves using Young’s modulus and two yield strengths. Their method worked well for aluminum, steel, and other metals, especially under compression. It also helped predict how materials behave when they start to bend or buckle.</a:t>
            </a:r>
            <a:endParaRPr lang="en-US" sz="1000" dirty="0"/>
          </a:p>
        </p:txBody>
      </p:sp>
      <p:cxnSp>
        <p:nvCxnSpPr>
          <p:cNvPr id="7" name="Straight Connector 6">
            <a:extLst>
              <a:ext uri="{FF2B5EF4-FFF2-40B4-BE49-F238E27FC236}">
                <a16:creationId xmlns:a16="http://schemas.microsoft.com/office/drawing/2014/main" id="{B0727EAC-78CB-641B-5B9A-44908535CAFD}"/>
              </a:ext>
            </a:extLst>
          </p:cNvPr>
          <p:cNvCxnSpPr>
            <a:cxnSpLocks/>
          </p:cNvCxnSpPr>
          <p:nvPr/>
        </p:nvCxnSpPr>
        <p:spPr>
          <a:xfrm>
            <a:off x="63374" y="5757699"/>
            <a:ext cx="541397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EADE0E9-413A-6D82-ECFF-F2610A16E292}"/>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5</a:t>
            </a:r>
          </a:p>
        </p:txBody>
      </p:sp>
      <p:sp>
        <p:nvSpPr>
          <p:cNvPr id="9" name="TextBox 8">
            <a:extLst>
              <a:ext uri="{FF2B5EF4-FFF2-40B4-BE49-F238E27FC236}">
                <a16:creationId xmlns:a16="http://schemas.microsoft.com/office/drawing/2014/main" id="{0D276009-0E8A-61DB-8909-DF53F5B2FC96}"/>
              </a:ext>
            </a:extLst>
          </p:cNvPr>
          <p:cNvSpPr txBox="1"/>
          <p:nvPr/>
        </p:nvSpPr>
        <p:spPr>
          <a:xfrm>
            <a:off x="10705012" y="373223"/>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
        <p:nvSpPr>
          <p:cNvPr id="10" name="TextBox 9">
            <a:extLst>
              <a:ext uri="{FF2B5EF4-FFF2-40B4-BE49-F238E27FC236}">
                <a16:creationId xmlns:a16="http://schemas.microsoft.com/office/drawing/2014/main" id="{5E7AFC1B-5374-6BE0-4488-5FD9C02C7CA4}"/>
              </a:ext>
            </a:extLst>
          </p:cNvPr>
          <p:cNvSpPr txBox="1"/>
          <p:nvPr/>
        </p:nvSpPr>
        <p:spPr>
          <a:xfrm>
            <a:off x="11132101" y="176021"/>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
        <p:nvSpPr>
          <p:cNvPr id="11" name="TextBox 10">
            <a:extLst>
              <a:ext uri="{FF2B5EF4-FFF2-40B4-BE49-F238E27FC236}">
                <a16:creationId xmlns:a16="http://schemas.microsoft.com/office/drawing/2014/main" id="{9F153FEC-F24B-3C5D-B7DB-D8F80976B2B2}"/>
              </a:ext>
            </a:extLst>
          </p:cNvPr>
          <p:cNvSpPr txBox="1"/>
          <p:nvPr/>
        </p:nvSpPr>
        <p:spPr>
          <a:xfrm>
            <a:off x="10865033" y="552762"/>
            <a:ext cx="1370510" cy="276999"/>
          </a:xfrm>
          <a:prstGeom prst="rect">
            <a:avLst/>
          </a:prstGeom>
          <a:noFill/>
        </p:spPr>
        <p:txBody>
          <a:bodyPr wrap="square">
            <a:spAutoFit/>
          </a:bodyPr>
          <a:lstStyle/>
          <a:p>
            <a:pPr algn="r"/>
            <a:r>
              <a:rPr lang="en-US" sz="1200" b="1" dirty="0">
                <a:solidFill>
                  <a:schemeClr val="bg1"/>
                </a:solidFill>
                <a:effectLst>
                  <a:outerShdw blurRad="38100" dist="38100" dir="2700000" algn="tl">
                    <a:srgbClr val="000000">
                      <a:alpha val="43137"/>
                    </a:srgbClr>
                  </a:outerShdw>
                </a:effectLst>
              </a:rPr>
              <a:t>Haile </a:t>
            </a:r>
            <a:r>
              <a:rPr lang="en-US" sz="1200" b="1" dirty="0" err="1">
                <a:solidFill>
                  <a:schemeClr val="bg1"/>
                </a:solidFill>
                <a:effectLst>
                  <a:outerShdw blurRad="38100" dist="38100" dir="2700000" algn="tl">
                    <a:srgbClr val="000000">
                      <a:alpha val="43137"/>
                    </a:srgbClr>
                  </a:outerShdw>
                </a:effectLst>
              </a:rPr>
              <a:t>Tsegu</a:t>
            </a:r>
            <a:endParaRPr lang="en-US" sz="12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1970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26884-19C3-B00A-82B2-C94B55B2D4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DBBA864-4FE2-9FCE-92BF-176351FF7097}"/>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Data </a:t>
            </a:r>
            <a:r>
              <a:rPr lang="en-US" sz="2000" dirty="0">
                <a:effectLst>
                  <a:outerShdw blurRad="38100" dist="38100" dir="2700000" algn="tl">
                    <a:srgbClr val="000000">
                      <a:alpha val="43137"/>
                    </a:srgbClr>
                  </a:outerShdw>
                </a:effectLst>
                <a:cs typeface="Arial" panose="020B0604020202020204" pitchFamily="34" charset="0"/>
              </a:rPr>
              <a:t>(Stress-Controlled)</a:t>
            </a:r>
            <a:endParaRPr lang="en-US" sz="4000" dirty="0">
              <a:effectLst>
                <a:outerShdw blurRad="38100" dist="38100" dir="2700000" algn="tl">
                  <a:srgbClr val="000000">
                    <a:alpha val="43137"/>
                  </a:srgbClr>
                </a:outerShdw>
              </a:effectLst>
              <a:cs typeface="Arial" panose="020B0604020202020204" pitchFamily="34" charset="0"/>
            </a:endParaRPr>
          </a:p>
        </p:txBody>
      </p:sp>
      <p:pic>
        <p:nvPicPr>
          <p:cNvPr id="5" name="Picture 4" descr="A graph of a stress-strain data&#10;&#10;AI-generated content may be incorrect.">
            <a:extLst>
              <a:ext uri="{FF2B5EF4-FFF2-40B4-BE49-F238E27FC236}">
                <a16:creationId xmlns:a16="http://schemas.microsoft.com/office/drawing/2014/main" id="{9530266D-72AF-02B7-4F7E-03A6C8D4F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513" y="1396496"/>
            <a:ext cx="5665486" cy="4065006"/>
          </a:xfrm>
          <a:prstGeom prst="rect">
            <a:avLst/>
          </a:prstGeom>
        </p:spPr>
      </p:pic>
      <p:pic>
        <p:nvPicPr>
          <p:cNvPr id="10" name="Picture 9" descr="A graph of a stress-strain data&#10;&#10;AI-generated content may be incorrect.">
            <a:extLst>
              <a:ext uri="{FF2B5EF4-FFF2-40B4-BE49-F238E27FC236}">
                <a16:creationId xmlns:a16="http://schemas.microsoft.com/office/drawing/2014/main" id="{72A509A1-2F46-E7EA-BC19-37A49CD96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748" y="1396496"/>
            <a:ext cx="5237739" cy="4065007"/>
          </a:xfrm>
          <a:prstGeom prst="rect">
            <a:avLst/>
          </a:prstGeom>
        </p:spPr>
      </p:pic>
      <p:sp>
        <p:nvSpPr>
          <p:cNvPr id="15" name="Rectangle 14">
            <a:extLst>
              <a:ext uri="{FF2B5EF4-FFF2-40B4-BE49-F238E27FC236}">
                <a16:creationId xmlns:a16="http://schemas.microsoft.com/office/drawing/2014/main" id="{2CA3BA45-5117-1FCE-A050-6E303EA8CFF2}"/>
              </a:ext>
            </a:extLst>
          </p:cNvPr>
          <p:cNvSpPr/>
          <p:nvPr/>
        </p:nvSpPr>
        <p:spPr>
          <a:xfrm>
            <a:off x="2209045" y="1015287"/>
            <a:ext cx="2308634" cy="28971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Monotonic</a:t>
            </a:r>
          </a:p>
        </p:txBody>
      </p:sp>
      <p:sp>
        <p:nvSpPr>
          <p:cNvPr id="16" name="Rectangle 15">
            <a:extLst>
              <a:ext uri="{FF2B5EF4-FFF2-40B4-BE49-F238E27FC236}">
                <a16:creationId xmlns:a16="http://schemas.microsoft.com/office/drawing/2014/main" id="{D84A6C82-7497-3AD6-3D1A-973CA162B6FD}"/>
              </a:ext>
            </a:extLst>
          </p:cNvPr>
          <p:cNvSpPr/>
          <p:nvPr/>
        </p:nvSpPr>
        <p:spPr>
          <a:xfrm>
            <a:off x="7988300" y="1015287"/>
            <a:ext cx="2308634" cy="28971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Cyclic</a:t>
            </a:r>
          </a:p>
        </p:txBody>
      </p:sp>
      <p:sp>
        <p:nvSpPr>
          <p:cNvPr id="2" name="Rectangle 1">
            <a:extLst>
              <a:ext uri="{FF2B5EF4-FFF2-40B4-BE49-F238E27FC236}">
                <a16:creationId xmlns:a16="http://schemas.microsoft.com/office/drawing/2014/main" id="{79ECBA9E-4AEF-9F37-B7F9-2B150175EADD}"/>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6</a:t>
            </a:r>
          </a:p>
        </p:txBody>
      </p:sp>
      <p:sp>
        <p:nvSpPr>
          <p:cNvPr id="3" name="TextBox 2">
            <a:extLst>
              <a:ext uri="{FF2B5EF4-FFF2-40B4-BE49-F238E27FC236}">
                <a16:creationId xmlns:a16="http://schemas.microsoft.com/office/drawing/2014/main" id="{6E0E20CF-C02D-C59C-4FBE-B30607EF9261}"/>
              </a:ext>
            </a:extLst>
          </p:cNvPr>
          <p:cNvSpPr txBox="1"/>
          <p:nvPr/>
        </p:nvSpPr>
        <p:spPr>
          <a:xfrm>
            <a:off x="10687595" y="501934"/>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2778019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0166-57F9-71C8-E074-7EF137C724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A999E7-E319-5F80-43A5-BEDC5530056F}"/>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Methodology</a:t>
            </a:r>
          </a:p>
        </p:txBody>
      </p:sp>
      <p:graphicFrame>
        <p:nvGraphicFramePr>
          <p:cNvPr id="8" name="Diagram 7">
            <a:extLst>
              <a:ext uri="{FF2B5EF4-FFF2-40B4-BE49-F238E27FC236}">
                <a16:creationId xmlns:a16="http://schemas.microsoft.com/office/drawing/2014/main" id="{7458AFB5-AD55-7FF9-45A3-4E482E926780}"/>
              </a:ext>
            </a:extLst>
          </p:cNvPr>
          <p:cNvGraphicFramePr/>
          <p:nvPr>
            <p:extLst>
              <p:ext uri="{D42A27DB-BD31-4B8C-83A1-F6EECF244321}">
                <p14:modId xmlns:p14="http://schemas.microsoft.com/office/powerpoint/2010/main" val="1385088681"/>
              </p:ext>
            </p:extLst>
          </p:nvPr>
        </p:nvGraphicFramePr>
        <p:xfrm>
          <a:off x="276225" y="1151829"/>
          <a:ext cx="11677650" cy="7165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a:extLst>
              <a:ext uri="{FF2B5EF4-FFF2-40B4-BE49-F238E27FC236}">
                <a16:creationId xmlns:a16="http://schemas.microsoft.com/office/drawing/2014/main" id="{9B1FBC25-6EF3-4672-5BEE-3B8AC69A306A}"/>
              </a:ext>
            </a:extLst>
          </p:cNvPr>
          <p:cNvSpPr/>
          <p:nvPr/>
        </p:nvSpPr>
        <p:spPr>
          <a:xfrm>
            <a:off x="276225" y="1868370"/>
            <a:ext cx="11801475" cy="10646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1600" dirty="0"/>
              <a:t>From literature, we established 6 representative isotropic models for monotonic loading; 4 classic models  (Hollomon, Swift, Voce, Ludwik) and 2 advanced models (Hockett Sherby and Ramberg-Osgood). </a:t>
            </a:r>
          </a:p>
          <a:p>
            <a:endParaRPr lang="en-US" sz="1600" dirty="0"/>
          </a:p>
          <a:p>
            <a:r>
              <a:rPr lang="en-US" sz="1600" b="1" dirty="0"/>
              <a:t>Motivation</a:t>
            </a:r>
            <a:r>
              <a:rPr lang="en-US" sz="1600" dirty="0"/>
              <a:t>: Comprehensive coverage and relevance to high strength steel (Chen </a:t>
            </a:r>
            <a:r>
              <a:rPr lang="en-US" sz="1600" i="1" dirty="0"/>
              <a:t>et al.,</a:t>
            </a:r>
            <a:r>
              <a:rPr lang="en-US" sz="1600" dirty="0"/>
              <a:t> 2019)</a:t>
            </a:r>
          </a:p>
        </p:txBody>
      </p:sp>
      <p:grpSp>
        <p:nvGrpSpPr>
          <p:cNvPr id="17" name="Group 16">
            <a:extLst>
              <a:ext uri="{FF2B5EF4-FFF2-40B4-BE49-F238E27FC236}">
                <a16:creationId xmlns:a16="http://schemas.microsoft.com/office/drawing/2014/main" id="{EF61005F-48AB-7663-5432-50CAB0634289}"/>
              </a:ext>
            </a:extLst>
          </p:cNvPr>
          <p:cNvGrpSpPr/>
          <p:nvPr/>
        </p:nvGrpSpPr>
        <p:grpSpPr>
          <a:xfrm>
            <a:off x="799879" y="3111610"/>
            <a:ext cx="7148086" cy="3322622"/>
            <a:chOff x="526949" y="3936949"/>
            <a:chExt cx="7674378" cy="1039110"/>
          </a:xfrm>
        </p:grpSpPr>
        <mc:AlternateContent xmlns:mc="http://schemas.openxmlformats.org/markup-compatibility/2006" xmlns:a14="http://schemas.microsoft.com/office/drawing/2010/main">
          <mc:Choice Requires="a14">
            <p:graphicFrame>
              <p:nvGraphicFramePr>
                <p:cNvPr id="9" name="Diagram 8">
                  <a:extLst>
                    <a:ext uri="{FF2B5EF4-FFF2-40B4-BE49-F238E27FC236}">
                      <a16:creationId xmlns:a16="http://schemas.microsoft.com/office/drawing/2014/main" id="{A3F3172A-5358-3E7B-45D5-415B2FE5F556}"/>
                    </a:ext>
                  </a:extLst>
                </p:cNvPr>
                <p:cNvGraphicFramePr/>
                <p:nvPr>
                  <p:extLst>
                    <p:ext uri="{D42A27DB-BD31-4B8C-83A1-F6EECF244321}">
                      <p14:modId xmlns:p14="http://schemas.microsoft.com/office/powerpoint/2010/main" val="1770069830"/>
                    </p:ext>
                  </p:extLst>
                </p:nvPr>
              </p:nvGraphicFramePr>
              <p:xfrm>
                <a:off x="526949" y="3936949"/>
                <a:ext cx="5453291" cy="10391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Choice>
          <mc:Fallback xmlns="">
            <p:graphicFrame>
              <p:nvGraphicFramePr>
                <p:cNvPr id="9" name="Diagram 8">
                  <a:extLst>
                    <a:ext uri="{FF2B5EF4-FFF2-40B4-BE49-F238E27FC236}">
                      <a16:creationId xmlns:a16="http://schemas.microsoft.com/office/drawing/2014/main" id="{A3F3172A-5358-3E7B-45D5-415B2FE5F556}"/>
                    </a:ext>
                  </a:extLst>
                </p:cNvPr>
                <p:cNvGraphicFramePr/>
                <p:nvPr>
                  <p:extLst>
                    <p:ext uri="{D42A27DB-BD31-4B8C-83A1-F6EECF244321}">
                      <p14:modId xmlns:p14="http://schemas.microsoft.com/office/powerpoint/2010/main" val="1770069830"/>
                    </p:ext>
                  </p:extLst>
                </p:nvPr>
              </p:nvGraphicFramePr>
              <p:xfrm>
                <a:off x="526949" y="3936949"/>
                <a:ext cx="5453291" cy="103911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mc:Fallback>
        </mc:AlternateContent>
        <p:grpSp>
          <p:nvGrpSpPr>
            <p:cNvPr id="10" name="Group 9">
              <a:extLst>
                <a:ext uri="{FF2B5EF4-FFF2-40B4-BE49-F238E27FC236}">
                  <a16:creationId xmlns:a16="http://schemas.microsoft.com/office/drawing/2014/main" id="{93042A8D-8488-8563-9A0D-45B9FFC1D084}"/>
                </a:ext>
              </a:extLst>
            </p:cNvPr>
            <p:cNvGrpSpPr/>
            <p:nvPr/>
          </p:nvGrpSpPr>
          <p:grpSpPr>
            <a:xfrm>
              <a:off x="5603648" y="4031062"/>
              <a:ext cx="583516" cy="173832"/>
              <a:chOff x="2092992" y="56492"/>
              <a:chExt cx="583516" cy="173832"/>
            </a:xfrm>
          </p:grpSpPr>
          <p:sp>
            <p:nvSpPr>
              <p:cNvPr id="15" name="Arrow: Right 14">
                <a:extLst>
                  <a:ext uri="{FF2B5EF4-FFF2-40B4-BE49-F238E27FC236}">
                    <a16:creationId xmlns:a16="http://schemas.microsoft.com/office/drawing/2014/main" id="{83901104-159B-5C33-3287-87BC229BDC55}"/>
                  </a:ext>
                </a:extLst>
              </p:cNvPr>
              <p:cNvSpPr/>
              <p:nvPr/>
            </p:nvSpPr>
            <p:spPr>
              <a:xfrm>
                <a:off x="2092992" y="56492"/>
                <a:ext cx="583516" cy="134382"/>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16" name="Arrow: Right 4">
                <a:extLst>
                  <a:ext uri="{FF2B5EF4-FFF2-40B4-BE49-F238E27FC236}">
                    <a16:creationId xmlns:a16="http://schemas.microsoft.com/office/drawing/2014/main" id="{87554068-1A7D-6D92-BF81-A8013D1DD6C9}"/>
                  </a:ext>
                </a:extLst>
              </p:cNvPr>
              <p:cNvSpPr txBox="1"/>
              <p:nvPr/>
            </p:nvSpPr>
            <p:spPr>
              <a:xfrm>
                <a:off x="2092992" y="95942"/>
                <a:ext cx="447904" cy="1343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dirty="0"/>
              </a:p>
            </p:txBody>
          </p:sp>
        </p:grpSp>
        <p:grpSp>
          <p:nvGrpSpPr>
            <p:cNvPr id="11" name="Group 10">
              <a:extLst>
                <a:ext uri="{FF2B5EF4-FFF2-40B4-BE49-F238E27FC236}">
                  <a16:creationId xmlns:a16="http://schemas.microsoft.com/office/drawing/2014/main" id="{77B04120-9E80-51E0-4E91-A5D915F4B0C0}"/>
                </a:ext>
              </a:extLst>
            </p:cNvPr>
            <p:cNvGrpSpPr/>
            <p:nvPr/>
          </p:nvGrpSpPr>
          <p:grpSpPr>
            <a:xfrm>
              <a:off x="6279319" y="3936949"/>
              <a:ext cx="1922008" cy="392896"/>
              <a:chOff x="2768663" y="-37621"/>
              <a:chExt cx="1922008" cy="392896"/>
            </a:xfrm>
          </p:grpSpPr>
          <p:sp>
            <p:nvSpPr>
              <p:cNvPr id="13" name="Rectangle: Rounded Corners 12">
                <a:extLst>
                  <a:ext uri="{FF2B5EF4-FFF2-40B4-BE49-F238E27FC236}">
                    <a16:creationId xmlns:a16="http://schemas.microsoft.com/office/drawing/2014/main" id="{48A4662A-15CB-8362-2A7A-D3A354F93EF2}"/>
                  </a:ext>
                </a:extLst>
              </p:cNvPr>
              <p:cNvSpPr/>
              <p:nvPr/>
            </p:nvSpPr>
            <p:spPr>
              <a:xfrm>
                <a:off x="2768663" y="-37621"/>
                <a:ext cx="1922008" cy="39289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 name="Rectangle: Rounded Corners 6">
                <a:extLst>
                  <a:ext uri="{FF2B5EF4-FFF2-40B4-BE49-F238E27FC236}">
                    <a16:creationId xmlns:a16="http://schemas.microsoft.com/office/drawing/2014/main" id="{8D296C0C-6E07-91A6-EDEA-1FB0B0F00756}"/>
                  </a:ext>
                </a:extLst>
              </p:cNvPr>
              <p:cNvSpPr txBox="1"/>
              <p:nvPr/>
            </p:nvSpPr>
            <p:spPr>
              <a:xfrm>
                <a:off x="2919573" y="-10700"/>
                <a:ext cx="1771098" cy="1343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600" kern="1200" dirty="0">
                    <a:effectLst>
                      <a:outerShdw blurRad="38100" dist="38100" dir="2700000" algn="tl">
                        <a:srgbClr val="000000">
                          <a:alpha val="43137"/>
                        </a:srgbClr>
                      </a:outerShdw>
                    </a:effectLst>
                  </a:rPr>
                  <a:t>Simulation</a:t>
                </a:r>
              </a:p>
            </p:txBody>
          </p:sp>
        </p:grpSp>
      </p:grpSp>
      <p:sp>
        <p:nvSpPr>
          <p:cNvPr id="12" name="Rectangle: Rounded Corners 11">
            <a:extLst>
              <a:ext uri="{FF2B5EF4-FFF2-40B4-BE49-F238E27FC236}">
                <a16:creationId xmlns:a16="http://schemas.microsoft.com/office/drawing/2014/main" id="{A2BE4C88-67C2-440D-C2E1-391A3D8DEC23}"/>
              </a:ext>
            </a:extLst>
          </p:cNvPr>
          <p:cNvSpPr/>
          <p:nvPr/>
        </p:nvSpPr>
        <p:spPr>
          <a:xfrm>
            <a:off x="6489695" y="4059397"/>
            <a:ext cx="1790201" cy="2232914"/>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285750" indent="-285750">
              <a:buFont typeface="Arial" panose="020B0604020202020204" pitchFamily="34" charset="0"/>
              <a:buChar char="•"/>
            </a:pPr>
            <a:r>
              <a:rPr lang="en-US" sz="1300" dirty="0"/>
              <a:t>Run a Dog bone ABAQUS simulation</a:t>
            </a:r>
          </a:p>
          <a:p>
            <a:pPr marL="285750" indent="-285750">
              <a:buFont typeface="Arial" panose="020B0604020202020204" pitchFamily="34" charset="0"/>
              <a:buChar char="•"/>
            </a:pPr>
            <a:r>
              <a:rPr lang="en-US" sz="1300" dirty="0"/>
              <a:t>Output the data and make plots</a:t>
            </a:r>
          </a:p>
          <a:p>
            <a:pPr marL="285750" indent="-285750">
              <a:buFont typeface="Arial" panose="020B0604020202020204" pitchFamily="34" charset="0"/>
              <a:buChar char="•"/>
            </a:pPr>
            <a:endParaRPr lang="en-US" sz="1300" dirty="0"/>
          </a:p>
          <a:p>
            <a:r>
              <a:rPr lang="en-US" sz="1200" dirty="0"/>
              <a:t> </a:t>
            </a:r>
          </a:p>
        </p:txBody>
      </p:sp>
      <p:grpSp>
        <p:nvGrpSpPr>
          <p:cNvPr id="18" name="Group 17">
            <a:extLst>
              <a:ext uri="{FF2B5EF4-FFF2-40B4-BE49-F238E27FC236}">
                <a16:creationId xmlns:a16="http://schemas.microsoft.com/office/drawing/2014/main" id="{C74B9132-7459-0310-0E01-F1C44FBEEFA7}"/>
              </a:ext>
            </a:extLst>
          </p:cNvPr>
          <p:cNvGrpSpPr/>
          <p:nvPr/>
        </p:nvGrpSpPr>
        <p:grpSpPr>
          <a:xfrm>
            <a:off x="8120762" y="3424236"/>
            <a:ext cx="561868" cy="402320"/>
            <a:chOff x="2103672" y="348650"/>
            <a:chExt cx="561868" cy="402320"/>
          </a:xfrm>
        </p:grpSpPr>
        <p:sp>
          <p:nvSpPr>
            <p:cNvPr id="25" name="Arrow: Right 24">
              <a:extLst>
                <a:ext uri="{FF2B5EF4-FFF2-40B4-BE49-F238E27FC236}">
                  <a16:creationId xmlns:a16="http://schemas.microsoft.com/office/drawing/2014/main" id="{9AD60FF5-FF22-7365-4B37-2E978323FAAA}"/>
                </a:ext>
              </a:extLst>
            </p:cNvPr>
            <p:cNvSpPr/>
            <p:nvPr/>
          </p:nvSpPr>
          <p:spPr>
            <a:xfrm rot="25211">
              <a:off x="2103672" y="348650"/>
              <a:ext cx="561868" cy="402320"/>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26" name="Arrow: Right 4">
              <a:extLst>
                <a:ext uri="{FF2B5EF4-FFF2-40B4-BE49-F238E27FC236}">
                  <a16:creationId xmlns:a16="http://schemas.microsoft.com/office/drawing/2014/main" id="{61068AFB-B956-472B-7E2F-641EB4236264}"/>
                </a:ext>
              </a:extLst>
            </p:cNvPr>
            <p:cNvSpPr txBox="1"/>
            <p:nvPr/>
          </p:nvSpPr>
          <p:spPr>
            <a:xfrm rot="25211">
              <a:off x="2103674" y="428671"/>
              <a:ext cx="441172" cy="2413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p:txBody>
        </p:sp>
      </p:grpSp>
      <p:grpSp>
        <p:nvGrpSpPr>
          <p:cNvPr id="19" name="Group 18">
            <a:extLst>
              <a:ext uri="{FF2B5EF4-FFF2-40B4-BE49-F238E27FC236}">
                <a16:creationId xmlns:a16="http://schemas.microsoft.com/office/drawing/2014/main" id="{6CB50A9F-9E3F-EE08-6BFB-709C33B92E30}"/>
              </a:ext>
            </a:extLst>
          </p:cNvPr>
          <p:cNvGrpSpPr/>
          <p:nvPr/>
        </p:nvGrpSpPr>
        <p:grpSpPr>
          <a:xfrm>
            <a:off x="8757512" y="3111611"/>
            <a:ext cx="1931354" cy="1313546"/>
            <a:chOff x="2898755" y="201199"/>
            <a:chExt cx="1677271" cy="1075453"/>
          </a:xfrm>
        </p:grpSpPr>
        <p:sp>
          <p:nvSpPr>
            <p:cNvPr id="23" name="Rectangle: Rounded Corners 22">
              <a:extLst>
                <a:ext uri="{FF2B5EF4-FFF2-40B4-BE49-F238E27FC236}">
                  <a16:creationId xmlns:a16="http://schemas.microsoft.com/office/drawing/2014/main" id="{A4673303-F559-F106-6A68-ED3DB8E3A74E}"/>
                </a:ext>
              </a:extLst>
            </p:cNvPr>
            <p:cNvSpPr/>
            <p:nvPr/>
          </p:nvSpPr>
          <p:spPr>
            <a:xfrm>
              <a:off x="2898755" y="201199"/>
              <a:ext cx="1664506" cy="1075453"/>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4" name="Rectangle: Rounded Corners 6">
              <a:extLst>
                <a:ext uri="{FF2B5EF4-FFF2-40B4-BE49-F238E27FC236}">
                  <a16:creationId xmlns:a16="http://schemas.microsoft.com/office/drawing/2014/main" id="{53E9857A-BA06-0A6B-CDE5-372F01A4EF7B}"/>
                </a:ext>
              </a:extLst>
            </p:cNvPr>
            <p:cNvSpPr txBox="1"/>
            <p:nvPr/>
          </p:nvSpPr>
          <p:spPr>
            <a:xfrm>
              <a:off x="2911520" y="235517"/>
              <a:ext cx="1664506" cy="7169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600" kern="1200" dirty="0">
                  <a:effectLst>
                    <a:outerShdw blurRad="38100" dist="38100" dir="2700000" algn="tl">
                      <a:srgbClr val="000000">
                        <a:alpha val="43137"/>
                      </a:srgbClr>
                    </a:outerShdw>
                  </a:effectLst>
                </a:rPr>
                <a:t>Comparison</a:t>
              </a:r>
            </a:p>
          </p:txBody>
        </p:sp>
      </p:grpSp>
      <p:grpSp>
        <p:nvGrpSpPr>
          <p:cNvPr id="20" name="Group 19">
            <a:extLst>
              <a:ext uri="{FF2B5EF4-FFF2-40B4-BE49-F238E27FC236}">
                <a16:creationId xmlns:a16="http://schemas.microsoft.com/office/drawing/2014/main" id="{E1DC06CD-6F7C-20C3-E2BF-673DAE542F2E}"/>
              </a:ext>
            </a:extLst>
          </p:cNvPr>
          <p:cNvGrpSpPr/>
          <p:nvPr/>
        </p:nvGrpSpPr>
        <p:grpSpPr>
          <a:xfrm>
            <a:off x="8890396" y="4059397"/>
            <a:ext cx="2087282" cy="2232914"/>
            <a:chOff x="3048913" y="815896"/>
            <a:chExt cx="2030402" cy="2246400"/>
          </a:xfrm>
        </p:grpSpPr>
        <p:sp>
          <p:nvSpPr>
            <p:cNvPr id="21" name="Rectangle: Rounded Corners 20">
              <a:extLst>
                <a:ext uri="{FF2B5EF4-FFF2-40B4-BE49-F238E27FC236}">
                  <a16:creationId xmlns:a16="http://schemas.microsoft.com/office/drawing/2014/main" id="{4550460C-3DD6-99DF-FD36-23A7E335D114}"/>
                </a:ext>
              </a:extLst>
            </p:cNvPr>
            <p:cNvSpPr/>
            <p:nvPr/>
          </p:nvSpPr>
          <p:spPr>
            <a:xfrm>
              <a:off x="3048913" y="815896"/>
              <a:ext cx="2030402" cy="224640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Rectangle: Rounded Corners 8">
              <a:extLst>
                <a:ext uri="{FF2B5EF4-FFF2-40B4-BE49-F238E27FC236}">
                  <a16:creationId xmlns:a16="http://schemas.microsoft.com/office/drawing/2014/main" id="{E46B7DE4-041F-864B-B267-3728D4020A59}"/>
                </a:ext>
              </a:extLst>
            </p:cNvPr>
            <p:cNvSpPr txBox="1"/>
            <p:nvPr/>
          </p:nvSpPr>
          <p:spPr>
            <a:xfrm>
              <a:off x="3108381" y="875364"/>
              <a:ext cx="1911466" cy="212746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Compare experimental data plots with mathematical models’ </a:t>
              </a:r>
            </a:p>
            <a:p>
              <a:pPr marL="114300" lvl="1" indent="-114300" algn="l" defTabSz="577850">
                <a:lnSpc>
                  <a:spcPct val="90000"/>
                </a:lnSpc>
                <a:spcBef>
                  <a:spcPct val="0"/>
                </a:spcBef>
                <a:spcAft>
                  <a:spcPct val="15000"/>
                </a:spcAft>
                <a:buChar char="•"/>
              </a:pPr>
              <a:r>
                <a:rPr lang="en-US" sz="1300" dirty="0"/>
                <a:t>Compare simulated results with experimental data</a:t>
              </a:r>
              <a:endParaRPr lang="en-US" sz="1300" kern="1200" dirty="0"/>
            </a:p>
          </p:txBody>
        </p:sp>
      </p:grpSp>
      <mc:AlternateContent xmlns:mc="http://schemas.openxmlformats.org/markup-compatibility/2006" xmlns:a14="http://schemas.microsoft.com/office/drawing/2010/main">
        <mc:Choice Requires="a14">
          <p:sp>
            <p:nvSpPr>
              <p:cNvPr id="3" name="Rectangle: Rounded Corners 6">
                <a:extLst>
                  <a:ext uri="{FF2B5EF4-FFF2-40B4-BE49-F238E27FC236}">
                    <a16:creationId xmlns:a16="http://schemas.microsoft.com/office/drawing/2014/main" id="{AA0C39C2-ABBD-A314-3338-C573FE627E27}"/>
                  </a:ext>
                </a:extLst>
              </p:cNvPr>
              <p:cNvSpPr txBox="1"/>
              <p:nvPr/>
            </p:nvSpPr>
            <p:spPr>
              <a:xfrm>
                <a:off x="3641699" y="3107873"/>
                <a:ext cx="1583219" cy="6093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1120" tIns="71120" rIns="71120" bIns="38100" numCol="1" spcCol="1270" anchor="t" anchorCtr="0">
                <a:noAutofit/>
              </a:bodyPr>
              <a:lstStyle/>
              <a:p>
                <a:pPr lvl="0"/>
                <a:r>
                  <a:rPr lang="en-US" sz="1600" dirty="0">
                    <a:effectLst>
                      <a:outerShdw blurRad="38100" dist="38100" dir="2700000" algn="tl">
                        <a:srgbClr val="000000">
                          <a:alpha val="43137"/>
                        </a:srgbClr>
                      </a:outerShdw>
                    </a:effectLst>
                  </a:rPr>
                  <a:t>Fit </a:t>
                </a:r>
                <a14:m>
                  <m:oMath xmlns:m="http://schemas.openxmlformats.org/officeDocument/2006/math">
                    <m:sSub>
                      <m:sSubPr>
                        <m:ctrlPr>
                          <a:rPr lang="en-US" sz="16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n-US" sz="16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𝜀</m:t>
                        </m:r>
                      </m:e>
                      <m:sub>
                        <m:r>
                          <a:rPr lang="en-US" sz="16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𝑝𝑙</m:t>
                        </m:r>
                      </m:sub>
                    </m:sSub>
                    <m:r>
                      <a:rPr lang="en-US" sz="16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 </m:t>
                    </m:r>
                  </m:oMath>
                </a14:m>
                <a:r>
                  <a:rPr lang="en-US" sz="1600" dirty="0">
                    <a:effectLst>
                      <a:outerShdw blurRad="38100" dist="38100" dir="2700000" algn="tl">
                        <a:srgbClr val="000000">
                          <a:alpha val="43137"/>
                        </a:srgbClr>
                      </a:outerShdw>
                    </a:effectLst>
                  </a:rPr>
                  <a:t>to stress </a:t>
                </a:r>
                <a14:m>
                  <m:oMath xmlns:m="http://schemas.openxmlformats.org/officeDocument/2006/math">
                    <m:r>
                      <a:rPr lang="en-US" sz="1600" b="0" i="1" smtClean="0">
                        <a:effectLst>
                          <a:outerShdw blurRad="38100" dist="38100" dir="2700000" algn="tl">
                            <a:srgbClr val="000000">
                              <a:alpha val="43137"/>
                            </a:srgbClr>
                          </a:outerShdw>
                        </a:effectLst>
                        <a:latin typeface="Cambria Math" panose="02040503050406030204" pitchFamily="18" charset="0"/>
                      </a:rPr>
                      <m:t>𝜎</m:t>
                    </m:r>
                  </m:oMath>
                </a14:m>
                <a:r>
                  <a:rPr lang="en-US" sz="1600" dirty="0">
                    <a:effectLst>
                      <a:outerShdw blurRad="38100" dist="38100" dir="2700000" algn="tl">
                        <a:srgbClr val="000000">
                          <a:alpha val="43137"/>
                        </a:srgbClr>
                      </a:outerShdw>
                    </a:effectLst>
                  </a:rPr>
                  <a:t> using MATLAB </a:t>
                </a:r>
                <a:r>
                  <a:rPr lang="en-US" sz="1600" dirty="0" err="1">
                    <a:effectLst>
                      <a:outerShdw blurRad="38100" dist="38100" dir="2700000" algn="tl">
                        <a:srgbClr val="000000">
                          <a:alpha val="43137"/>
                        </a:srgbClr>
                      </a:outerShdw>
                    </a:effectLst>
                  </a:rPr>
                  <a:t>polyfit</a:t>
                </a:r>
                <a:endParaRPr lang="en-US" sz="1600" dirty="0">
                  <a:effectLst>
                    <a:outerShdw blurRad="38100" dist="38100" dir="2700000" algn="tl">
                      <a:srgbClr val="000000">
                        <a:alpha val="43137"/>
                      </a:srgbClr>
                    </a:outerShdw>
                  </a:effectLst>
                </a:endParaRPr>
              </a:p>
            </p:txBody>
          </p:sp>
        </mc:Choice>
        <mc:Fallback xmlns="">
          <p:sp>
            <p:nvSpPr>
              <p:cNvPr id="3" name="Rectangle: Rounded Corners 6">
                <a:extLst>
                  <a:ext uri="{FF2B5EF4-FFF2-40B4-BE49-F238E27FC236}">
                    <a16:creationId xmlns:a16="http://schemas.microsoft.com/office/drawing/2014/main" id="{AA0C39C2-ABBD-A314-3338-C573FE627E27}"/>
                  </a:ext>
                </a:extLst>
              </p:cNvPr>
              <p:cNvSpPr txBox="1">
                <a:spLocks noRot="1" noChangeAspect="1" noMove="1" noResize="1" noEditPoints="1" noAdjustHandles="1" noChangeArrowheads="1" noChangeShapeType="1" noTextEdit="1"/>
              </p:cNvSpPr>
              <p:nvPr/>
            </p:nvSpPr>
            <p:spPr>
              <a:xfrm>
                <a:off x="3641699" y="3107873"/>
                <a:ext cx="1583219" cy="609337"/>
              </a:xfrm>
              <a:prstGeom prst="rect">
                <a:avLst/>
              </a:prstGeom>
              <a:blipFill>
                <a:blip r:embed="rId16"/>
                <a:stretch>
                  <a:fillRect l="-3462" b="-59000"/>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DF3A0394-67E6-F968-3B8B-BB522F548BDA}"/>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7</a:t>
            </a:r>
          </a:p>
        </p:txBody>
      </p:sp>
      <p:sp>
        <p:nvSpPr>
          <p:cNvPr id="6" name="TextBox 5">
            <a:extLst>
              <a:ext uri="{FF2B5EF4-FFF2-40B4-BE49-F238E27FC236}">
                <a16:creationId xmlns:a16="http://schemas.microsoft.com/office/drawing/2014/main" id="{0DFE272C-37F2-5819-2BA3-B06D1C987748}"/>
              </a:ext>
            </a:extLst>
          </p:cNvPr>
          <p:cNvSpPr txBox="1"/>
          <p:nvPr/>
        </p:nvSpPr>
        <p:spPr>
          <a:xfrm>
            <a:off x="11132101" y="547918"/>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1148950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A3044-345D-A194-E64D-C6283916753F}"/>
            </a:ext>
          </a:extLst>
        </p:cNvPr>
        <p:cNvGrpSpPr/>
        <p:nvPr/>
      </p:nvGrpSpPr>
      <p:grpSpPr>
        <a:xfrm>
          <a:off x="0" y="0"/>
          <a:ext cx="0" cy="0"/>
          <a:chOff x="0" y="0"/>
          <a:chExt cx="0" cy="0"/>
        </a:xfrm>
      </p:grpSpPr>
      <p:pic>
        <p:nvPicPr>
          <p:cNvPr id="6" name="Picture 5" descr="Blue drawing of a blue tube&#10;&#10;AI-generated content may be incorrect.">
            <a:extLst>
              <a:ext uri="{FF2B5EF4-FFF2-40B4-BE49-F238E27FC236}">
                <a16:creationId xmlns:a16="http://schemas.microsoft.com/office/drawing/2014/main" id="{7CD546C7-B8A4-D7B0-F385-98B446B177B2}"/>
              </a:ext>
            </a:extLst>
          </p:cNvPr>
          <p:cNvPicPr>
            <a:picLocks noChangeAspect="1"/>
          </p:cNvPicPr>
          <p:nvPr/>
        </p:nvPicPr>
        <p:blipFill>
          <a:blip r:embed="rId2">
            <a:extLst>
              <a:ext uri="{28A0092B-C50C-407E-A947-70E740481C1C}">
                <a14:useLocalDpi xmlns:a14="http://schemas.microsoft.com/office/drawing/2010/main" val="0"/>
              </a:ext>
            </a:extLst>
          </a:blip>
          <a:srcRect l="12997" t="6887" r="9664" b="5815"/>
          <a:stretch>
            <a:fillRect/>
          </a:stretch>
        </p:blipFill>
        <p:spPr>
          <a:xfrm>
            <a:off x="7138595" y="2584911"/>
            <a:ext cx="4777180" cy="2824681"/>
          </a:xfrm>
          <a:prstGeom prst="rect">
            <a:avLst/>
          </a:prstGeom>
        </p:spPr>
      </p:pic>
      <p:sp>
        <p:nvSpPr>
          <p:cNvPr id="4" name="Rectangle 3">
            <a:extLst>
              <a:ext uri="{FF2B5EF4-FFF2-40B4-BE49-F238E27FC236}">
                <a16:creationId xmlns:a16="http://schemas.microsoft.com/office/drawing/2014/main" id="{88843300-433C-2C50-0BDA-CCC83005FA6F}"/>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Methodology</a:t>
            </a:r>
          </a:p>
        </p:txBody>
      </p:sp>
      <p:graphicFrame>
        <p:nvGraphicFramePr>
          <p:cNvPr id="8" name="Diagram 7">
            <a:extLst>
              <a:ext uri="{FF2B5EF4-FFF2-40B4-BE49-F238E27FC236}">
                <a16:creationId xmlns:a16="http://schemas.microsoft.com/office/drawing/2014/main" id="{AC07D69C-DE02-B1FA-9AD2-87CE5A801F2F}"/>
              </a:ext>
            </a:extLst>
          </p:cNvPr>
          <p:cNvGraphicFramePr/>
          <p:nvPr>
            <p:extLst>
              <p:ext uri="{D42A27DB-BD31-4B8C-83A1-F6EECF244321}">
                <p14:modId xmlns:p14="http://schemas.microsoft.com/office/powerpoint/2010/main" val="1812675901"/>
              </p:ext>
            </p:extLst>
          </p:nvPr>
        </p:nvGraphicFramePr>
        <p:xfrm>
          <a:off x="276225" y="1151829"/>
          <a:ext cx="11677650" cy="716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1">
            <a:extLst>
              <a:ext uri="{FF2B5EF4-FFF2-40B4-BE49-F238E27FC236}">
                <a16:creationId xmlns:a16="http://schemas.microsoft.com/office/drawing/2014/main" id="{AA55E8DE-E739-88DD-7C57-7367B2F06DEC}"/>
              </a:ext>
            </a:extLst>
          </p:cNvPr>
          <p:cNvSpPr/>
          <p:nvPr/>
        </p:nvSpPr>
        <p:spPr>
          <a:xfrm>
            <a:off x="276225" y="1868370"/>
            <a:ext cx="11801475" cy="374477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1600" b="1" dirty="0"/>
              <a:t>Purpose</a:t>
            </a:r>
            <a:r>
              <a:rPr lang="en-US" sz="1600" dirty="0"/>
              <a:t> : To reproduce monotonic loading in a virtual test environment.</a:t>
            </a:r>
          </a:p>
          <a:p>
            <a:endParaRPr lang="en-US" sz="1600" dirty="0"/>
          </a:p>
          <a:p>
            <a:r>
              <a:rPr lang="en-US" sz="1600" b="1" dirty="0"/>
              <a:t>Setup</a:t>
            </a:r>
            <a:r>
              <a:rPr lang="en-US" sz="1600" dirty="0"/>
              <a:t>: </a:t>
            </a:r>
          </a:p>
          <a:p>
            <a:pPr marL="285750" indent="-285750">
              <a:buFont typeface="Arial" panose="020B0604020202020204" pitchFamily="34" charset="0"/>
              <a:buChar char="•"/>
            </a:pPr>
            <a:r>
              <a:rPr lang="en-US" sz="1600" dirty="0"/>
              <a:t>Geometry: Round </a:t>
            </a:r>
            <a:r>
              <a:rPr lang="en-US" sz="1600" dirty="0" err="1"/>
              <a:t>dogbone</a:t>
            </a:r>
            <a:r>
              <a:rPr lang="en-US" sz="1600" dirty="0"/>
              <a:t> tension test specimen ASTM Standard. </a:t>
            </a:r>
          </a:p>
          <a:p>
            <a:pPr marL="285750" indent="-285750">
              <a:buFont typeface="Arial" panose="020B0604020202020204" pitchFamily="34" charset="0"/>
              <a:buChar char="•"/>
            </a:pPr>
            <a:r>
              <a:rPr lang="en-US" sz="1600" dirty="0"/>
              <a:t>Mesh: Quadratic tetrahedral elements (C3D10), refined in gauge section.</a:t>
            </a:r>
          </a:p>
          <a:p>
            <a:pPr marL="285750" indent="-285750">
              <a:buFont typeface="Arial" panose="020B0604020202020204" pitchFamily="34" charset="0"/>
              <a:buChar char="•"/>
            </a:pPr>
            <a:r>
              <a:rPr lang="en-US" sz="1600" dirty="0"/>
              <a:t>Material Model: Isotropic Linear Elasticity followed by Nonlinear Plastic Hardening</a:t>
            </a:r>
          </a:p>
          <a:p>
            <a:endParaRPr lang="en-US" sz="1600" dirty="0"/>
          </a:p>
          <a:p>
            <a:r>
              <a:rPr lang="en-US" sz="1600" b="1" dirty="0"/>
              <a:t>Loading and Boundary Conditions: </a:t>
            </a:r>
            <a:r>
              <a:rPr lang="en-US" sz="1600" dirty="0"/>
              <a:t>Force controlled, fixed constrain at one end</a:t>
            </a:r>
          </a:p>
          <a:p>
            <a:endParaRPr lang="en-US" sz="1600" dirty="0"/>
          </a:p>
          <a:p>
            <a:r>
              <a:rPr lang="en-US" sz="1600" b="1" dirty="0"/>
              <a:t>Metric</a:t>
            </a:r>
            <a:r>
              <a:rPr lang="en-US" sz="1600" dirty="0"/>
              <a:t>: Compare simulation stress-strain in main loading direction with experimental data.</a:t>
            </a:r>
          </a:p>
        </p:txBody>
      </p:sp>
      <p:sp>
        <p:nvSpPr>
          <p:cNvPr id="3" name="Rectangle 2">
            <a:extLst>
              <a:ext uri="{FF2B5EF4-FFF2-40B4-BE49-F238E27FC236}">
                <a16:creationId xmlns:a16="http://schemas.microsoft.com/office/drawing/2014/main" id="{D5937D99-26C3-FF22-EF54-F5ED2BAB08C2}"/>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8</a:t>
            </a:r>
          </a:p>
        </p:txBody>
      </p:sp>
      <p:sp>
        <p:nvSpPr>
          <p:cNvPr id="5" name="TextBox 4">
            <a:extLst>
              <a:ext uri="{FF2B5EF4-FFF2-40B4-BE49-F238E27FC236}">
                <a16:creationId xmlns:a16="http://schemas.microsoft.com/office/drawing/2014/main" id="{3B69B3D1-3CB2-097C-66AD-D9B0CC00934A}"/>
              </a:ext>
            </a:extLst>
          </p:cNvPr>
          <p:cNvSpPr txBox="1"/>
          <p:nvPr/>
        </p:nvSpPr>
        <p:spPr>
          <a:xfrm>
            <a:off x="11132101" y="547918"/>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1405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8865D-3AF5-3224-C26B-DB77BD88794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D41247-D02D-2A30-A53D-6A235240AC70}"/>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Methodology</a:t>
            </a:r>
          </a:p>
        </p:txBody>
      </p:sp>
      <p:graphicFrame>
        <p:nvGraphicFramePr>
          <p:cNvPr id="8" name="Diagram 7">
            <a:extLst>
              <a:ext uri="{FF2B5EF4-FFF2-40B4-BE49-F238E27FC236}">
                <a16:creationId xmlns:a16="http://schemas.microsoft.com/office/drawing/2014/main" id="{F2140994-857B-F880-638D-B02F97C1F6C1}"/>
              </a:ext>
            </a:extLst>
          </p:cNvPr>
          <p:cNvGraphicFramePr/>
          <p:nvPr/>
        </p:nvGraphicFramePr>
        <p:xfrm>
          <a:off x="292068" y="1008000"/>
          <a:ext cx="11607864" cy="7789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5" name="Group 34">
            <a:extLst>
              <a:ext uri="{FF2B5EF4-FFF2-40B4-BE49-F238E27FC236}">
                <a16:creationId xmlns:a16="http://schemas.microsoft.com/office/drawing/2014/main" id="{705089FB-DA2A-3846-A7C7-0F4ADF08E6AB}"/>
              </a:ext>
            </a:extLst>
          </p:cNvPr>
          <p:cNvGrpSpPr/>
          <p:nvPr/>
        </p:nvGrpSpPr>
        <p:grpSpPr>
          <a:xfrm>
            <a:off x="195261" y="2888056"/>
            <a:ext cx="11607864" cy="3746439"/>
            <a:chOff x="331558" y="3158616"/>
            <a:chExt cx="11607864" cy="3546231"/>
          </a:xfrm>
        </p:grpSpPr>
        <p:grpSp>
          <p:nvGrpSpPr>
            <p:cNvPr id="34" name="Group 33">
              <a:extLst>
                <a:ext uri="{FF2B5EF4-FFF2-40B4-BE49-F238E27FC236}">
                  <a16:creationId xmlns:a16="http://schemas.microsoft.com/office/drawing/2014/main" id="{E1E49ACD-BFF4-965A-8495-7714D6AF89E7}"/>
                </a:ext>
              </a:extLst>
            </p:cNvPr>
            <p:cNvGrpSpPr/>
            <p:nvPr/>
          </p:nvGrpSpPr>
          <p:grpSpPr>
            <a:xfrm>
              <a:off x="331558" y="3158616"/>
              <a:ext cx="6487784" cy="3546231"/>
              <a:chOff x="331558" y="3158616"/>
              <a:chExt cx="6487784" cy="3546231"/>
            </a:xfrm>
          </p:grpSpPr>
          <p:grpSp>
            <p:nvGrpSpPr>
              <p:cNvPr id="17" name="Group 16">
                <a:extLst>
                  <a:ext uri="{FF2B5EF4-FFF2-40B4-BE49-F238E27FC236}">
                    <a16:creationId xmlns:a16="http://schemas.microsoft.com/office/drawing/2014/main" id="{F895D5B6-5986-B241-CA28-51C6F204CC74}"/>
                  </a:ext>
                </a:extLst>
              </p:cNvPr>
              <p:cNvGrpSpPr/>
              <p:nvPr/>
            </p:nvGrpSpPr>
            <p:grpSpPr>
              <a:xfrm>
                <a:off x="331558" y="3158616"/>
                <a:ext cx="6118489" cy="3546231"/>
                <a:chOff x="544911" y="3936949"/>
                <a:chExt cx="7658925" cy="1109041"/>
              </a:xfrm>
            </p:grpSpPr>
            <mc:AlternateContent xmlns:mc="http://schemas.openxmlformats.org/markup-compatibility/2006" xmlns:a14="http://schemas.microsoft.com/office/drawing/2010/main">
              <mc:Choice Requires="a14">
                <p:graphicFrame>
                  <p:nvGraphicFramePr>
                    <p:cNvPr id="9" name="Diagram 8">
                      <a:extLst>
                        <a:ext uri="{FF2B5EF4-FFF2-40B4-BE49-F238E27FC236}">
                          <a16:creationId xmlns:a16="http://schemas.microsoft.com/office/drawing/2014/main" id="{45E7663F-DC4D-6232-6B7B-8031B1116069}"/>
                        </a:ext>
                      </a:extLst>
                    </p:cNvPr>
                    <p:cNvGraphicFramePr/>
                    <p:nvPr/>
                  </p:nvGraphicFramePr>
                  <p:xfrm>
                    <a:off x="544911" y="3936949"/>
                    <a:ext cx="5453292" cy="11090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Choice>
              <mc:Fallback xmlns="">
                <p:graphicFrame>
                  <p:nvGraphicFramePr>
                    <p:cNvPr id="9" name="Diagram 8">
                      <a:extLst>
                        <a:ext uri="{FF2B5EF4-FFF2-40B4-BE49-F238E27FC236}">
                          <a16:creationId xmlns:a16="http://schemas.microsoft.com/office/drawing/2014/main" id="{45E7663F-DC4D-6232-6B7B-8031B1116069}"/>
                        </a:ext>
                      </a:extLst>
                    </p:cNvPr>
                    <p:cNvGraphicFramePr/>
                    <p:nvPr>
                      <p:extLst>
                        <p:ext uri="{D42A27DB-BD31-4B8C-83A1-F6EECF244321}">
                          <p14:modId xmlns:p14="http://schemas.microsoft.com/office/powerpoint/2010/main" val="1441856791"/>
                        </p:ext>
                      </p:extLst>
                    </p:nvPr>
                  </p:nvGraphicFramePr>
                  <p:xfrm>
                    <a:off x="544911" y="3936949"/>
                    <a:ext cx="5453292" cy="110904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Fallback>
            </mc:AlternateContent>
            <p:grpSp>
              <p:nvGrpSpPr>
                <p:cNvPr id="10" name="Group 9">
                  <a:extLst>
                    <a:ext uri="{FF2B5EF4-FFF2-40B4-BE49-F238E27FC236}">
                      <a16:creationId xmlns:a16="http://schemas.microsoft.com/office/drawing/2014/main" id="{80931B86-4AE3-C522-6472-5FA28CD36FF5}"/>
                    </a:ext>
                  </a:extLst>
                </p:cNvPr>
                <p:cNvGrpSpPr/>
                <p:nvPr/>
              </p:nvGrpSpPr>
              <p:grpSpPr>
                <a:xfrm>
                  <a:off x="5678016" y="4005268"/>
                  <a:ext cx="678901" cy="170910"/>
                  <a:chOff x="2167360" y="30698"/>
                  <a:chExt cx="678901" cy="170910"/>
                </a:xfrm>
              </p:grpSpPr>
              <p:sp>
                <p:nvSpPr>
                  <p:cNvPr id="15" name="Arrow: Right 14">
                    <a:extLst>
                      <a:ext uri="{FF2B5EF4-FFF2-40B4-BE49-F238E27FC236}">
                        <a16:creationId xmlns:a16="http://schemas.microsoft.com/office/drawing/2014/main" id="{795E7A21-EDFF-86A9-D61F-1E48612FB159}"/>
                      </a:ext>
                    </a:extLst>
                  </p:cNvPr>
                  <p:cNvSpPr/>
                  <p:nvPr/>
                </p:nvSpPr>
                <p:spPr>
                  <a:xfrm>
                    <a:off x="2181891" y="87812"/>
                    <a:ext cx="664370" cy="113796"/>
                  </a:xfrm>
                  <a:prstGeom prst="rightArrow">
                    <a:avLst>
                      <a:gd name="adj1" fmla="val 60000"/>
                      <a:gd name="adj2" fmla="val 50000"/>
                    </a:avLst>
                  </a:prstGeom>
                  <a:ln>
                    <a:noFill/>
                  </a:ln>
                  <a:effectLst>
                    <a:outerShdw blurRad="63500" sx="102000" sy="102000" algn="ctr" rotWithShape="0">
                      <a:prstClr val="black">
                        <a:alpha val="40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dirty="0"/>
                  </a:p>
                </p:txBody>
              </p:sp>
              <p:sp>
                <p:nvSpPr>
                  <p:cNvPr id="16" name="Arrow: Right 4">
                    <a:extLst>
                      <a:ext uri="{FF2B5EF4-FFF2-40B4-BE49-F238E27FC236}">
                        <a16:creationId xmlns:a16="http://schemas.microsoft.com/office/drawing/2014/main" id="{6B605EA3-FE31-96BD-BB4C-12000B08E496}"/>
                      </a:ext>
                    </a:extLst>
                  </p:cNvPr>
                  <p:cNvSpPr txBox="1"/>
                  <p:nvPr/>
                </p:nvSpPr>
                <p:spPr>
                  <a:xfrm>
                    <a:off x="2167360" y="30698"/>
                    <a:ext cx="447905" cy="678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dirty="0"/>
                  </a:p>
                </p:txBody>
              </p:sp>
            </p:grpSp>
            <p:grpSp>
              <p:nvGrpSpPr>
                <p:cNvPr id="11" name="Group 10">
                  <a:extLst>
                    <a:ext uri="{FF2B5EF4-FFF2-40B4-BE49-F238E27FC236}">
                      <a16:creationId xmlns:a16="http://schemas.microsoft.com/office/drawing/2014/main" id="{3DBB3798-7B8B-988F-A68B-BE433092B968}"/>
                    </a:ext>
                  </a:extLst>
                </p:cNvPr>
                <p:cNvGrpSpPr/>
                <p:nvPr/>
              </p:nvGrpSpPr>
              <p:grpSpPr>
                <a:xfrm>
                  <a:off x="6356917" y="3973936"/>
                  <a:ext cx="1846919" cy="230584"/>
                  <a:chOff x="2846261" y="-634"/>
                  <a:chExt cx="1846919" cy="230584"/>
                </a:xfrm>
              </p:grpSpPr>
              <p:sp>
                <p:nvSpPr>
                  <p:cNvPr id="13" name="Rectangle: Rounded Corners 12">
                    <a:extLst>
                      <a:ext uri="{FF2B5EF4-FFF2-40B4-BE49-F238E27FC236}">
                        <a16:creationId xmlns:a16="http://schemas.microsoft.com/office/drawing/2014/main" id="{15908CA3-438F-DED4-B589-0A31D3182715}"/>
                      </a:ext>
                    </a:extLst>
                  </p:cNvPr>
                  <p:cNvSpPr/>
                  <p:nvPr/>
                </p:nvSpPr>
                <p:spPr>
                  <a:xfrm>
                    <a:off x="2860693" y="-634"/>
                    <a:ext cx="1832487" cy="23058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 name="Rectangle: Rounded Corners 6">
                    <a:extLst>
                      <a:ext uri="{FF2B5EF4-FFF2-40B4-BE49-F238E27FC236}">
                        <a16:creationId xmlns:a16="http://schemas.microsoft.com/office/drawing/2014/main" id="{1BC9118E-CF5E-31C2-B640-B7B0EE59501D}"/>
                      </a:ext>
                    </a:extLst>
                  </p:cNvPr>
                  <p:cNvSpPr txBox="1"/>
                  <p:nvPr/>
                </p:nvSpPr>
                <p:spPr>
                  <a:xfrm>
                    <a:off x="2846261" y="10471"/>
                    <a:ext cx="1815634" cy="156188"/>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lang="en-US" sz="1400" kern="1200" dirty="0">
                        <a:effectLst>
                          <a:outerShdw blurRad="38100" dist="38100" dir="2700000" algn="tl">
                            <a:srgbClr val="000000">
                              <a:alpha val="43137"/>
                            </a:srgbClr>
                          </a:outerShdw>
                        </a:effectLst>
                      </a:rPr>
                      <a:t>Define Objective function</a:t>
                    </a:r>
                  </a:p>
                  <a:p>
                    <a:pPr marL="0" lvl="0" indent="0" algn="l" defTabSz="444500">
                      <a:lnSpc>
                        <a:spcPct val="90000"/>
                      </a:lnSpc>
                      <a:spcBef>
                        <a:spcPct val="0"/>
                      </a:spcBef>
                      <a:spcAft>
                        <a:spcPct val="35000"/>
                      </a:spcAft>
                      <a:buNone/>
                    </a:pPr>
                    <a:endParaRPr lang="en-US" sz="1400" dirty="0">
                      <a:effectLst>
                        <a:outerShdw blurRad="38100" dist="38100" dir="2700000" algn="tl">
                          <a:srgbClr val="000000">
                            <a:alpha val="43137"/>
                          </a:srgbClr>
                        </a:outerShdw>
                      </a:effectLst>
                    </a:endParaRPr>
                  </a:p>
                  <a:p>
                    <a:pPr marL="0" lvl="0" indent="0" algn="l" defTabSz="444500">
                      <a:lnSpc>
                        <a:spcPct val="90000"/>
                      </a:lnSpc>
                      <a:spcBef>
                        <a:spcPct val="0"/>
                      </a:spcBef>
                      <a:spcAft>
                        <a:spcPct val="35000"/>
                      </a:spcAft>
                      <a:buNone/>
                    </a:pPr>
                    <a:endParaRPr lang="en-US" sz="1400" kern="1200" dirty="0">
                      <a:effectLst>
                        <a:outerShdw blurRad="38100" dist="38100" dir="2700000" algn="tl">
                          <a:srgbClr val="000000">
                            <a:alpha val="43137"/>
                          </a:srgbClr>
                        </a:outerShdw>
                      </a:effectLst>
                    </a:endParaRPr>
                  </a:p>
                  <a:p>
                    <a:pPr marL="0" lvl="0" indent="0" algn="l" defTabSz="444500">
                      <a:lnSpc>
                        <a:spcPct val="90000"/>
                      </a:lnSpc>
                      <a:spcBef>
                        <a:spcPct val="0"/>
                      </a:spcBef>
                      <a:spcAft>
                        <a:spcPct val="35000"/>
                      </a:spcAft>
                      <a:buNone/>
                    </a:pPr>
                    <a:endParaRPr lang="en-US" sz="1400" kern="1200" dirty="0">
                      <a:effectLst>
                        <a:outerShdw blurRad="38100" dist="38100" dir="2700000" algn="tl">
                          <a:srgbClr val="000000">
                            <a:alpha val="43137"/>
                          </a:srgbClr>
                        </a:outerShdw>
                      </a:effectLst>
                    </a:endParaRPr>
                  </a:p>
                </p:txBody>
              </p:sp>
            </p:grpSp>
          </p:grpSp>
          <p:sp>
            <p:nvSpPr>
              <p:cNvPr id="12" name="Rectangle: Rounded Corners 11">
                <a:extLst>
                  <a:ext uri="{FF2B5EF4-FFF2-40B4-BE49-F238E27FC236}">
                    <a16:creationId xmlns:a16="http://schemas.microsoft.com/office/drawing/2014/main" id="{5055EE97-8117-6D1C-45BC-FDCC526BA0AB}"/>
                  </a:ext>
                </a:extLst>
              </p:cNvPr>
              <p:cNvSpPr/>
              <p:nvPr/>
            </p:nvSpPr>
            <p:spPr>
              <a:xfrm>
                <a:off x="5157116" y="3928456"/>
                <a:ext cx="1662226" cy="2670589"/>
              </a:xfrm>
              <a:prstGeom prst="roundRect">
                <a:avLst>
                  <a:gd name="adj" fmla="val 10000"/>
                </a:avLst>
              </a:prstGeom>
              <a:effectLst>
                <a:outerShdw blurRad="63500" sx="102000" sy="102000" algn="ctr" rotWithShape="0">
                  <a:prstClr val="black">
                    <a:alpha val="40000"/>
                  </a:prstClr>
                </a:outerShdw>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285750" indent="-285750">
                  <a:buFont typeface="Arial" panose="020B0604020202020204" pitchFamily="34" charset="0"/>
                  <a:buChar char="•"/>
                </a:pPr>
                <a:endParaRPr lang="en-US" sz="1300" dirty="0"/>
              </a:p>
              <a:p>
                <a:pPr marL="285750" indent="-285750">
                  <a:buFont typeface="Arial" panose="020B0604020202020204" pitchFamily="34" charset="0"/>
                  <a:buChar char="•"/>
                </a:pPr>
                <a:r>
                  <a:rPr lang="en-US" sz="1300" dirty="0"/>
                  <a:t>Compute stress by a forward scheme.</a:t>
                </a:r>
              </a:p>
              <a:p>
                <a:pPr marL="285750" indent="-285750">
                  <a:buFont typeface="Arial" panose="020B0604020202020204" pitchFamily="34" charset="0"/>
                  <a:buChar char="•"/>
                </a:pPr>
                <a:r>
                  <a:rPr lang="en-US" sz="1300" dirty="0"/>
                  <a:t>Compute least square error.</a:t>
                </a:r>
              </a:p>
              <a:p>
                <a:pPr marL="285750" indent="-285750">
                  <a:buFont typeface="Arial" panose="020B0604020202020204" pitchFamily="34" charset="0"/>
                  <a:buChar char="•"/>
                </a:pPr>
                <a:r>
                  <a:rPr lang="en-US" sz="1300" dirty="0"/>
                  <a:t>Optimize using fmincon</a:t>
                </a:r>
                <a:r>
                  <a:rPr lang="en-US" sz="1400" dirty="0">
                    <a:latin typeface="Monospac821 BT" panose="020B0609020202020204" pitchFamily="49" charset="0"/>
                  </a:rPr>
                  <a:t> </a:t>
                </a:r>
                <a:r>
                  <a:rPr lang="en-US" sz="1300" dirty="0"/>
                  <a:t>on MATLAB</a:t>
                </a:r>
              </a:p>
              <a:p>
                <a:r>
                  <a:rPr lang="en-US" sz="1200" dirty="0"/>
                  <a:t> </a:t>
                </a:r>
              </a:p>
            </p:txBody>
          </p:sp>
        </p:grpSp>
        <p:grpSp>
          <p:nvGrpSpPr>
            <p:cNvPr id="18" name="Group 17">
              <a:extLst>
                <a:ext uri="{FF2B5EF4-FFF2-40B4-BE49-F238E27FC236}">
                  <a16:creationId xmlns:a16="http://schemas.microsoft.com/office/drawing/2014/main" id="{AF25CA71-8EFE-FFFA-A9EC-8F468D79C858}"/>
                </a:ext>
              </a:extLst>
            </p:cNvPr>
            <p:cNvGrpSpPr/>
            <p:nvPr/>
          </p:nvGrpSpPr>
          <p:grpSpPr>
            <a:xfrm>
              <a:off x="6552732" y="3397968"/>
              <a:ext cx="682494" cy="553840"/>
              <a:chOff x="2125887" y="-4773"/>
              <a:chExt cx="682494" cy="553840"/>
            </a:xfrm>
          </p:grpSpPr>
          <p:sp>
            <p:nvSpPr>
              <p:cNvPr id="26" name="Arrow: Right 4">
                <a:extLst>
                  <a:ext uri="{FF2B5EF4-FFF2-40B4-BE49-F238E27FC236}">
                    <a16:creationId xmlns:a16="http://schemas.microsoft.com/office/drawing/2014/main" id="{3DD3D43B-CE38-BE62-E27B-BAD15AB14ED4}"/>
                  </a:ext>
                </a:extLst>
              </p:cNvPr>
              <p:cNvSpPr txBox="1"/>
              <p:nvPr/>
            </p:nvSpPr>
            <p:spPr>
              <a:xfrm rot="25211">
                <a:off x="2125887" y="-4773"/>
                <a:ext cx="441172" cy="2413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p:txBody>
          </p:sp>
          <p:sp>
            <p:nvSpPr>
              <p:cNvPr id="25" name="Arrow: Right 24">
                <a:extLst>
                  <a:ext uri="{FF2B5EF4-FFF2-40B4-BE49-F238E27FC236}">
                    <a16:creationId xmlns:a16="http://schemas.microsoft.com/office/drawing/2014/main" id="{45579622-073B-A09C-D443-15A1D17E0DED}"/>
                  </a:ext>
                </a:extLst>
              </p:cNvPr>
              <p:cNvSpPr/>
              <p:nvPr/>
            </p:nvSpPr>
            <p:spPr>
              <a:xfrm>
                <a:off x="2246513" y="146747"/>
                <a:ext cx="561868" cy="402320"/>
              </a:xfrm>
              <a:prstGeom prst="rightArrow">
                <a:avLst>
                  <a:gd name="adj1" fmla="val 60000"/>
                  <a:gd name="adj2" fmla="val 50000"/>
                </a:avLst>
              </a:prstGeom>
              <a:effectLst>
                <a:outerShdw blurRad="63500" sx="102000" sy="102000" algn="ctr" rotWithShape="0">
                  <a:prstClr val="black">
                    <a:alpha val="40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grpSp>
        <p:grpSp>
          <p:nvGrpSpPr>
            <p:cNvPr id="19" name="Group 18">
              <a:extLst>
                <a:ext uri="{FF2B5EF4-FFF2-40B4-BE49-F238E27FC236}">
                  <a16:creationId xmlns:a16="http://schemas.microsoft.com/office/drawing/2014/main" id="{E882E4BD-9318-4724-30C9-60B81B808CC5}"/>
                </a:ext>
              </a:extLst>
            </p:cNvPr>
            <p:cNvGrpSpPr/>
            <p:nvPr/>
          </p:nvGrpSpPr>
          <p:grpSpPr>
            <a:xfrm>
              <a:off x="7296686" y="3292587"/>
              <a:ext cx="1602771" cy="737307"/>
              <a:chOff x="2907225" y="-98380"/>
              <a:chExt cx="1764841" cy="777464"/>
            </a:xfrm>
          </p:grpSpPr>
          <p:sp>
            <p:nvSpPr>
              <p:cNvPr id="23" name="Rectangle: Rounded Corners 22">
                <a:extLst>
                  <a:ext uri="{FF2B5EF4-FFF2-40B4-BE49-F238E27FC236}">
                    <a16:creationId xmlns:a16="http://schemas.microsoft.com/office/drawing/2014/main" id="{9647DAE5-E754-9475-6777-9CDC12F562C4}"/>
                  </a:ext>
                </a:extLst>
              </p:cNvPr>
              <p:cNvSpPr/>
              <p:nvPr/>
            </p:nvSpPr>
            <p:spPr>
              <a:xfrm>
                <a:off x="2907225" y="-98380"/>
                <a:ext cx="1764841" cy="77746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4" name="Rectangle: Rounded Corners 6">
                <a:extLst>
                  <a:ext uri="{FF2B5EF4-FFF2-40B4-BE49-F238E27FC236}">
                    <a16:creationId xmlns:a16="http://schemas.microsoft.com/office/drawing/2014/main" id="{4B6C29DF-2C01-386F-3FCC-615BD4D3359D}"/>
                  </a:ext>
                </a:extLst>
              </p:cNvPr>
              <p:cNvSpPr txBox="1"/>
              <p:nvPr/>
            </p:nvSpPr>
            <p:spPr>
              <a:xfrm>
                <a:off x="2928525" y="-88865"/>
                <a:ext cx="1664506" cy="488325"/>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92456" tIns="92456" rIns="92456" bIns="49530" numCol="1" spcCol="1270" anchor="t" anchorCtr="0">
                <a:noAutofit/>
              </a:bodyPr>
              <a:lstStyle/>
              <a:p>
                <a:pPr lvl="0" defTabSz="444500">
                  <a:lnSpc>
                    <a:spcPct val="90000"/>
                  </a:lnSpc>
                  <a:spcBef>
                    <a:spcPct val="0"/>
                  </a:spcBef>
                  <a:spcAft>
                    <a:spcPct val="35000"/>
                  </a:spcAft>
                </a:pPr>
                <a:r>
                  <a:rPr lang="en-US" sz="1400" dirty="0">
                    <a:effectLst>
                      <a:outerShdw blurRad="38100" dist="38100" dir="2700000" algn="tl">
                        <a:srgbClr val="000000">
                          <a:alpha val="43137"/>
                        </a:srgbClr>
                      </a:outerShdw>
                    </a:effectLst>
                  </a:rPr>
                  <a:t>Visualize</a:t>
                </a:r>
              </a:p>
            </p:txBody>
          </p:sp>
        </p:grpSp>
        <p:grpSp>
          <p:nvGrpSpPr>
            <p:cNvPr id="20" name="Group 19">
              <a:extLst>
                <a:ext uri="{FF2B5EF4-FFF2-40B4-BE49-F238E27FC236}">
                  <a16:creationId xmlns:a16="http://schemas.microsoft.com/office/drawing/2014/main" id="{62BA7144-87FD-C69D-61B3-4E294E4E3796}"/>
                </a:ext>
              </a:extLst>
            </p:cNvPr>
            <p:cNvGrpSpPr/>
            <p:nvPr/>
          </p:nvGrpSpPr>
          <p:grpSpPr>
            <a:xfrm>
              <a:off x="7439152" y="3919147"/>
              <a:ext cx="1959300" cy="2679898"/>
              <a:chOff x="3048913" y="599202"/>
              <a:chExt cx="2030402" cy="2679898"/>
            </a:xfrm>
          </p:grpSpPr>
          <p:sp>
            <p:nvSpPr>
              <p:cNvPr id="21" name="Rectangle: Rounded Corners 20">
                <a:extLst>
                  <a:ext uri="{FF2B5EF4-FFF2-40B4-BE49-F238E27FC236}">
                    <a16:creationId xmlns:a16="http://schemas.microsoft.com/office/drawing/2014/main" id="{6F33E92A-D6FC-255E-8E45-CF02367A0B69}"/>
                  </a:ext>
                </a:extLst>
              </p:cNvPr>
              <p:cNvSpPr/>
              <p:nvPr/>
            </p:nvSpPr>
            <p:spPr>
              <a:xfrm>
                <a:off x="3048913" y="599202"/>
                <a:ext cx="2030402" cy="2679898"/>
              </a:xfrm>
              <a:prstGeom prst="roundRect">
                <a:avLst>
                  <a:gd name="adj" fmla="val 10000"/>
                </a:avLst>
              </a:prstGeom>
              <a:effectLst>
                <a:outerShdw blurRad="63500" sx="102000" sy="102000" algn="ctr" rotWithShape="0">
                  <a:prstClr val="black">
                    <a:alpha val="40000"/>
                  </a:prstClr>
                </a:outerShdw>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Rectangle: Rounded Corners 8">
                <a:extLst>
                  <a:ext uri="{FF2B5EF4-FFF2-40B4-BE49-F238E27FC236}">
                    <a16:creationId xmlns:a16="http://schemas.microsoft.com/office/drawing/2014/main" id="{64065BF6-D7BE-64B8-2126-A55E0B73D788}"/>
                  </a:ext>
                </a:extLst>
              </p:cNvPr>
              <p:cNvSpPr txBox="1"/>
              <p:nvPr/>
            </p:nvSpPr>
            <p:spPr>
              <a:xfrm>
                <a:off x="3048913" y="785715"/>
                <a:ext cx="1911466" cy="212746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2456" tIns="92456" rIns="92456" bIns="92456" numCol="1" spcCol="1270" anchor="t" anchorCtr="0">
                <a:noAutofit/>
              </a:bodyPr>
              <a:lstStyle/>
              <a:p>
                <a:pPr marL="285750" indent="-285750">
                  <a:buFont typeface="Arial" panose="020B0604020202020204" pitchFamily="34" charset="0"/>
                  <a:buChar char="•"/>
                </a:pPr>
                <a:r>
                  <a:rPr lang="en-US" sz="1300" dirty="0"/>
                  <a:t>Output parameters and plot</a:t>
                </a:r>
              </a:p>
              <a:p>
                <a:r>
                  <a:rPr lang="en-US" sz="1200" dirty="0"/>
                  <a:t> </a:t>
                </a:r>
              </a:p>
            </p:txBody>
          </p:sp>
        </p:grpSp>
        <p:grpSp>
          <p:nvGrpSpPr>
            <p:cNvPr id="3" name="Group 2">
              <a:extLst>
                <a:ext uri="{FF2B5EF4-FFF2-40B4-BE49-F238E27FC236}">
                  <a16:creationId xmlns:a16="http://schemas.microsoft.com/office/drawing/2014/main" id="{D884B533-E3DB-F306-32D6-2875F2574261}"/>
                </a:ext>
              </a:extLst>
            </p:cNvPr>
            <p:cNvGrpSpPr/>
            <p:nvPr/>
          </p:nvGrpSpPr>
          <p:grpSpPr>
            <a:xfrm>
              <a:off x="9121789" y="3443380"/>
              <a:ext cx="576647" cy="494877"/>
              <a:chOff x="2107943" y="109578"/>
              <a:chExt cx="576647" cy="494877"/>
            </a:xfrm>
          </p:grpSpPr>
          <p:sp>
            <p:nvSpPr>
              <p:cNvPr id="5" name="Arrow: Right 4">
                <a:extLst>
                  <a:ext uri="{FF2B5EF4-FFF2-40B4-BE49-F238E27FC236}">
                    <a16:creationId xmlns:a16="http://schemas.microsoft.com/office/drawing/2014/main" id="{DAB71669-620A-6050-B4CF-24B6CB7F32D6}"/>
                  </a:ext>
                </a:extLst>
              </p:cNvPr>
              <p:cNvSpPr/>
              <p:nvPr/>
            </p:nvSpPr>
            <p:spPr>
              <a:xfrm>
                <a:off x="2122722" y="202135"/>
                <a:ext cx="561868" cy="402320"/>
              </a:xfrm>
              <a:prstGeom prst="rightArrow">
                <a:avLst>
                  <a:gd name="adj1" fmla="val 60000"/>
                  <a:gd name="adj2" fmla="val 50000"/>
                </a:avLst>
              </a:prstGeom>
              <a:effectLst>
                <a:outerShdw blurRad="63500" sx="102000" sy="102000" algn="ctr" rotWithShape="0">
                  <a:prstClr val="black">
                    <a:alpha val="40000"/>
                  </a:prstClr>
                </a:outerShdw>
              </a:effectLst>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6" name="Arrow: Right 4">
                <a:extLst>
                  <a:ext uri="{FF2B5EF4-FFF2-40B4-BE49-F238E27FC236}">
                    <a16:creationId xmlns:a16="http://schemas.microsoft.com/office/drawing/2014/main" id="{15679F83-513E-EBD2-D684-41F30B6C6E05}"/>
                  </a:ext>
                </a:extLst>
              </p:cNvPr>
              <p:cNvSpPr txBox="1"/>
              <p:nvPr/>
            </p:nvSpPr>
            <p:spPr>
              <a:xfrm>
                <a:off x="2107943" y="109578"/>
                <a:ext cx="441172" cy="2413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p:txBody>
          </p:sp>
        </p:grpSp>
        <p:grpSp>
          <p:nvGrpSpPr>
            <p:cNvPr id="7" name="Group 6">
              <a:extLst>
                <a:ext uri="{FF2B5EF4-FFF2-40B4-BE49-F238E27FC236}">
                  <a16:creationId xmlns:a16="http://schemas.microsoft.com/office/drawing/2014/main" id="{315C8D10-8A9B-67C7-BE45-22C2C95F95D6}"/>
                </a:ext>
              </a:extLst>
            </p:cNvPr>
            <p:cNvGrpSpPr/>
            <p:nvPr/>
          </p:nvGrpSpPr>
          <p:grpSpPr>
            <a:xfrm>
              <a:off x="9829964" y="3284343"/>
              <a:ext cx="1577402" cy="737305"/>
              <a:chOff x="2898755" y="-128840"/>
              <a:chExt cx="1664506" cy="832343"/>
            </a:xfrm>
          </p:grpSpPr>
          <p:sp>
            <p:nvSpPr>
              <p:cNvPr id="27" name="Rectangle: Rounded Corners 26">
                <a:extLst>
                  <a:ext uri="{FF2B5EF4-FFF2-40B4-BE49-F238E27FC236}">
                    <a16:creationId xmlns:a16="http://schemas.microsoft.com/office/drawing/2014/main" id="{9B8EB7BD-251C-4FEA-1022-EB91ED55D2D0}"/>
                  </a:ext>
                </a:extLst>
              </p:cNvPr>
              <p:cNvSpPr/>
              <p:nvPr/>
            </p:nvSpPr>
            <p:spPr>
              <a:xfrm>
                <a:off x="2898755" y="-128840"/>
                <a:ext cx="1664506" cy="832343"/>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8" name="Rectangle: Rounded Corners 6">
                <a:extLst>
                  <a:ext uri="{FF2B5EF4-FFF2-40B4-BE49-F238E27FC236}">
                    <a16:creationId xmlns:a16="http://schemas.microsoft.com/office/drawing/2014/main" id="{754B873B-2819-8273-9F5E-D4DD11A601B7}"/>
                  </a:ext>
                </a:extLst>
              </p:cNvPr>
              <p:cNvSpPr txBox="1"/>
              <p:nvPr/>
            </p:nvSpPr>
            <p:spPr>
              <a:xfrm>
                <a:off x="2898755" y="-80343"/>
                <a:ext cx="1664506" cy="716970"/>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400" kern="1200" dirty="0">
                    <a:effectLst>
                      <a:outerShdw blurRad="38100" dist="38100" dir="2700000" algn="tl">
                        <a:srgbClr val="000000">
                          <a:alpha val="43137"/>
                        </a:srgbClr>
                      </a:outerShdw>
                    </a:effectLst>
                  </a:rPr>
                  <a:t>Validate</a:t>
                </a:r>
              </a:p>
            </p:txBody>
          </p:sp>
        </p:grpSp>
        <p:grpSp>
          <p:nvGrpSpPr>
            <p:cNvPr id="29" name="Group 28">
              <a:extLst>
                <a:ext uri="{FF2B5EF4-FFF2-40B4-BE49-F238E27FC236}">
                  <a16:creationId xmlns:a16="http://schemas.microsoft.com/office/drawing/2014/main" id="{FFE36CDC-CF6B-9948-CDAE-1ADB5F3667BD}"/>
                </a:ext>
              </a:extLst>
            </p:cNvPr>
            <p:cNvGrpSpPr/>
            <p:nvPr/>
          </p:nvGrpSpPr>
          <p:grpSpPr>
            <a:xfrm>
              <a:off x="9980122" y="3886178"/>
              <a:ext cx="1959300" cy="2679898"/>
              <a:chOff x="3048913" y="633481"/>
              <a:chExt cx="2030402" cy="2679898"/>
            </a:xfrm>
          </p:grpSpPr>
          <p:sp>
            <p:nvSpPr>
              <p:cNvPr id="30" name="Rectangle: Rounded Corners 29">
                <a:extLst>
                  <a:ext uri="{FF2B5EF4-FFF2-40B4-BE49-F238E27FC236}">
                    <a16:creationId xmlns:a16="http://schemas.microsoft.com/office/drawing/2014/main" id="{5B980C62-CF35-5836-5FAE-49964D276630}"/>
                  </a:ext>
                </a:extLst>
              </p:cNvPr>
              <p:cNvSpPr/>
              <p:nvPr/>
            </p:nvSpPr>
            <p:spPr>
              <a:xfrm>
                <a:off x="3048913" y="633481"/>
                <a:ext cx="2030402" cy="2679898"/>
              </a:xfrm>
              <a:prstGeom prst="roundRect">
                <a:avLst>
                  <a:gd name="adj" fmla="val 10000"/>
                </a:avLst>
              </a:prstGeom>
              <a:effectLst>
                <a:outerShdw blurRad="63500" sx="102000" sy="102000" algn="ctr" rotWithShape="0">
                  <a:prstClr val="black">
                    <a:alpha val="40000"/>
                  </a:prstClr>
                </a:outerShdw>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1" name="Rectangle: Rounded Corners 8">
                <a:extLst>
                  <a:ext uri="{FF2B5EF4-FFF2-40B4-BE49-F238E27FC236}">
                    <a16:creationId xmlns:a16="http://schemas.microsoft.com/office/drawing/2014/main" id="{6926A5CA-AF2F-4C42-BE77-83B2B46232FC}"/>
                  </a:ext>
                </a:extLst>
              </p:cNvPr>
              <p:cNvSpPr txBox="1"/>
              <p:nvPr/>
            </p:nvSpPr>
            <p:spPr>
              <a:xfrm>
                <a:off x="3108380" y="727747"/>
                <a:ext cx="1911466" cy="212746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Compare experimental data plots with mathematical models’ </a:t>
                </a:r>
              </a:p>
            </p:txBody>
          </p:sp>
        </p:grpSp>
      </p:grpSp>
      <p:sp>
        <p:nvSpPr>
          <p:cNvPr id="2" name="Rectangle 1">
            <a:extLst>
              <a:ext uri="{FF2B5EF4-FFF2-40B4-BE49-F238E27FC236}">
                <a16:creationId xmlns:a16="http://schemas.microsoft.com/office/drawing/2014/main" id="{5FAFA1DD-213B-80C1-817F-AA4A397F2639}"/>
              </a:ext>
            </a:extLst>
          </p:cNvPr>
          <p:cNvSpPr/>
          <p:nvPr/>
        </p:nvSpPr>
        <p:spPr>
          <a:xfrm>
            <a:off x="195261" y="1669825"/>
            <a:ext cx="11801475" cy="10646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1600" b="1" dirty="0"/>
              <a:t>Calibration</a:t>
            </a:r>
            <a:r>
              <a:rPr lang="en-US" sz="1600" dirty="0"/>
              <a:t>: MATLAB  </a:t>
            </a:r>
            <a:r>
              <a:rPr lang="en-US" sz="1600" dirty="0">
                <a:latin typeface="Monospac821 BT" panose="020B0609020202020204" pitchFamily="49" charset="0"/>
              </a:rPr>
              <a:t>fmincon (</a:t>
            </a:r>
            <a:r>
              <a:rPr lang="en-US" sz="1600" dirty="0"/>
              <a:t>Interior-Point Method)</a:t>
            </a:r>
          </a:p>
          <a:p>
            <a:r>
              <a:rPr lang="en-US" sz="1600" b="1" dirty="0"/>
              <a:t>Objective function</a:t>
            </a:r>
            <a:r>
              <a:rPr lang="en-US" sz="1600" dirty="0"/>
              <a:t>: Least Square Error</a:t>
            </a:r>
          </a:p>
          <a:p>
            <a:r>
              <a:rPr lang="en-US" sz="1600" b="1" dirty="0"/>
              <a:t>Data smoothening</a:t>
            </a:r>
            <a:r>
              <a:rPr lang="en-US" sz="1600" dirty="0"/>
              <a:t>: Moving average (5)</a:t>
            </a:r>
          </a:p>
        </p:txBody>
      </p:sp>
      <p:sp>
        <p:nvSpPr>
          <p:cNvPr id="32" name="Rectangle 31">
            <a:extLst>
              <a:ext uri="{FF2B5EF4-FFF2-40B4-BE49-F238E27FC236}">
                <a16:creationId xmlns:a16="http://schemas.microsoft.com/office/drawing/2014/main" id="{FB49B116-3EE4-C5BA-1714-6C031F78D9FB}"/>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9</a:t>
            </a:r>
          </a:p>
        </p:txBody>
      </p:sp>
      <p:sp>
        <p:nvSpPr>
          <p:cNvPr id="33" name="TextBox 32">
            <a:extLst>
              <a:ext uri="{FF2B5EF4-FFF2-40B4-BE49-F238E27FC236}">
                <a16:creationId xmlns:a16="http://schemas.microsoft.com/office/drawing/2014/main" id="{75780DD4-D2A3-0A92-A555-B9789AFA7470}"/>
              </a:ext>
            </a:extLst>
          </p:cNvPr>
          <p:cNvSpPr txBox="1"/>
          <p:nvPr/>
        </p:nvSpPr>
        <p:spPr>
          <a:xfrm>
            <a:off x="10713721" y="518751"/>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16221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1D481-D264-A49A-D20D-5E9B7A2B6C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C88D9B-F99E-6592-6815-9E85E5F357BF}"/>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Empirical Models - Results</a:t>
            </a:r>
          </a:p>
        </p:txBody>
      </p:sp>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B4928B2A-6D26-A37C-24D7-C3E1AC928F6E}"/>
                  </a:ext>
                </a:extLst>
              </p:cNvPr>
              <p:cNvGraphicFramePr/>
              <p:nvPr>
                <p:extLst>
                  <p:ext uri="{D42A27DB-BD31-4B8C-83A1-F6EECF244321}">
                    <p14:modId xmlns:p14="http://schemas.microsoft.com/office/powerpoint/2010/main" val="3268567457"/>
                  </p:ext>
                </p:extLst>
              </p:nvPr>
            </p:nvGraphicFramePr>
            <p:xfrm>
              <a:off x="-23642" y="1028609"/>
              <a:ext cx="5615663" cy="5635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10" name="Diagram 9">
                <a:extLst>
                  <a:ext uri="{FF2B5EF4-FFF2-40B4-BE49-F238E27FC236}">
                    <a16:creationId xmlns:a16="http://schemas.microsoft.com/office/drawing/2014/main" id="{B4928B2A-6D26-A37C-24D7-C3E1AC928F6E}"/>
                  </a:ext>
                </a:extLst>
              </p:cNvPr>
              <p:cNvGraphicFramePr/>
              <p:nvPr>
                <p:extLst>
                  <p:ext uri="{D42A27DB-BD31-4B8C-83A1-F6EECF244321}">
                    <p14:modId xmlns:p14="http://schemas.microsoft.com/office/powerpoint/2010/main" val="3268567457"/>
                  </p:ext>
                </p:extLst>
              </p:nvPr>
            </p:nvGraphicFramePr>
            <p:xfrm>
              <a:off x="-23642" y="1028609"/>
              <a:ext cx="5615663" cy="563520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mc:AlternateContent xmlns:mc="http://schemas.openxmlformats.org/markup-compatibility/2006" xmlns:a14="http://schemas.microsoft.com/office/drawing/2010/main">
        <mc:Choice Requires="a14">
          <p:graphicFrame>
            <p:nvGraphicFramePr>
              <p:cNvPr id="11" name="Diagram 10">
                <a:extLst>
                  <a:ext uri="{FF2B5EF4-FFF2-40B4-BE49-F238E27FC236}">
                    <a16:creationId xmlns:a16="http://schemas.microsoft.com/office/drawing/2014/main" id="{9E367C58-C20E-B9F9-CB97-62443827E575}"/>
                  </a:ext>
                </a:extLst>
              </p:cNvPr>
              <p:cNvGraphicFramePr/>
              <p:nvPr>
                <p:extLst>
                  <p:ext uri="{D42A27DB-BD31-4B8C-83A1-F6EECF244321}">
                    <p14:modId xmlns:p14="http://schemas.microsoft.com/office/powerpoint/2010/main" val="3293280667"/>
                  </p:ext>
                </p:extLst>
              </p:nvPr>
            </p:nvGraphicFramePr>
            <p:xfrm>
              <a:off x="5785161" y="1034176"/>
              <a:ext cx="6228788" cy="555873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Choice>
        <mc:Fallback xmlns="">
          <p:graphicFrame>
            <p:nvGraphicFramePr>
              <p:cNvPr id="11" name="Diagram 10">
                <a:extLst>
                  <a:ext uri="{FF2B5EF4-FFF2-40B4-BE49-F238E27FC236}">
                    <a16:creationId xmlns:a16="http://schemas.microsoft.com/office/drawing/2014/main" id="{9E367C58-C20E-B9F9-CB97-62443827E575}"/>
                  </a:ext>
                </a:extLst>
              </p:cNvPr>
              <p:cNvGraphicFramePr/>
              <p:nvPr>
                <p:extLst>
                  <p:ext uri="{D42A27DB-BD31-4B8C-83A1-F6EECF244321}">
                    <p14:modId xmlns:p14="http://schemas.microsoft.com/office/powerpoint/2010/main" val="3293280667"/>
                  </p:ext>
                </p:extLst>
              </p:nvPr>
            </p:nvGraphicFramePr>
            <p:xfrm>
              <a:off x="5785161" y="1034176"/>
              <a:ext cx="6228788" cy="5558732"/>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Fallback>
      </mc:AlternateContent>
      <p:cxnSp>
        <p:nvCxnSpPr>
          <p:cNvPr id="13" name="Straight Connector 12">
            <a:extLst>
              <a:ext uri="{FF2B5EF4-FFF2-40B4-BE49-F238E27FC236}">
                <a16:creationId xmlns:a16="http://schemas.microsoft.com/office/drawing/2014/main" id="{F87F8EA3-D59E-0AAB-C5D6-D23C13424ECF}"/>
              </a:ext>
            </a:extLst>
          </p:cNvPr>
          <p:cNvCxnSpPr/>
          <p:nvPr/>
        </p:nvCxnSpPr>
        <p:spPr>
          <a:xfrm>
            <a:off x="5619181" y="1826536"/>
            <a:ext cx="0" cy="3693814"/>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258B5788-B530-A659-89CB-42F825BCB66A}"/>
              </a:ext>
            </a:extLst>
          </p:cNvPr>
          <p:cNvCxnSpPr/>
          <p:nvPr/>
        </p:nvCxnSpPr>
        <p:spPr>
          <a:xfrm>
            <a:off x="5392845" y="1980445"/>
            <a:ext cx="36515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F82D0489-74FA-CCBA-CF0F-0C42189E27C6}"/>
              </a:ext>
            </a:extLst>
          </p:cNvPr>
          <p:cNvCxnSpPr/>
          <p:nvPr/>
        </p:nvCxnSpPr>
        <p:spPr>
          <a:xfrm>
            <a:off x="5436603" y="5346825"/>
            <a:ext cx="36515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62592632-8DAC-E7B9-0004-A86D04585CFB}"/>
              </a:ext>
            </a:extLst>
          </p:cNvPr>
          <p:cNvCxnSpPr>
            <a:cxnSpLocks/>
          </p:cNvCxnSpPr>
          <p:nvPr/>
        </p:nvCxnSpPr>
        <p:spPr>
          <a:xfrm>
            <a:off x="5436603" y="3880163"/>
            <a:ext cx="84650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 name="Rectangle 1">
            <a:extLst>
              <a:ext uri="{FF2B5EF4-FFF2-40B4-BE49-F238E27FC236}">
                <a16:creationId xmlns:a16="http://schemas.microsoft.com/office/drawing/2014/main" id="{A4B45254-CB5F-4507-744A-6A1325A50023}"/>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10</a:t>
            </a:r>
          </a:p>
        </p:txBody>
      </p:sp>
      <p:sp>
        <p:nvSpPr>
          <p:cNvPr id="3" name="TextBox 2">
            <a:extLst>
              <a:ext uri="{FF2B5EF4-FFF2-40B4-BE49-F238E27FC236}">
                <a16:creationId xmlns:a16="http://schemas.microsoft.com/office/drawing/2014/main" id="{BB7B6A99-E37A-C660-355C-BCBD909A194C}"/>
              </a:ext>
            </a:extLst>
          </p:cNvPr>
          <p:cNvSpPr txBox="1"/>
          <p:nvPr/>
        </p:nvSpPr>
        <p:spPr>
          <a:xfrm>
            <a:off x="11132101" y="547918"/>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3634290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12B92-4AD3-F757-FC8B-9EA0E536A0E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19FAF99-DE33-5047-E201-251118566065}"/>
              </a:ext>
            </a:extLst>
          </p:cNvPr>
          <p:cNvPicPr>
            <a:picLocks noChangeAspect="1"/>
          </p:cNvPicPr>
          <p:nvPr/>
        </p:nvPicPr>
        <p:blipFill>
          <a:blip r:embed="rId2">
            <a:alphaModFix amt="20000"/>
          </a:blip>
          <a:stretch>
            <a:fillRect/>
          </a:stretch>
        </p:blipFill>
        <p:spPr>
          <a:xfrm>
            <a:off x="552450" y="1969171"/>
            <a:ext cx="5835298" cy="4786558"/>
          </a:xfrm>
          <a:prstGeom prst="rect">
            <a:avLst/>
          </a:prstGeom>
        </p:spPr>
      </p:pic>
      <p:sp>
        <p:nvSpPr>
          <p:cNvPr id="4" name="Rectangle 3">
            <a:extLst>
              <a:ext uri="{FF2B5EF4-FFF2-40B4-BE49-F238E27FC236}">
                <a16:creationId xmlns:a16="http://schemas.microsoft.com/office/drawing/2014/main" id="{B232BEDF-D3CE-C2D0-5A11-D3C17909E848}"/>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a:effectLst>
                  <a:outerShdw blurRad="38100" dist="38100" dir="2700000" algn="tl">
                    <a:srgbClr val="000000">
                      <a:alpha val="43137"/>
                    </a:srgbClr>
                  </a:outerShdw>
                </a:effectLst>
                <a:cs typeface="Arial" panose="020B0604020202020204" pitchFamily="34" charset="0"/>
              </a:rPr>
              <a:t>Empirical Models</a:t>
            </a:r>
            <a:endParaRPr lang="en-US" sz="4000" dirty="0">
              <a:effectLst>
                <a:outerShdw blurRad="38100" dist="38100" dir="2700000" algn="tl">
                  <a:srgbClr val="000000">
                    <a:alpha val="43137"/>
                  </a:srgbClr>
                </a:outerShdw>
              </a:effectLst>
              <a:cs typeface="Arial" panose="020B0604020202020204" pitchFamily="34" charset="0"/>
            </a:endParaRPr>
          </a:p>
        </p:txBody>
      </p:sp>
      <p:graphicFrame>
        <p:nvGraphicFramePr>
          <p:cNvPr id="2" name="Diagram 1">
            <a:extLst>
              <a:ext uri="{FF2B5EF4-FFF2-40B4-BE49-F238E27FC236}">
                <a16:creationId xmlns:a16="http://schemas.microsoft.com/office/drawing/2014/main" id="{0453CD79-CEE8-3E71-554D-56C16A1A4DEF}"/>
              </a:ext>
            </a:extLst>
          </p:cNvPr>
          <p:cNvGraphicFramePr/>
          <p:nvPr>
            <p:extLst>
              <p:ext uri="{D42A27DB-BD31-4B8C-83A1-F6EECF244321}">
                <p14:modId xmlns:p14="http://schemas.microsoft.com/office/powerpoint/2010/main" val="313870671"/>
              </p:ext>
            </p:extLst>
          </p:nvPr>
        </p:nvGraphicFramePr>
        <p:xfrm>
          <a:off x="552450" y="942975"/>
          <a:ext cx="11306175" cy="2486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A graph of a graph&#10;&#10;AI-generated content may be incorrect.">
            <a:extLst>
              <a:ext uri="{FF2B5EF4-FFF2-40B4-BE49-F238E27FC236}">
                <a16:creationId xmlns:a16="http://schemas.microsoft.com/office/drawing/2014/main" id="{B9C6737D-9098-46C4-6936-43963781C04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78195" y="1969171"/>
            <a:ext cx="7043548" cy="4710496"/>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B9F6937-12F7-76FA-70FE-00BD4EE52FA5}"/>
                  </a:ext>
                </a:extLst>
              </p:cNvPr>
              <p:cNvSpPr/>
              <p:nvPr/>
            </p:nvSpPr>
            <p:spPr>
              <a:xfrm>
                <a:off x="7495088" y="6468956"/>
                <a:ext cx="1810322" cy="286773"/>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solidFill>
                    <a:schemeClr val="bg2">
                      <a:lumMod val="25000"/>
                    </a:schemeClr>
                  </a:solidFill>
                </a:endParaRPr>
              </a:p>
              <a:p>
                <a:pPr algn="ctr"/>
                <a:r>
                  <a:rPr lang="en-US" sz="1050" dirty="0">
                    <a:solidFill>
                      <a:schemeClr val="bg2">
                        <a:lumMod val="25000"/>
                      </a:schemeClr>
                    </a:solidFill>
                  </a:rPr>
                  <a:t>Total Strain, </a:t>
                </a:r>
                <a14:m>
                  <m:oMath xmlns:m="http://schemas.openxmlformats.org/officeDocument/2006/math">
                    <m:sSub>
                      <m:sSubPr>
                        <m:ctrlPr>
                          <a:rPr lang="en-US" sz="1050" b="0" i="1" smtClean="0">
                            <a:solidFill>
                              <a:schemeClr val="bg2">
                                <a:lumMod val="25000"/>
                              </a:schemeClr>
                            </a:solidFill>
                            <a:latin typeface="Cambria Math" panose="02040503050406030204" pitchFamily="18" charset="0"/>
                            <a:ea typeface="Cambria Math" panose="02040503050406030204" pitchFamily="18" charset="0"/>
                          </a:rPr>
                        </m:ctrlPr>
                      </m:sSubPr>
                      <m:e>
                        <m:r>
                          <a:rPr lang="en-US" sz="1050" i="1">
                            <a:solidFill>
                              <a:schemeClr val="bg2">
                                <a:lumMod val="25000"/>
                              </a:schemeClr>
                            </a:solidFill>
                            <a:latin typeface="Cambria Math" panose="02040503050406030204" pitchFamily="18" charset="0"/>
                            <a:ea typeface="Cambria Math" panose="02040503050406030204" pitchFamily="18" charset="0"/>
                          </a:rPr>
                          <m:t>𝜀</m:t>
                        </m:r>
                      </m:e>
                      <m:sub>
                        <m:r>
                          <a:rPr lang="en-US" sz="1050" b="0" i="1" smtClean="0">
                            <a:solidFill>
                              <a:schemeClr val="bg2">
                                <a:lumMod val="25000"/>
                              </a:schemeClr>
                            </a:solidFill>
                            <a:latin typeface="Cambria Math" panose="02040503050406030204" pitchFamily="18" charset="0"/>
                            <a:ea typeface="Cambria Math" panose="02040503050406030204" pitchFamily="18" charset="0"/>
                          </a:rPr>
                          <m:t>11</m:t>
                        </m:r>
                      </m:sub>
                    </m:sSub>
                  </m:oMath>
                </a14:m>
                <a:endParaRPr lang="en-US" sz="1050" dirty="0">
                  <a:solidFill>
                    <a:schemeClr val="bg2">
                      <a:lumMod val="25000"/>
                    </a:schemeClr>
                  </a:solidFill>
                </a:endParaRPr>
              </a:p>
              <a:p>
                <a:pPr algn="ctr"/>
                <a:r>
                  <a:rPr lang="en-US" sz="1050" dirty="0">
                    <a:solidFill>
                      <a:schemeClr val="bg2">
                        <a:lumMod val="25000"/>
                      </a:schemeClr>
                    </a:solidFill>
                  </a:rPr>
                  <a:t> </a:t>
                </a:r>
              </a:p>
            </p:txBody>
          </p:sp>
        </mc:Choice>
        <mc:Fallback xmlns="">
          <p:sp>
            <p:nvSpPr>
              <p:cNvPr id="3" name="Rectangle 2">
                <a:extLst>
                  <a:ext uri="{FF2B5EF4-FFF2-40B4-BE49-F238E27FC236}">
                    <a16:creationId xmlns:a16="http://schemas.microsoft.com/office/drawing/2014/main" id="{AB9F6937-12F7-76FA-70FE-00BD4EE52FA5}"/>
                  </a:ext>
                </a:extLst>
              </p:cNvPr>
              <p:cNvSpPr>
                <a:spLocks noRot="1" noChangeAspect="1" noMove="1" noResize="1" noEditPoints="1" noAdjustHandles="1" noChangeArrowheads="1" noChangeShapeType="1" noTextEdit="1"/>
              </p:cNvSpPr>
              <p:nvPr/>
            </p:nvSpPr>
            <p:spPr>
              <a:xfrm>
                <a:off x="7495088" y="6468956"/>
                <a:ext cx="1810322" cy="286773"/>
              </a:xfrm>
              <a:prstGeom prst="rect">
                <a:avLst/>
              </a:prstGeom>
              <a:blipFill>
                <a:blip r:embed="rId9"/>
                <a:stretch>
                  <a:fillRect b="-851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8606E51-E743-217E-A27F-BC33CAB9EBB3}"/>
                  </a:ext>
                </a:extLst>
              </p:cNvPr>
              <p:cNvSpPr/>
              <p:nvPr/>
            </p:nvSpPr>
            <p:spPr>
              <a:xfrm rot="16200000">
                <a:off x="4004374" y="4113261"/>
                <a:ext cx="1672046" cy="324400"/>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solidFill>
                      <a:schemeClr val="tx1">
                        <a:lumMod val="85000"/>
                        <a:lumOff val="15000"/>
                      </a:schemeClr>
                    </a:solidFill>
                  </a:rPr>
                  <a:t>Stress, </a:t>
                </a:r>
                <a14:m>
                  <m:oMath xmlns:m="http://schemas.openxmlformats.org/officeDocument/2006/math">
                    <m:r>
                      <a:rPr lang="en-US" sz="1200" b="0" i="1" dirty="0" smtClean="0">
                        <a:solidFill>
                          <a:schemeClr val="tx1">
                            <a:lumMod val="85000"/>
                            <a:lumOff val="15000"/>
                          </a:schemeClr>
                        </a:solidFill>
                        <a:latin typeface="Cambria Math" panose="02040503050406030204" pitchFamily="18" charset="0"/>
                      </a:rPr>
                      <m:t>𝜎</m:t>
                    </m:r>
                    <m:r>
                      <a:rPr lang="en-US" sz="1200" b="0" i="1" dirty="0" smtClean="0">
                        <a:solidFill>
                          <a:schemeClr val="tx1">
                            <a:lumMod val="85000"/>
                            <a:lumOff val="15000"/>
                          </a:schemeClr>
                        </a:solidFill>
                        <a:latin typeface="Cambria Math" panose="02040503050406030204" pitchFamily="18" charset="0"/>
                      </a:rPr>
                      <m:t>11</m:t>
                    </m:r>
                  </m:oMath>
                </a14:m>
                <a:r>
                  <a:rPr lang="en-US" sz="1200" dirty="0">
                    <a:solidFill>
                      <a:schemeClr val="tx1">
                        <a:lumMod val="85000"/>
                        <a:lumOff val="15000"/>
                      </a:schemeClr>
                    </a:solidFill>
                  </a:rPr>
                  <a:t> [MPa]</a:t>
                </a:r>
              </a:p>
            </p:txBody>
          </p:sp>
        </mc:Choice>
        <mc:Fallback xmlns="">
          <p:sp>
            <p:nvSpPr>
              <p:cNvPr id="5" name="Rectangle 4">
                <a:extLst>
                  <a:ext uri="{FF2B5EF4-FFF2-40B4-BE49-F238E27FC236}">
                    <a16:creationId xmlns:a16="http://schemas.microsoft.com/office/drawing/2014/main" id="{18606E51-E743-217E-A27F-BC33CAB9EBB3}"/>
                  </a:ext>
                </a:extLst>
              </p:cNvPr>
              <p:cNvSpPr>
                <a:spLocks noRot="1" noChangeAspect="1" noMove="1" noResize="1" noEditPoints="1" noAdjustHandles="1" noChangeArrowheads="1" noChangeShapeType="1" noTextEdit="1"/>
              </p:cNvSpPr>
              <p:nvPr/>
            </p:nvSpPr>
            <p:spPr>
              <a:xfrm rot="16200000">
                <a:off x="4004374" y="4113261"/>
                <a:ext cx="1672046" cy="324400"/>
              </a:xfrm>
              <a:prstGeom prst="rect">
                <a:avLst/>
              </a:prstGeom>
              <a:blipFill>
                <a:blip r:embed="rId10"/>
                <a:stretch>
                  <a:fillRect r="-7407"/>
                </a:stretch>
              </a:blipFill>
              <a:ln>
                <a:noFill/>
              </a:ln>
            </p:spPr>
            <p:txBody>
              <a:bodyPr/>
              <a:lstStyle/>
              <a:p>
                <a:r>
                  <a:rPr lang="en-US">
                    <a:noFill/>
                  </a:rPr>
                  <a:t> </a:t>
                </a:r>
              </a:p>
            </p:txBody>
          </p:sp>
        </mc:Fallback>
      </mc:AlternateContent>
      <p:sp>
        <p:nvSpPr>
          <p:cNvPr id="7" name="Rectangle 6">
            <a:extLst>
              <a:ext uri="{FF2B5EF4-FFF2-40B4-BE49-F238E27FC236}">
                <a16:creationId xmlns:a16="http://schemas.microsoft.com/office/drawing/2014/main" id="{976B11DD-CB77-F8D5-4663-48350F8B5A41}"/>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11</a:t>
            </a:r>
          </a:p>
        </p:txBody>
      </p:sp>
      <p:sp>
        <p:nvSpPr>
          <p:cNvPr id="9" name="TextBox 8">
            <a:extLst>
              <a:ext uri="{FF2B5EF4-FFF2-40B4-BE49-F238E27FC236}">
                <a16:creationId xmlns:a16="http://schemas.microsoft.com/office/drawing/2014/main" id="{937CF129-579F-52B3-A69D-C4BF8BEC4CD7}"/>
              </a:ext>
            </a:extLst>
          </p:cNvPr>
          <p:cNvSpPr txBox="1"/>
          <p:nvPr/>
        </p:nvSpPr>
        <p:spPr>
          <a:xfrm>
            <a:off x="11132101" y="547918"/>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333687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F82CC-51D9-D015-9D6E-7B1765233BD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374631-14D0-1AAB-B319-5C020F6FE74B}"/>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err="1">
                <a:effectLst>
                  <a:outerShdw blurRad="38100" dist="38100" dir="2700000" algn="tl">
                    <a:srgbClr val="000000">
                      <a:alpha val="43137"/>
                    </a:srgbClr>
                  </a:outerShdw>
                </a:effectLst>
                <a:cs typeface="Arial" panose="020B0604020202020204" pitchFamily="34" charset="0"/>
              </a:rPr>
              <a:t>Chaboche</a:t>
            </a:r>
            <a:r>
              <a:rPr lang="en-US" sz="4000" dirty="0">
                <a:effectLst>
                  <a:outerShdw blurRad="38100" dist="38100" dir="2700000" algn="tl">
                    <a:srgbClr val="000000">
                      <a:alpha val="43137"/>
                    </a:srgbClr>
                  </a:outerShdw>
                </a:effectLst>
                <a:cs typeface="Arial" panose="020B0604020202020204" pitchFamily="34" charset="0"/>
              </a:rPr>
              <a:t> Model: Theory &amp; Calibration</a:t>
            </a:r>
          </a:p>
        </p:txBody>
      </p:sp>
      <p:pic>
        <p:nvPicPr>
          <p:cNvPr id="3" name="Picture 2">
            <a:extLst>
              <a:ext uri="{FF2B5EF4-FFF2-40B4-BE49-F238E27FC236}">
                <a16:creationId xmlns:a16="http://schemas.microsoft.com/office/drawing/2014/main" id="{AC39DA90-1CF0-1BC7-1EE3-D7AC5F97181A}"/>
              </a:ext>
            </a:extLst>
          </p:cNvPr>
          <p:cNvPicPr>
            <a:picLocks noChangeAspect="1"/>
          </p:cNvPicPr>
          <p:nvPr/>
        </p:nvPicPr>
        <p:blipFill>
          <a:blip r:embed="rId2"/>
          <a:stretch>
            <a:fillRect/>
          </a:stretch>
        </p:blipFill>
        <p:spPr>
          <a:xfrm>
            <a:off x="5651782" y="916378"/>
            <a:ext cx="5969395" cy="5682495"/>
          </a:xfrm>
          <a:prstGeom prst="rect">
            <a:avLst/>
          </a:prstGeom>
        </p:spPr>
      </p:pic>
      <p:sp>
        <p:nvSpPr>
          <p:cNvPr id="6" name="TextBox 5">
            <a:extLst>
              <a:ext uri="{FF2B5EF4-FFF2-40B4-BE49-F238E27FC236}">
                <a16:creationId xmlns:a16="http://schemas.microsoft.com/office/drawing/2014/main" id="{9B4F2018-D414-6990-7FEB-4872BBA5AA9A}"/>
              </a:ext>
            </a:extLst>
          </p:cNvPr>
          <p:cNvSpPr txBox="1"/>
          <p:nvPr/>
        </p:nvSpPr>
        <p:spPr>
          <a:xfrm>
            <a:off x="9234283" y="6488668"/>
            <a:ext cx="2025383" cy="369332"/>
          </a:xfrm>
          <a:prstGeom prst="rect">
            <a:avLst/>
          </a:prstGeom>
          <a:noFill/>
        </p:spPr>
        <p:txBody>
          <a:bodyPr wrap="square">
            <a:spAutoFit/>
          </a:bodyPr>
          <a:lstStyle/>
          <a:p>
            <a:r>
              <a:rPr lang="en-US" i="1" dirty="0"/>
              <a:t>(S. Liu, et al., 2019)</a:t>
            </a:r>
          </a:p>
        </p:txBody>
      </p:sp>
      <mc:AlternateContent xmlns:mc="http://schemas.openxmlformats.org/markup-compatibility/2006" xmlns:a14="http://schemas.microsoft.com/office/drawing/2010/main">
        <mc:Choice Requires="a14">
          <p:sp>
            <p:nvSpPr>
              <p:cNvPr id="7" name="Rectangle 4">
                <a:extLst>
                  <a:ext uri="{FF2B5EF4-FFF2-40B4-BE49-F238E27FC236}">
                    <a16:creationId xmlns:a16="http://schemas.microsoft.com/office/drawing/2014/main" id="{4F9DE22C-1B10-A3C9-E6D9-D288B0AD39F6}"/>
                  </a:ext>
                </a:extLst>
              </p:cNvPr>
              <p:cNvSpPr>
                <a:spLocks noChangeArrowheads="1"/>
              </p:cNvSpPr>
              <p:nvPr/>
            </p:nvSpPr>
            <p:spPr bwMode="auto">
              <a:xfrm>
                <a:off x="685799" y="1508751"/>
                <a:ext cx="4381501" cy="4415761"/>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a:lnSpc>
                    <a:spcPct val="150000"/>
                  </a:lnSpc>
                  <a:buNone/>
                </a:pPr>
                <a:r>
                  <a:rPr lang="en-US" b="1" dirty="0"/>
                  <a:t>Chaboche Equation (Simplified)</a:t>
                </a:r>
              </a:p>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pt-BR" sz="1600" dirty="0"/>
                  <a:t>Yield condition:	</a:t>
                </a:r>
              </a:p>
              <a:p>
                <a:pPr marL="0" marR="0" lvl="0" indent="0" defTabSz="914400" eaLnBrk="1" fontAlgn="auto" latinLnBrk="0" hangingPunct="1">
                  <a:lnSpc>
                    <a:spcPct val="150000"/>
                  </a:lnSpc>
                  <a:spcBef>
                    <a:spcPts val="0"/>
                  </a:spcBef>
                  <a:spcAft>
                    <a:spcPts val="0"/>
                  </a:spcAft>
                  <a:buClrTx/>
                  <a:buSzTx/>
                  <a:buFontTx/>
                  <a:buNone/>
                  <a:tabLst/>
                  <a:defRPr/>
                </a:pPr>
                <a:r>
                  <a:rPr lang="pt-BR" sz="1600" dirty="0"/>
                  <a:t> 	</a:t>
                </a:r>
                <a:r>
                  <a:rPr lang="pt-BR" sz="1600" i="1" dirty="0"/>
                  <a:t>f</a:t>
                </a:r>
                <a:r>
                  <a:rPr lang="pt-BR" sz="1600" dirty="0"/>
                  <a:t>(σ,X,R) = ∣σ − X∣ − (σy​ + R) = 0</a:t>
                </a:r>
              </a:p>
              <a:p>
                <a:pPr marL="0" marR="0" lvl="0" indent="0" defTabSz="914400" eaLnBrk="1" fontAlgn="auto" latinLnBrk="0" hangingPunct="1">
                  <a:lnSpc>
                    <a:spcPct val="150000"/>
                  </a:lnSpc>
                  <a:spcBef>
                    <a:spcPts val="0"/>
                  </a:spcBef>
                  <a:spcAft>
                    <a:spcPts val="0"/>
                  </a:spcAft>
                  <a:buClrTx/>
                  <a:buSzTx/>
                  <a:buFontTx/>
                  <a:buNone/>
                  <a:tabLst/>
                  <a:defRPr/>
                </a:pPr>
                <a:endParaRPr lang="pt-BR" sz="1600" dirty="0"/>
              </a:p>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dirty="0"/>
                  <a:t>Isotropic hardening: </a:t>
                </a:r>
              </a:p>
              <a:p>
                <a:pPr marR="0" lvl="0" algn="ctr" defTabSz="914400" eaLnBrk="1" fontAlgn="auto" latinLnBrk="0" hangingPunct="1">
                  <a:lnSpc>
                    <a:spcPct val="150000"/>
                  </a:lnSpc>
                  <a:spcBef>
                    <a:spcPts val="0"/>
                  </a:spcBef>
                  <a:spcAft>
                    <a:spcPts val="0"/>
                  </a:spcAft>
                  <a:buClrTx/>
                  <a:buSzTx/>
                  <a:tabLst/>
                  <a:defRPr/>
                </a:pPr>
                <a14:m>
                  <m:oMath xmlns:m="http://schemas.openxmlformats.org/officeDocument/2006/math">
                    <m:r>
                      <a:rPr lang="en-US" sz="1600" b="0" i="1" smtClean="0">
                        <a:latin typeface="Cambria Math" panose="02040503050406030204" pitchFamily="18" charset="0"/>
                      </a:rPr>
                      <m:t>𝑅</m:t>
                    </m:r>
                    <m:d>
                      <m:dPr>
                        <m:ctrlPr>
                          <a:rPr lang="en-US" sz="1600" b="0" i="1" smtClean="0">
                            <a:latin typeface="Cambria Math" panose="02040503050406030204" pitchFamily="18" charset="0"/>
                          </a:rPr>
                        </m:ctrlPr>
                      </m:dPr>
                      <m:e>
                        <m:sSup>
                          <m:sSupPr>
                            <m:ctrlPr>
                              <a:rPr lang="en-US" sz="1600" i="1">
                                <a:latin typeface="Cambria Math" panose="02040503050406030204" pitchFamily="18" charset="0"/>
                              </a:rPr>
                            </m:ctrlPr>
                          </m:sSupPr>
                          <m:e>
                            <m:acc>
                              <m:accPr>
                                <m:chr m:val="̅"/>
                                <m:ctrlPr>
                                  <a:rPr lang="en-US" sz="1600" i="1">
                                    <a:latin typeface="Cambria Math" panose="02040503050406030204" pitchFamily="18" charset="0"/>
                                  </a:rPr>
                                </m:ctrlPr>
                              </m:accPr>
                              <m:e>
                                <m:r>
                                  <a:rPr lang="en-US" sz="1600" i="1">
                                    <a:latin typeface="Cambria Math" panose="02040503050406030204" pitchFamily="18" charset="0"/>
                                  </a:rPr>
                                  <m:t>𝜀</m:t>
                                </m:r>
                              </m:e>
                            </m:acc>
                          </m:e>
                          <m:sup>
                            <m:r>
                              <a:rPr lang="en-US" sz="1600" i="1">
                                <a:latin typeface="Cambria Math" panose="02040503050406030204" pitchFamily="18" charset="0"/>
                              </a:rPr>
                              <m:t>𝑝𝑙</m:t>
                            </m:r>
                          </m:sup>
                        </m:sSup>
                      </m:e>
                    </m:d>
                    <m:r>
                      <a:rPr lang="en-US" sz="1600" b="0" i="0" smtClean="0">
                        <a:latin typeface="Cambria Math" panose="02040503050406030204" pitchFamily="18" charset="0"/>
                      </a:rPr>
                      <m:t>=</m:t>
                    </m:r>
                    <m:r>
                      <m:rPr>
                        <m:sty m:val="p"/>
                      </m:rPr>
                      <a:rPr lang="en-US" sz="1600" b="0" i="0" smtClean="0">
                        <a:latin typeface="Cambria Math" panose="02040503050406030204" pitchFamily="18" charset="0"/>
                      </a:rPr>
                      <m:t>Q</m:t>
                    </m:r>
                    <m:r>
                      <a:rPr lang="en-US" sz="1600" b="0" i="0" smtClean="0">
                        <a:latin typeface="Cambria Math" panose="02040503050406030204" pitchFamily="18" charset="0"/>
                      </a:rPr>
                      <m:t>(1−</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b="0" i="1" smtClean="0">
                            <a:latin typeface="Cambria Math" panose="02040503050406030204" pitchFamily="18" charset="0"/>
                          </a:rPr>
                          <m:t>−</m:t>
                        </m:r>
                        <m:r>
                          <a:rPr lang="en-US" sz="1600" b="0" i="1" smtClean="0">
                            <a:latin typeface="Cambria Math" panose="02040503050406030204" pitchFamily="18" charset="0"/>
                          </a:rPr>
                          <m:t>𝑏</m:t>
                        </m:r>
                        <m:sSup>
                          <m:sSupPr>
                            <m:ctrlPr>
                              <a:rPr lang="en-US" sz="1600" i="1">
                                <a:latin typeface="Cambria Math" panose="02040503050406030204" pitchFamily="18" charset="0"/>
                              </a:rPr>
                            </m:ctrlPr>
                          </m:sSupPr>
                          <m:e>
                            <m:acc>
                              <m:accPr>
                                <m:chr m:val="̅"/>
                                <m:ctrlPr>
                                  <a:rPr lang="en-US" sz="1600" i="1">
                                    <a:latin typeface="Cambria Math" panose="02040503050406030204" pitchFamily="18" charset="0"/>
                                  </a:rPr>
                                </m:ctrlPr>
                              </m:accPr>
                              <m:e>
                                <m:r>
                                  <a:rPr lang="en-US" sz="1600" i="1">
                                    <a:latin typeface="Cambria Math" panose="02040503050406030204" pitchFamily="18" charset="0"/>
                                  </a:rPr>
                                  <m:t>𝜀</m:t>
                                </m:r>
                              </m:e>
                            </m:acc>
                          </m:e>
                          <m:sup>
                            <m:r>
                              <a:rPr lang="en-US" sz="1600" i="1">
                                <a:latin typeface="Cambria Math" panose="02040503050406030204" pitchFamily="18" charset="0"/>
                              </a:rPr>
                              <m:t>𝑝𝑙</m:t>
                            </m:r>
                          </m:sup>
                        </m:sSup>
                      </m:sup>
                    </m:sSup>
                    <m:r>
                      <a:rPr lang="en-US" sz="1600" b="0" i="1" smtClean="0">
                        <a:latin typeface="Cambria Math" panose="02040503050406030204" pitchFamily="18" charset="0"/>
                        <a:ea typeface="Cambria Math" panose="02040503050406030204" pitchFamily="18" charset="0"/>
                      </a:rPr>
                      <m:t>)</m:t>
                    </m:r>
                  </m:oMath>
                </a14:m>
                <a:r>
                  <a:rPr lang="en-US" sz="1600" dirty="0"/>
                  <a:t>	</a:t>
                </a:r>
              </a:p>
              <a:p>
                <a:pPr marL="0" marR="0" lvl="0" indent="0" defTabSz="914400" eaLnBrk="1" fontAlgn="auto" latinLnBrk="0" hangingPunct="1">
                  <a:lnSpc>
                    <a:spcPct val="150000"/>
                  </a:lnSpc>
                  <a:spcBef>
                    <a:spcPts val="0"/>
                  </a:spcBef>
                  <a:spcAft>
                    <a:spcPts val="0"/>
                  </a:spcAft>
                  <a:buClrTx/>
                  <a:buSzTx/>
                  <a:buFontTx/>
                  <a:buNone/>
                  <a:tabLst/>
                  <a:defRPr/>
                </a:pPr>
                <a:r>
                  <a:rPr lang="pt-BR" sz="1600" dirty="0"/>
                  <a:t>	</a:t>
                </a:r>
              </a:p>
              <a:p>
                <a:pPr marL="285750" indent="-285750">
                  <a:lnSpc>
                    <a:spcPct val="150000"/>
                  </a:lnSpc>
                  <a:buFont typeface="Arial" panose="020B0604020202020204" pitchFamily="34" charset="0"/>
                  <a:buChar char="•"/>
                </a:pPr>
                <a:r>
                  <a:rPr lang="en-US" sz="1600" dirty="0"/>
                  <a:t>Kinematic Hardening:</a:t>
                </a:r>
              </a:p>
              <a:p>
                <a:pPr>
                  <a:lnSpc>
                    <a:spcPct val="150000"/>
                  </a:lnSpc>
                </a:pPr>
                <a:r>
                  <a:rPr lang="en-US" sz="1600" dirty="0"/>
                  <a:t>	Back stress, X = </a:t>
                </a:r>
                <a:r>
                  <a:rPr lang="el-GR" sz="1600" dirty="0"/>
                  <a:t>Σ α</a:t>
                </a:r>
                <a:r>
                  <a:rPr lang="en-US" sz="1600" dirty="0"/>
                  <a:t>ᵢ</a:t>
                </a:r>
              </a:p>
              <a:p>
                <a:pPr>
                  <a:lnSpc>
                    <a:spcPct val="150000"/>
                  </a:lnSpc>
                </a:pPr>
                <a:r>
                  <a:rPr lang="en-US" sz="1600" dirty="0"/>
                  <a:t>	Evolution, 𝑑</a:t>
                </a:r>
                <a:r>
                  <a:rPr lang="el-GR" sz="1600" dirty="0"/>
                  <a:t>α</a:t>
                </a:r>
                <a:r>
                  <a:rPr lang="en-US" sz="1600" dirty="0"/>
                  <a:t>ᵢ = </a:t>
                </a:r>
                <a14:m>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2</m:t>
                        </m:r>
                      </m:num>
                      <m:den>
                        <m:r>
                          <a:rPr lang="en-US" sz="1600" b="0" i="1" smtClean="0">
                            <a:latin typeface="Cambria Math" panose="02040503050406030204" pitchFamily="18" charset="0"/>
                          </a:rPr>
                          <m:t>3</m:t>
                        </m:r>
                      </m:den>
                    </m:f>
                  </m:oMath>
                </a14:m>
                <a:r>
                  <a:rPr lang="en-US" sz="1600" dirty="0"/>
                  <a:t>Cᵢ𝑑𝜀p − </a:t>
                </a:r>
                <a:r>
                  <a:rPr lang="el-GR" sz="1600" dirty="0"/>
                  <a:t>γ</a:t>
                </a:r>
                <a:r>
                  <a:rPr lang="en-US" sz="1600" dirty="0"/>
                  <a:t>ᵢ.</a:t>
                </a:r>
                <a:r>
                  <a:rPr lang="el-GR" sz="1600" dirty="0"/>
                  <a:t> α</a:t>
                </a:r>
                <a:r>
                  <a:rPr lang="en-US" sz="1600" dirty="0"/>
                  <a:t>ᵢ.𝑑</a:t>
                </a:r>
                <a:r>
                  <a:rPr lang="en-US" sz="1600" i="1" dirty="0"/>
                  <a:t>p</a:t>
                </a:r>
              </a:p>
              <a:p>
                <a:pPr>
                  <a:lnSpc>
                    <a:spcPct val="150000"/>
                  </a:lnSpc>
                </a:pPr>
                <a:r>
                  <a:rPr lang="en-US" sz="1600" dirty="0"/>
                  <a:t>	</a:t>
                </a:r>
                <a14:m>
                  <m:oMath xmlns:m="http://schemas.openxmlformats.org/officeDocument/2006/math">
                    <m:r>
                      <a:rPr lang="en-US" sz="1600" i="1" smtClean="0">
                        <a:latin typeface="Cambria Math" panose="02040503050406030204" pitchFamily="18" charset="0"/>
                      </a:rPr>
                      <m:t> </m:t>
                    </m:r>
                  </m:oMath>
                </a14:m>
                <a:r>
                  <a:rPr lang="en-US" sz="1600" i="1" dirty="0"/>
                  <a:t>(J.L.Chaboche, 1989)</a:t>
                </a:r>
              </a:p>
            </p:txBody>
          </p:sp>
        </mc:Choice>
        <mc:Fallback xmlns="">
          <p:sp>
            <p:nvSpPr>
              <p:cNvPr id="7" name="Rectangle 4">
                <a:extLst>
                  <a:ext uri="{FF2B5EF4-FFF2-40B4-BE49-F238E27FC236}">
                    <a16:creationId xmlns:a16="http://schemas.microsoft.com/office/drawing/2014/main" id="{4F9DE22C-1B10-A3C9-E6D9-D288B0AD39F6}"/>
                  </a:ext>
                </a:extLst>
              </p:cNvPr>
              <p:cNvSpPr>
                <a:spLocks noRot="1" noChangeAspect="1" noMove="1" noResize="1" noEditPoints="1" noAdjustHandles="1" noChangeArrowheads="1" noChangeShapeType="1" noTextEdit="1"/>
              </p:cNvSpPr>
              <p:nvPr/>
            </p:nvSpPr>
            <p:spPr bwMode="auto">
              <a:xfrm>
                <a:off x="685799" y="1508751"/>
                <a:ext cx="4381501" cy="4415761"/>
              </a:xfrm>
              <a:prstGeom prst="rect">
                <a:avLst/>
              </a:prstGeom>
              <a:blipFill>
                <a:blip r:embed="rId3"/>
                <a:stretch>
                  <a:fillRect l="-1111" b="-1240"/>
                </a:stretch>
              </a:blipFill>
              <a:ln/>
            </p:spPr>
            <p:txBody>
              <a:bodyPr/>
              <a:lstStyle/>
              <a:p>
                <a:r>
                  <a:rPr lang="en-US">
                    <a:noFill/>
                  </a:rPr>
                  <a:t> </a:t>
                </a:r>
              </a:p>
            </p:txBody>
          </p:sp>
        </mc:Fallback>
      </mc:AlternateContent>
      <p:sp>
        <p:nvSpPr>
          <p:cNvPr id="2" name="Rectangle 1">
            <a:extLst>
              <a:ext uri="{FF2B5EF4-FFF2-40B4-BE49-F238E27FC236}">
                <a16:creationId xmlns:a16="http://schemas.microsoft.com/office/drawing/2014/main" id="{395EA5F8-10BC-A9E0-8D8B-1F5A36275B3D}"/>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12</a:t>
            </a:r>
          </a:p>
        </p:txBody>
      </p:sp>
      <p:sp>
        <p:nvSpPr>
          <p:cNvPr id="8" name="TextBox 7">
            <a:extLst>
              <a:ext uri="{FF2B5EF4-FFF2-40B4-BE49-F238E27FC236}">
                <a16:creationId xmlns:a16="http://schemas.microsoft.com/office/drawing/2014/main" id="{2F4B5093-6D7F-DD24-6FBC-B8FAAFF97FD6}"/>
              </a:ext>
            </a:extLst>
          </p:cNvPr>
          <p:cNvSpPr txBox="1"/>
          <p:nvPr/>
        </p:nvSpPr>
        <p:spPr>
          <a:xfrm>
            <a:off x="10713721" y="518751"/>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1570624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A67A7-FF33-4D68-F7DE-FFB8C366B1C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283A5F-E144-FF12-BEA7-E08A25657BE4}"/>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Chaboche Model</a:t>
            </a:r>
          </a:p>
        </p:txBody>
      </p:sp>
      <p:sp>
        <p:nvSpPr>
          <p:cNvPr id="11" name="Rectangle 4">
            <a:extLst>
              <a:ext uri="{FF2B5EF4-FFF2-40B4-BE49-F238E27FC236}">
                <a16:creationId xmlns:a16="http://schemas.microsoft.com/office/drawing/2014/main" id="{4FE86C79-8BED-44BB-B7A4-36BC09DEF86C}"/>
              </a:ext>
            </a:extLst>
          </p:cNvPr>
          <p:cNvSpPr>
            <a:spLocks noChangeArrowheads="1"/>
          </p:cNvSpPr>
          <p:nvPr/>
        </p:nvSpPr>
        <p:spPr bwMode="auto">
          <a:xfrm>
            <a:off x="523875" y="1088443"/>
            <a:ext cx="3787383" cy="268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150000"/>
              </a:lnSpc>
              <a:buNone/>
            </a:pPr>
            <a:r>
              <a:rPr lang="en-US" sz="1600" b="1" dirty="0"/>
              <a:t>Chaboche Model</a:t>
            </a:r>
          </a:p>
          <a:p>
            <a:pPr>
              <a:lnSpc>
                <a:spcPct val="150000"/>
              </a:lnSpc>
              <a:buFont typeface="Arial" panose="020B0604020202020204" pitchFamily="34" charset="0"/>
              <a:buChar char="•"/>
            </a:pPr>
            <a:r>
              <a:rPr lang="en-US" sz="1600" dirty="0"/>
              <a:t>Combines </a:t>
            </a:r>
            <a:r>
              <a:rPr lang="en-US" sz="1600" b="1" dirty="0"/>
              <a:t>kinematic + isotropic</a:t>
            </a:r>
            <a:r>
              <a:rPr lang="en-US" sz="1600" dirty="0"/>
              <a:t> hardening</a:t>
            </a:r>
          </a:p>
          <a:p>
            <a:pPr>
              <a:lnSpc>
                <a:spcPct val="150000"/>
              </a:lnSpc>
              <a:buFont typeface="Arial" panose="020B0604020202020204" pitchFamily="34" charset="0"/>
              <a:buChar char="•"/>
            </a:pPr>
            <a:r>
              <a:rPr lang="en-US" sz="1600" dirty="0"/>
              <a:t>Uses </a:t>
            </a:r>
            <a:r>
              <a:rPr lang="en-US" sz="1600" b="1" dirty="0"/>
              <a:t>multiple backstress terms</a:t>
            </a:r>
            <a:endParaRPr lang="en-US" sz="1600" dirty="0"/>
          </a:p>
          <a:p>
            <a:pPr>
              <a:lnSpc>
                <a:spcPct val="150000"/>
              </a:lnSpc>
              <a:buFont typeface="Arial" panose="020B0604020202020204" pitchFamily="34" charset="0"/>
              <a:buChar char="•"/>
            </a:pPr>
            <a:r>
              <a:rPr lang="en-US" sz="1600" dirty="0"/>
              <a:t>Captures:</a:t>
            </a:r>
          </a:p>
          <a:p>
            <a:pPr marL="742950" lvl="1" indent="-285750">
              <a:lnSpc>
                <a:spcPct val="150000"/>
              </a:lnSpc>
              <a:buFont typeface="Arial" panose="020B0604020202020204" pitchFamily="34" charset="0"/>
              <a:buChar char="•"/>
            </a:pPr>
            <a:r>
              <a:rPr lang="en-US" sz="1600" dirty="0"/>
              <a:t>Hysteresis loops</a:t>
            </a:r>
          </a:p>
          <a:p>
            <a:pPr marL="742950" lvl="1" indent="-285750">
              <a:lnSpc>
                <a:spcPct val="150000"/>
              </a:lnSpc>
              <a:buFont typeface="Arial" panose="020B0604020202020204" pitchFamily="34" charset="0"/>
              <a:buChar char="•"/>
            </a:pPr>
            <a:r>
              <a:rPr lang="en-US" sz="1600" dirty="0"/>
              <a:t>Cyclic stabilization</a:t>
            </a:r>
            <a:br>
              <a:rPr lang="en-US" dirty="0"/>
            </a:br>
            <a:endParaRPr lang="en-US" dirty="0"/>
          </a:p>
        </p:txBody>
      </p:sp>
      <p:pic>
        <p:nvPicPr>
          <p:cNvPr id="5" name="Picture 4">
            <a:extLst>
              <a:ext uri="{FF2B5EF4-FFF2-40B4-BE49-F238E27FC236}">
                <a16:creationId xmlns:a16="http://schemas.microsoft.com/office/drawing/2014/main" id="{ECE76023-D9B6-28F4-284F-94E24A816051}"/>
              </a:ext>
            </a:extLst>
          </p:cNvPr>
          <p:cNvPicPr>
            <a:picLocks noChangeAspect="1"/>
          </p:cNvPicPr>
          <p:nvPr/>
        </p:nvPicPr>
        <p:blipFill>
          <a:blip r:embed="rId2"/>
          <a:srcRect t="557" r="666"/>
          <a:stretch>
            <a:fillRect/>
          </a:stretch>
        </p:blipFill>
        <p:spPr>
          <a:xfrm>
            <a:off x="5547355" y="998312"/>
            <a:ext cx="5724209" cy="5137841"/>
          </a:xfrm>
          <a:prstGeom prst="rect">
            <a:avLst/>
          </a:prstGeom>
        </p:spPr>
      </p:pic>
      <p:sp>
        <p:nvSpPr>
          <p:cNvPr id="6" name="Rectangle 5">
            <a:extLst>
              <a:ext uri="{FF2B5EF4-FFF2-40B4-BE49-F238E27FC236}">
                <a16:creationId xmlns:a16="http://schemas.microsoft.com/office/drawing/2014/main" id="{1360F5F2-8953-84D4-09D0-8B8D28D88D21}"/>
              </a:ext>
            </a:extLst>
          </p:cNvPr>
          <p:cNvSpPr/>
          <p:nvPr/>
        </p:nvSpPr>
        <p:spPr>
          <a:xfrm>
            <a:off x="181069" y="6355533"/>
            <a:ext cx="10357165" cy="50246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sz="1000" dirty="0"/>
              <a:t>Liu, S., Liang, G., &amp; Yang, Y. (2019). A strategy to fast determine Chaboche </a:t>
            </a:r>
            <a:r>
              <a:rPr lang="en-US" sz="1000" dirty="0" err="1"/>
              <a:t>elasto</a:t>
            </a:r>
            <a:r>
              <a:rPr lang="en-US" sz="1000" dirty="0"/>
              <a:t>-plastic model parameters by considering ratcheting. </a:t>
            </a:r>
            <a:r>
              <a:rPr lang="en-US" sz="1000" i="1" dirty="0"/>
              <a:t>International Journal of Pressure Vessels and Piping, 172</a:t>
            </a:r>
            <a:r>
              <a:rPr lang="en-US" sz="1000" dirty="0"/>
              <a:t>, 251–260. </a:t>
            </a:r>
            <a:r>
              <a:rPr lang="en-US" sz="1000" dirty="0">
                <a:hlinkClick r:id="rId3"/>
              </a:rPr>
              <a:t>https://doi.org/10.1016/j.ijpvp.2019.01.017</a:t>
            </a:r>
            <a:endParaRPr lang="en-US" sz="1000" dirty="0"/>
          </a:p>
        </p:txBody>
      </p:sp>
      <p:sp>
        <p:nvSpPr>
          <p:cNvPr id="7" name="Rectangle 6">
            <a:extLst>
              <a:ext uri="{FF2B5EF4-FFF2-40B4-BE49-F238E27FC236}">
                <a16:creationId xmlns:a16="http://schemas.microsoft.com/office/drawing/2014/main" id="{BF35296F-45A3-0D76-A903-278FEEAA89C7}"/>
              </a:ext>
            </a:extLst>
          </p:cNvPr>
          <p:cNvSpPr/>
          <p:nvPr/>
        </p:nvSpPr>
        <p:spPr>
          <a:xfrm>
            <a:off x="6165410" y="5984341"/>
            <a:ext cx="1448554" cy="28971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000" i="1" dirty="0"/>
              <a:t>S. Liu, et al., 2019</a:t>
            </a:r>
          </a:p>
        </p:txBody>
      </p:sp>
      <p:cxnSp>
        <p:nvCxnSpPr>
          <p:cNvPr id="8" name="Straight Connector 7">
            <a:extLst>
              <a:ext uri="{FF2B5EF4-FFF2-40B4-BE49-F238E27FC236}">
                <a16:creationId xmlns:a16="http://schemas.microsoft.com/office/drawing/2014/main" id="{542C526C-8B6C-6CD5-9093-F5CF2CCA98DA}"/>
              </a:ext>
            </a:extLst>
          </p:cNvPr>
          <p:cNvCxnSpPr>
            <a:cxnSpLocks/>
          </p:cNvCxnSpPr>
          <p:nvPr/>
        </p:nvCxnSpPr>
        <p:spPr>
          <a:xfrm>
            <a:off x="262550" y="6373335"/>
            <a:ext cx="541397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ECE19A4-B84D-ADCB-B53F-6846BC7FC8E3}"/>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13</a:t>
            </a:r>
          </a:p>
        </p:txBody>
      </p:sp>
      <p:sp>
        <p:nvSpPr>
          <p:cNvPr id="3" name="TextBox 2">
            <a:extLst>
              <a:ext uri="{FF2B5EF4-FFF2-40B4-BE49-F238E27FC236}">
                <a16:creationId xmlns:a16="http://schemas.microsoft.com/office/drawing/2014/main" id="{8DEEBFC8-28DB-4409-2685-7966601475FE}"/>
              </a:ext>
            </a:extLst>
          </p:cNvPr>
          <p:cNvSpPr txBox="1"/>
          <p:nvPr/>
        </p:nvSpPr>
        <p:spPr>
          <a:xfrm>
            <a:off x="10713721" y="518751"/>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2045734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B6A1F-25FB-2F43-F419-3EEC36DE79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F56A5F-2187-62B3-ED9E-B71A4ED7A11D}"/>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Determination of Material Properties (50CrMo4)</a:t>
            </a:r>
          </a:p>
        </p:txBody>
      </p:sp>
      <p:pic>
        <p:nvPicPr>
          <p:cNvPr id="11" name="Picture 10">
            <a:extLst>
              <a:ext uri="{FF2B5EF4-FFF2-40B4-BE49-F238E27FC236}">
                <a16:creationId xmlns:a16="http://schemas.microsoft.com/office/drawing/2014/main" id="{CD3C42CE-7A94-1F5F-6B91-D43D87EAD0FC}"/>
              </a:ext>
            </a:extLst>
          </p:cNvPr>
          <p:cNvPicPr>
            <a:picLocks noChangeAspect="1"/>
          </p:cNvPicPr>
          <p:nvPr/>
        </p:nvPicPr>
        <p:blipFill>
          <a:blip r:embed="rId2">
            <a:extLst>
              <a:ext uri="{28A0092B-C50C-407E-A947-70E740481C1C}">
                <a14:useLocalDpi xmlns:a14="http://schemas.microsoft.com/office/drawing/2010/main" val="0"/>
              </a:ext>
            </a:extLst>
          </a:blip>
          <a:srcRect l="1699" b="3009"/>
          <a:stretch/>
        </p:blipFill>
        <p:spPr>
          <a:xfrm>
            <a:off x="670561" y="1215510"/>
            <a:ext cx="10837817" cy="5472673"/>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CDD7E1F-004E-EE25-D6CB-CDB8495CC275}"/>
                  </a:ext>
                </a:extLst>
              </p:cNvPr>
              <p:cNvSpPr/>
              <p:nvPr/>
            </p:nvSpPr>
            <p:spPr>
              <a:xfrm rot="16200000">
                <a:off x="-334191" y="3753395"/>
                <a:ext cx="1672046" cy="33745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solidFill>
                      <a:schemeClr val="bg2">
                        <a:lumMod val="50000"/>
                      </a:schemeClr>
                    </a:solidFill>
                  </a:rPr>
                  <a:t>Stress, </a:t>
                </a:r>
                <a14:m>
                  <m:oMath xmlns:m="http://schemas.openxmlformats.org/officeDocument/2006/math">
                    <m:r>
                      <a:rPr lang="en-US" sz="1200" b="0" i="1" dirty="0" smtClean="0">
                        <a:solidFill>
                          <a:schemeClr val="bg2">
                            <a:lumMod val="50000"/>
                          </a:schemeClr>
                        </a:solidFill>
                        <a:latin typeface="Cambria Math" panose="02040503050406030204" pitchFamily="18" charset="0"/>
                      </a:rPr>
                      <m:t>𝜎</m:t>
                    </m:r>
                    <m:r>
                      <a:rPr lang="en-US" sz="1200" b="0" i="1" dirty="0" smtClean="0">
                        <a:solidFill>
                          <a:schemeClr val="bg2">
                            <a:lumMod val="50000"/>
                          </a:schemeClr>
                        </a:solidFill>
                        <a:latin typeface="Cambria Math" panose="02040503050406030204" pitchFamily="18" charset="0"/>
                      </a:rPr>
                      <m:t>11</m:t>
                    </m:r>
                  </m:oMath>
                </a14:m>
                <a:r>
                  <a:rPr lang="en-US" sz="1200" dirty="0">
                    <a:solidFill>
                      <a:schemeClr val="bg2">
                        <a:lumMod val="50000"/>
                      </a:schemeClr>
                    </a:solidFill>
                  </a:rPr>
                  <a:t> [MPa]</a:t>
                </a:r>
              </a:p>
            </p:txBody>
          </p:sp>
        </mc:Choice>
        <mc:Fallback xmlns="">
          <p:sp>
            <p:nvSpPr>
              <p:cNvPr id="2" name="Rectangle 1">
                <a:extLst>
                  <a:ext uri="{FF2B5EF4-FFF2-40B4-BE49-F238E27FC236}">
                    <a16:creationId xmlns:a16="http://schemas.microsoft.com/office/drawing/2014/main" id="{9CDD7E1F-004E-EE25-D6CB-CDB8495CC275}"/>
                  </a:ext>
                </a:extLst>
              </p:cNvPr>
              <p:cNvSpPr>
                <a:spLocks noRot="1" noChangeAspect="1" noMove="1" noResize="1" noEditPoints="1" noAdjustHandles="1" noChangeArrowheads="1" noChangeShapeType="1" noTextEdit="1"/>
              </p:cNvSpPr>
              <p:nvPr/>
            </p:nvSpPr>
            <p:spPr>
              <a:xfrm rot="16200000">
                <a:off x="-334191" y="3753395"/>
                <a:ext cx="1672046" cy="337457"/>
              </a:xfrm>
              <a:prstGeom prst="rect">
                <a:avLst/>
              </a:prstGeom>
              <a:blipFill>
                <a:blip r:embed="rId3"/>
                <a:stretch>
                  <a:fillRect r="-545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D1DBEF4-C6FD-546C-D602-2DE62A56DC3C}"/>
                  </a:ext>
                </a:extLst>
              </p:cNvPr>
              <p:cNvSpPr/>
              <p:nvPr/>
            </p:nvSpPr>
            <p:spPr>
              <a:xfrm>
                <a:off x="5146766" y="6616456"/>
                <a:ext cx="2090057" cy="29282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chemeClr val="bg2">
                      <a:lumMod val="50000"/>
                    </a:schemeClr>
                  </a:solidFill>
                </a:endParaRPr>
              </a:p>
              <a:p>
                <a:pPr algn="ctr"/>
                <a:r>
                  <a:rPr lang="en-US" sz="1200" dirty="0">
                    <a:solidFill>
                      <a:schemeClr val="bg2">
                        <a:lumMod val="50000"/>
                      </a:schemeClr>
                    </a:solidFill>
                  </a:rPr>
                  <a:t>Plastic Strain, </a:t>
                </a:r>
                <a14:m>
                  <m:oMath xmlns:m="http://schemas.openxmlformats.org/officeDocument/2006/math">
                    <m:sSub>
                      <m:sSubPr>
                        <m:ctrlPr>
                          <a:rPr lang="en-US" sz="1200" b="0" i="1" smtClean="0">
                            <a:solidFill>
                              <a:schemeClr val="bg2">
                                <a:lumMod val="50000"/>
                              </a:schemeClr>
                            </a:solidFill>
                            <a:latin typeface="Cambria Math" panose="02040503050406030204" pitchFamily="18" charset="0"/>
                            <a:ea typeface="Cambria Math" panose="02040503050406030204" pitchFamily="18" charset="0"/>
                          </a:rPr>
                        </m:ctrlPr>
                      </m:sSubPr>
                      <m:e>
                        <m:r>
                          <a:rPr lang="en-US" sz="1200" i="1">
                            <a:solidFill>
                              <a:schemeClr val="bg2">
                                <a:lumMod val="50000"/>
                              </a:schemeClr>
                            </a:solidFill>
                            <a:latin typeface="Cambria Math" panose="02040503050406030204" pitchFamily="18" charset="0"/>
                            <a:ea typeface="Cambria Math" panose="02040503050406030204" pitchFamily="18" charset="0"/>
                          </a:rPr>
                          <m:t>𝜀</m:t>
                        </m:r>
                      </m:e>
                      <m:sub>
                        <m:r>
                          <a:rPr lang="en-US" sz="1200" b="0" i="1" smtClean="0">
                            <a:solidFill>
                              <a:schemeClr val="bg2">
                                <a:lumMod val="50000"/>
                              </a:schemeClr>
                            </a:solidFill>
                            <a:latin typeface="Cambria Math" panose="02040503050406030204" pitchFamily="18" charset="0"/>
                            <a:ea typeface="Cambria Math" panose="02040503050406030204" pitchFamily="18" charset="0"/>
                          </a:rPr>
                          <m:t>𝑝</m:t>
                        </m:r>
                      </m:sub>
                    </m:sSub>
                    <m:r>
                      <a:rPr lang="en-US" sz="1200" b="0" i="1" smtClean="0">
                        <a:solidFill>
                          <a:schemeClr val="bg2">
                            <a:lumMod val="50000"/>
                          </a:schemeClr>
                        </a:solidFill>
                        <a:latin typeface="Cambria Math" panose="02040503050406030204" pitchFamily="18" charset="0"/>
                        <a:ea typeface="Cambria Math" panose="02040503050406030204" pitchFamily="18" charset="0"/>
                      </a:rPr>
                      <m:t>11</m:t>
                    </m:r>
                  </m:oMath>
                </a14:m>
                <a:endParaRPr lang="en-US" sz="1200" dirty="0">
                  <a:solidFill>
                    <a:schemeClr val="bg2">
                      <a:lumMod val="50000"/>
                    </a:schemeClr>
                  </a:solidFill>
                </a:endParaRPr>
              </a:p>
              <a:p>
                <a:pPr algn="ctr"/>
                <a:r>
                  <a:rPr lang="en-US" sz="1200" dirty="0">
                    <a:solidFill>
                      <a:schemeClr val="bg2">
                        <a:lumMod val="50000"/>
                      </a:schemeClr>
                    </a:solidFill>
                  </a:rPr>
                  <a:t> </a:t>
                </a:r>
              </a:p>
            </p:txBody>
          </p:sp>
        </mc:Choice>
        <mc:Fallback xmlns="">
          <p:sp>
            <p:nvSpPr>
              <p:cNvPr id="3" name="Rectangle 2">
                <a:extLst>
                  <a:ext uri="{FF2B5EF4-FFF2-40B4-BE49-F238E27FC236}">
                    <a16:creationId xmlns:a16="http://schemas.microsoft.com/office/drawing/2014/main" id="{3D1DBEF4-C6FD-546C-D602-2DE62A56DC3C}"/>
                  </a:ext>
                </a:extLst>
              </p:cNvPr>
              <p:cNvSpPr>
                <a:spLocks noRot="1" noChangeAspect="1" noMove="1" noResize="1" noEditPoints="1" noAdjustHandles="1" noChangeArrowheads="1" noChangeShapeType="1" noTextEdit="1"/>
              </p:cNvSpPr>
              <p:nvPr/>
            </p:nvSpPr>
            <p:spPr>
              <a:xfrm>
                <a:off x="5146766" y="6616456"/>
                <a:ext cx="2090057" cy="292827"/>
              </a:xfrm>
              <a:prstGeom prst="rect">
                <a:avLst/>
              </a:prstGeom>
              <a:blipFill>
                <a:blip r:embed="rId4"/>
                <a:stretch>
                  <a:fillRect b="-14583"/>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3BC4A825-9463-A286-2E96-F5C06B30488A}"/>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14</a:t>
            </a:r>
          </a:p>
        </p:txBody>
      </p:sp>
      <p:sp>
        <p:nvSpPr>
          <p:cNvPr id="6" name="TextBox 5">
            <a:extLst>
              <a:ext uri="{FF2B5EF4-FFF2-40B4-BE49-F238E27FC236}">
                <a16:creationId xmlns:a16="http://schemas.microsoft.com/office/drawing/2014/main" id="{BC3FF699-A991-610F-4929-ABC31062E1C2}"/>
              </a:ext>
            </a:extLst>
          </p:cNvPr>
          <p:cNvSpPr txBox="1"/>
          <p:nvPr/>
        </p:nvSpPr>
        <p:spPr>
          <a:xfrm>
            <a:off x="11132101" y="901167"/>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15270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60044-0BB6-F566-C6B2-C01C20A8D7F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8C7C72-2F7F-C16A-8D90-81BD3F6C3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7827" y="1197331"/>
            <a:ext cx="9025670" cy="5624756"/>
          </a:xfrm>
          <a:prstGeom prst="rect">
            <a:avLst/>
          </a:prstGeom>
        </p:spPr>
      </p:pic>
      <p:sp>
        <p:nvSpPr>
          <p:cNvPr id="4" name="Rectangle 3">
            <a:extLst>
              <a:ext uri="{FF2B5EF4-FFF2-40B4-BE49-F238E27FC236}">
                <a16:creationId xmlns:a16="http://schemas.microsoft.com/office/drawing/2014/main" id="{CB09276B-8704-0085-B14B-91BCDB353256}"/>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Determination of Material Properties (50CrMo4)</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41225C3-7638-1601-46C1-370EBD8EA4CC}"/>
                  </a:ext>
                </a:extLst>
              </p:cNvPr>
              <p:cNvSpPr/>
              <p:nvPr/>
            </p:nvSpPr>
            <p:spPr>
              <a:xfrm>
                <a:off x="3274422" y="1454331"/>
                <a:ext cx="3161212" cy="740230"/>
              </a:xfrm>
              <a:prstGeom prst="rect">
                <a:avLst/>
              </a:prstGeom>
              <a:solidFill>
                <a:schemeClr val="bg1">
                  <a:lumMod val="9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50" b="1"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Relative error(%) = </a:t>
                </a:r>
                <a:r>
                  <a:rPr lang="en-US" sz="2000" b="1" dirty="0">
                    <a:solidFill>
                      <a:schemeClr val="bg2">
                        <a:lumMod val="25000"/>
                      </a:schemeClr>
                    </a:solidFill>
                    <a:latin typeface="+mj-lt"/>
                    <a:ea typeface="Calibri" panose="020F0502020204030204" pitchFamily="34" charset="0"/>
                    <a:cs typeface="Calibri" panose="020F0502020204030204" pitchFamily="34" charset="0"/>
                  </a:rPr>
                  <a:t>|</a:t>
                </a:r>
                <a:r>
                  <a:rPr lang="en-US" sz="1200" b="1"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US" sz="1050" b="1" i="1" smtClean="0">
                            <a:solidFill>
                              <a:schemeClr val="bg2">
                                <a:lumMod val="25000"/>
                              </a:schemeClr>
                            </a:solidFill>
                            <a:latin typeface="Cambria Math" panose="02040503050406030204" pitchFamily="18" charset="0"/>
                          </a:rPr>
                        </m:ctrlPr>
                      </m:fPr>
                      <m:num>
                        <m:sSub>
                          <m:sSubPr>
                            <m:ctrlPr>
                              <a:rPr lang="en-US" sz="1050" b="1" i="1" smtClean="0">
                                <a:solidFill>
                                  <a:schemeClr val="bg2">
                                    <a:lumMod val="25000"/>
                                  </a:schemeClr>
                                </a:solidFill>
                                <a:latin typeface="Cambria Math" panose="02040503050406030204" pitchFamily="18" charset="0"/>
                              </a:rPr>
                            </m:ctrlPr>
                          </m:sSubPr>
                          <m:e>
                            <m:r>
                              <a:rPr lang="en-US" sz="1050" b="1" i="1" smtClean="0">
                                <a:solidFill>
                                  <a:schemeClr val="bg2">
                                    <a:lumMod val="25000"/>
                                  </a:schemeClr>
                                </a:solidFill>
                                <a:latin typeface="Cambria Math" panose="02040503050406030204" pitchFamily="18" charset="0"/>
                              </a:rPr>
                              <m:t>𝒚</m:t>
                            </m:r>
                          </m:e>
                          <m:sub>
                            <m:r>
                              <a:rPr lang="en-US" sz="1050" b="1" i="1" smtClean="0">
                                <a:solidFill>
                                  <a:schemeClr val="bg2">
                                    <a:lumMod val="25000"/>
                                  </a:schemeClr>
                                </a:solidFill>
                                <a:latin typeface="Cambria Math" panose="02040503050406030204" pitchFamily="18" charset="0"/>
                              </a:rPr>
                              <m:t>𝒎𝒐𝒅𝒆𝒍</m:t>
                            </m:r>
                          </m:sub>
                        </m:sSub>
                        <m:r>
                          <a:rPr lang="en-US" sz="1050" b="1" i="1" smtClean="0">
                            <a:solidFill>
                              <a:schemeClr val="bg2">
                                <a:lumMod val="25000"/>
                              </a:schemeClr>
                            </a:solidFill>
                            <a:latin typeface="Cambria Math" panose="02040503050406030204" pitchFamily="18" charset="0"/>
                          </a:rPr>
                          <m:t>−</m:t>
                        </m:r>
                        <m:sSub>
                          <m:sSubPr>
                            <m:ctrlPr>
                              <a:rPr lang="en-US" sz="1050" b="1" i="1">
                                <a:solidFill>
                                  <a:schemeClr val="bg2">
                                    <a:lumMod val="25000"/>
                                  </a:schemeClr>
                                </a:solidFill>
                                <a:latin typeface="Cambria Math" panose="02040503050406030204" pitchFamily="18" charset="0"/>
                              </a:rPr>
                            </m:ctrlPr>
                          </m:sSubPr>
                          <m:e>
                            <m:r>
                              <a:rPr lang="en-US" sz="1050" b="1" i="1">
                                <a:solidFill>
                                  <a:schemeClr val="bg2">
                                    <a:lumMod val="25000"/>
                                  </a:schemeClr>
                                </a:solidFill>
                                <a:latin typeface="Cambria Math" panose="02040503050406030204" pitchFamily="18" charset="0"/>
                              </a:rPr>
                              <m:t>𝒚</m:t>
                            </m:r>
                          </m:e>
                          <m:sub>
                            <m:r>
                              <a:rPr lang="en-US" sz="1050" b="1" i="1" smtClean="0">
                                <a:solidFill>
                                  <a:schemeClr val="bg2">
                                    <a:lumMod val="25000"/>
                                  </a:schemeClr>
                                </a:solidFill>
                                <a:latin typeface="Cambria Math" panose="02040503050406030204" pitchFamily="18" charset="0"/>
                              </a:rPr>
                              <m:t>𝒆𝒙𝒑𝒆𝒓𝒊𝒎𝒆𝒏𝒕𝒂𝒍</m:t>
                            </m:r>
                          </m:sub>
                        </m:sSub>
                      </m:num>
                      <m:den>
                        <m:sSub>
                          <m:sSubPr>
                            <m:ctrlPr>
                              <a:rPr lang="en-US" sz="1050" b="1" i="1">
                                <a:solidFill>
                                  <a:schemeClr val="bg2">
                                    <a:lumMod val="25000"/>
                                  </a:schemeClr>
                                </a:solidFill>
                                <a:latin typeface="Cambria Math" panose="02040503050406030204" pitchFamily="18" charset="0"/>
                              </a:rPr>
                            </m:ctrlPr>
                          </m:sSubPr>
                          <m:e>
                            <m:r>
                              <a:rPr lang="en-US" sz="1050" b="1" i="1">
                                <a:solidFill>
                                  <a:schemeClr val="bg2">
                                    <a:lumMod val="25000"/>
                                  </a:schemeClr>
                                </a:solidFill>
                                <a:latin typeface="Cambria Math" panose="02040503050406030204" pitchFamily="18" charset="0"/>
                              </a:rPr>
                              <m:t>𝒚</m:t>
                            </m:r>
                          </m:e>
                          <m:sub>
                            <m:r>
                              <a:rPr lang="en-US" sz="1050" b="1" i="1">
                                <a:solidFill>
                                  <a:schemeClr val="bg2">
                                    <a:lumMod val="25000"/>
                                  </a:schemeClr>
                                </a:solidFill>
                                <a:latin typeface="Cambria Math" panose="02040503050406030204" pitchFamily="18" charset="0"/>
                              </a:rPr>
                              <m:t>𝒆𝒙𝒑𝒆𝒓𝒊𝒎𝒆𝒏𝒕𝒂𝒍</m:t>
                            </m:r>
                          </m:sub>
                        </m:sSub>
                      </m:den>
                    </m:f>
                  </m:oMath>
                </a14:m>
                <a:r>
                  <a:rPr lang="en-US" sz="2000" b="1" dirty="0">
                    <a:solidFill>
                      <a:schemeClr val="bg2">
                        <a:lumMod val="25000"/>
                      </a:schemeClr>
                    </a:solidFill>
                    <a:latin typeface="+mj-lt"/>
                    <a:ea typeface="Calibri" panose="020F0502020204030204" pitchFamily="34" charset="0"/>
                    <a:cs typeface="Calibri" panose="020F0502020204030204" pitchFamily="34" charset="0"/>
                  </a:rPr>
                  <a:t>| </a:t>
                </a:r>
                <a:r>
                  <a:rPr lang="en-US" sz="1050" b="1" dirty="0">
                    <a:solidFill>
                      <a:schemeClr val="bg2">
                        <a:lumMod val="25000"/>
                      </a:schemeClr>
                    </a:solidFill>
                    <a:latin typeface="+mj-lt"/>
                    <a:ea typeface="Calibri" panose="020F0502020204030204" pitchFamily="34" charset="0"/>
                    <a:cs typeface="Calibri" panose="020F0502020204030204" pitchFamily="34" charset="0"/>
                  </a:rPr>
                  <a:t>x 100%</a:t>
                </a:r>
              </a:p>
            </p:txBody>
          </p:sp>
        </mc:Choice>
        <mc:Fallback xmlns="">
          <p:sp>
            <p:nvSpPr>
              <p:cNvPr id="2" name="Rectangle 1">
                <a:extLst>
                  <a:ext uri="{FF2B5EF4-FFF2-40B4-BE49-F238E27FC236}">
                    <a16:creationId xmlns:a16="http://schemas.microsoft.com/office/drawing/2014/main" id="{741225C3-7638-1601-46C1-370EBD8EA4CC}"/>
                  </a:ext>
                </a:extLst>
              </p:cNvPr>
              <p:cNvSpPr>
                <a:spLocks noRot="1" noChangeAspect="1" noMove="1" noResize="1" noEditPoints="1" noAdjustHandles="1" noChangeArrowheads="1" noChangeShapeType="1" noTextEdit="1"/>
              </p:cNvSpPr>
              <p:nvPr/>
            </p:nvSpPr>
            <p:spPr>
              <a:xfrm>
                <a:off x="3274422" y="1454331"/>
                <a:ext cx="3161212" cy="740230"/>
              </a:xfrm>
              <a:prstGeom prst="rect">
                <a:avLst/>
              </a:prstGeom>
              <a:blipFill>
                <a:blip r:embed="rId3"/>
                <a:stretch>
                  <a:fillRect/>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421C94E5-C6BE-6D44-3EC1-23E2AB0D0455}"/>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15</a:t>
            </a:r>
          </a:p>
        </p:txBody>
      </p:sp>
      <p:sp>
        <p:nvSpPr>
          <p:cNvPr id="6" name="TextBox 5">
            <a:extLst>
              <a:ext uri="{FF2B5EF4-FFF2-40B4-BE49-F238E27FC236}">
                <a16:creationId xmlns:a16="http://schemas.microsoft.com/office/drawing/2014/main" id="{CE57B97A-02CC-4AA0-FF14-53E8AF5EA5E0}"/>
              </a:ext>
            </a:extLst>
          </p:cNvPr>
          <p:cNvSpPr txBox="1"/>
          <p:nvPr/>
        </p:nvSpPr>
        <p:spPr>
          <a:xfrm>
            <a:off x="11132101" y="901167"/>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2585267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B8824-7527-4514-AB93-57A96B1DB82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0522A81-9F42-D4DF-5CAA-0996F6CC6DDC}"/>
              </a:ext>
            </a:extLst>
          </p:cNvPr>
          <p:cNvPicPr>
            <a:picLocks noChangeAspect="1"/>
          </p:cNvPicPr>
          <p:nvPr/>
        </p:nvPicPr>
        <p:blipFill>
          <a:blip r:embed="rId2">
            <a:extLst>
              <a:ext uri="{28A0092B-C50C-407E-A947-70E740481C1C}">
                <a14:useLocalDpi xmlns:a14="http://schemas.microsoft.com/office/drawing/2010/main" val="0"/>
              </a:ext>
            </a:extLst>
          </a:blip>
          <a:srcRect t="2494"/>
          <a:stretch/>
        </p:blipFill>
        <p:spPr>
          <a:xfrm>
            <a:off x="5460278" y="1889759"/>
            <a:ext cx="6696515" cy="4091228"/>
          </a:xfrm>
          <a:prstGeom prst="rect">
            <a:avLst/>
          </a:prstGeom>
          <a:ln>
            <a:noFill/>
          </a:ln>
        </p:spPr>
        <p:style>
          <a:lnRef idx="2">
            <a:schemeClr val="accent3"/>
          </a:lnRef>
          <a:fillRef idx="1">
            <a:schemeClr val="lt1"/>
          </a:fillRef>
          <a:effectRef idx="0">
            <a:schemeClr val="accent3"/>
          </a:effectRef>
          <a:fontRef idx="minor">
            <a:schemeClr val="dk1"/>
          </a:fontRef>
        </p:style>
      </p:pic>
      <p:pic>
        <p:nvPicPr>
          <p:cNvPr id="3" name="Picture 2">
            <a:extLst>
              <a:ext uri="{FF2B5EF4-FFF2-40B4-BE49-F238E27FC236}">
                <a16:creationId xmlns:a16="http://schemas.microsoft.com/office/drawing/2014/main" id="{3247A831-C3B6-B3C8-1D42-92A10D40BB85}"/>
              </a:ext>
            </a:extLst>
          </p:cNvPr>
          <p:cNvPicPr>
            <a:picLocks noChangeAspect="1"/>
          </p:cNvPicPr>
          <p:nvPr/>
        </p:nvPicPr>
        <p:blipFill>
          <a:blip r:embed="rId3">
            <a:extLst>
              <a:ext uri="{28A0092B-C50C-407E-A947-70E740481C1C}">
                <a14:useLocalDpi xmlns:a14="http://schemas.microsoft.com/office/drawing/2010/main" val="0"/>
              </a:ext>
            </a:extLst>
          </a:blip>
          <a:srcRect l="3437"/>
          <a:stretch/>
        </p:blipFill>
        <p:spPr>
          <a:xfrm>
            <a:off x="191589" y="1889758"/>
            <a:ext cx="5138057" cy="4091228"/>
          </a:xfrm>
          <a:prstGeom prst="rect">
            <a:avLst/>
          </a:prstGeom>
          <a:ln>
            <a:noFill/>
            <a:headEnd type="none" w="med" len="med"/>
            <a:tailEnd type="none" w="med" len="med"/>
          </a:ln>
        </p:spPr>
        <p:style>
          <a:lnRef idx="2">
            <a:schemeClr val="accent3"/>
          </a:lnRef>
          <a:fillRef idx="1">
            <a:schemeClr val="lt1"/>
          </a:fillRef>
          <a:effectRef idx="0">
            <a:schemeClr val="accent3"/>
          </a:effectRef>
          <a:fontRef idx="minor">
            <a:schemeClr val="dk1"/>
          </a:fontRef>
        </p:style>
      </p:pic>
      <p:sp>
        <p:nvSpPr>
          <p:cNvPr id="4" name="Rectangle 3">
            <a:extLst>
              <a:ext uri="{FF2B5EF4-FFF2-40B4-BE49-F238E27FC236}">
                <a16:creationId xmlns:a16="http://schemas.microsoft.com/office/drawing/2014/main" id="{683693BD-2740-2658-DC3C-CB5D186BE98B}"/>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Determination of Material Properties (50CrMo4)</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4FDD357-61D1-22DC-988F-8E0B29F96A28}"/>
                  </a:ext>
                </a:extLst>
              </p:cNvPr>
              <p:cNvSpPr/>
              <p:nvPr/>
            </p:nvSpPr>
            <p:spPr>
              <a:xfrm rot="16200000">
                <a:off x="-709749" y="3679561"/>
                <a:ext cx="1672046" cy="33745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Stress, </a:t>
                </a:r>
                <a14:m>
                  <m:oMath xmlns:m="http://schemas.openxmlformats.org/officeDocument/2006/math">
                    <m:sSub>
                      <m:sSubPr>
                        <m:ctrlPr>
                          <a:rPr lang="en-US" sz="1050" b="0" i="1" dirty="0" smtClean="0">
                            <a:latin typeface="Cambria Math" panose="02040503050406030204" pitchFamily="18" charset="0"/>
                          </a:rPr>
                        </m:ctrlPr>
                      </m:sSubPr>
                      <m:e>
                        <m:r>
                          <a:rPr lang="en-US" sz="1050" i="1" dirty="0">
                            <a:latin typeface="Cambria Math" panose="02040503050406030204" pitchFamily="18" charset="0"/>
                          </a:rPr>
                          <m:t>𝜎</m:t>
                        </m:r>
                      </m:e>
                      <m:sub>
                        <m:r>
                          <a:rPr lang="en-US" sz="1050" b="0" i="1" dirty="0" smtClean="0">
                            <a:latin typeface="Cambria Math" panose="02040503050406030204" pitchFamily="18" charset="0"/>
                          </a:rPr>
                          <m:t>11</m:t>
                        </m:r>
                      </m:sub>
                    </m:sSub>
                  </m:oMath>
                </a14:m>
                <a:r>
                  <a:rPr lang="en-US" sz="1050" dirty="0"/>
                  <a:t> [MPa]</a:t>
                </a:r>
              </a:p>
            </p:txBody>
          </p:sp>
        </mc:Choice>
        <mc:Fallback xmlns="">
          <p:sp>
            <p:nvSpPr>
              <p:cNvPr id="2" name="Rectangle 1">
                <a:extLst>
                  <a:ext uri="{FF2B5EF4-FFF2-40B4-BE49-F238E27FC236}">
                    <a16:creationId xmlns:a16="http://schemas.microsoft.com/office/drawing/2014/main" id="{B4FDD357-61D1-22DC-988F-8E0B29F96A28}"/>
                  </a:ext>
                </a:extLst>
              </p:cNvPr>
              <p:cNvSpPr>
                <a:spLocks noRot="1" noChangeAspect="1" noMove="1" noResize="1" noEditPoints="1" noAdjustHandles="1" noChangeArrowheads="1" noChangeShapeType="1" noTextEdit="1"/>
              </p:cNvSpPr>
              <p:nvPr/>
            </p:nvSpPr>
            <p:spPr>
              <a:xfrm rot="16200000">
                <a:off x="-709749" y="3679561"/>
                <a:ext cx="1672046" cy="337457"/>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157FCE8-E497-7474-0358-2AF156F6F327}"/>
                  </a:ext>
                </a:extLst>
              </p:cNvPr>
              <p:cNvSpPr/>
              <p:nvPr/>
            </p:nvSpPr>
            <p:spPr>
              <a:xfrm>
                <a:off x="1942013" y="5837599"/>
                <a:ext cx="1810322" cy="286773"/>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solidFill>
                    <a:schemeClr val="bg2">
                      <a:lumMod val="25000"/>
                    </a:schemeClr>
                  </a:solidFill>
                </a:endParaRPr>
              </a:p>
              <a:p>
                <a:pPr algn="ctr"/>
                <a:r>
                  <a:rPr lang="en-US" sz="1050" dirty="0">
                    <a:solidFill>
                      <a:schemeClr val="bg2">
                        <a:lumMod val="25000"/>
                      </a:schemeClr>
                    </a:solidFill>
                  </a:rPr>
                  <a:t>Total Strain, </a:t>
                </a:r>
                <a14:m>
                  <m:oMath xmlns:m="http://schemas.openxmlformats.org/officeDocument/2006/math">
                    <m:sSub>
                      <m:sSubPr>
                        <m:ctrlPr>
                          <a:rPr lang="en-US" sz="1050" b="0" i="1" smtClean="0">
                            <a:solidFill>
                              <a:schemeClr val="bg2">
                                <a:lumMod val="25000"/>
                              </a:schemeClr>
                            </a:solidFill>
                            <a:latin typeface="Cambria Math" panose="02040503050406030204" pitchFamily="18" charset="0"/>
                            <a:ea typeface="Cambria Math" panose="02040503050406030204" pitchFamily="18" charset="0"/>
                          </a:rPr>
                        </m:ctrlPr>
                      </m:sSubPr>
                      <m:e>
                        <m:r>
                          <a:rPr lang="en-US" sz="1050" i="1">
                            <a:solidFill>
                              <a:schemeClr val="bg2">
                                <a:lumMod val="25000"/>
                              </a:schemeClr>
                            </a:solidFill>
                            <a:latin typeface="Cambria Math" panose="02040503050406030204" pitchFamily="18" charset="0"/>
                            <a:ea typeface="Cambria Math" panose="02040503050406030204" pitchFamily="18" charset="0"/>
                          </a:rPr>
                          <m:t>𝜀</m:t>
                        </m:r>
                      </m:e>
                      <m:sub>
                        <m:r>
                          <a:rPr lang="en-US" sz="1050" b="0" i="1" smtClean="0">
                            <a:solidFill>
                              <a:schemeClr val="bg2">
                                <a:lumMod val="25000"/>
                              </a:schemeClr>
                            </a:solidFill>
                            <a:latin typeface="Cambria Math" panose="02040503050406030204" pitchFamily="18" charset="0"/>
                            <a:ea typeface="Cambria Math" panose="02040503050406030204" pitchFamily="18" charset="0"/>
                          </a:rPr>
                          <m:t>11</m:t>
                        </m:r>
                      </m:sub>
                    </m:sSub>
                  </m:oMath>
                </a14:m>
                <a:endParaRPr lang="en-US" sz="1050" dirty="0">
                  <a:solidFill>
                    <a:schemeClr val="bg2">
                      <a:lumMod val="25000"/>
                    </a:schemeClr>
                  </a:solidFill>
                </a:endParaRPr>
              </a:p>
              <a:p>
                <a:pPr algn="ctr"/>
                <a:r>
                  <a:rPr lang="en-US" sz="1050" dirty="0">
                    <a:solidFill>
                      <a:schemeClr val="bg2">
                        <a:lumMod val="25000"/>
                      </a:schemeClr>
                    </a:solidFill>
                  </a:rPr>
                  <a:t> </a:t>
                </a:r>
              </a:p>
            </p:txBody>
          </p:sp>
        </mc:Choice>
        <mc:Fallback xmlns="">
          <p:sp>
            <p:nvSpPr>
              <p:cNvPr id="5" name="Rectangle 4">
                <a:extLst>
                  <a:ext uri="{FF2B5EF4-FFF2-40B4-BE49-F238E27FC236}">
                    <a16:creationId xmlns:a16="http://schemas.microsoft.com/office/drawing/2014/main" id="{6157FCE8-E497-7474-0358-2AF156F6F327}"/>
                  </a:ext>
                </a:extLst>
              </p:cNvPr>
              <p:cNvSpPr>
                <a:spLocks noRot="1" noChangeAspect="1" noMove="1" noResize="1" noEditPoints="1" noAdjustHandles="1" noChangeArrowheads="1" noChangeShapeType="1" noTextEdit="1"/>
              </p:cNvSpPr>
              <p:nvPr/>
            </p:nvSpPr>
            <p:spPr>
              <a:xfrm>
                <a:off x="1942013" y="5837599"/>
                <a:ext cx="1810322" cy="286773"/>
              </a:xfrm>
              <a:prstGeom prst="rect">
                <a:avLst/>
              </a:prstGeom>
              <a:blipFill>
                <a:blip r:embed="rId5"/>
                <a:stretch>
                  <a:fillRect b="-6383"/>
                </a:stretch>
              </a:blipFill>
              <a:ln>
                <a:noFill/>
              </a:ln>
            </p:spPr>
            <p:txBody>
              <a:bodyPr/>
              <a:lstStyle/>
              <a:p>
                <a:r>
                  <a:rPr lang="en-US">
                    <a:noFill/>
                  </a:rPr>
                  <a:t> </a:t>
                </a:r>
              </a:p>
            </p:txBody>
          </p:sp>
        </mc:Fallback>
      </mc:AlternateContent>
      <p:sp>
        <p:nvSpPr>
          <p:cNvPr id="7" name="Rectangle 6">
            <a:extLst>
              <a:ext uri="{FF2B5EF4-FFF2-40B4-BE49-F238E27FC236}">
                <a16:creationId xmlns:a16="http://schemas.microsoft.com/office/drawing/2014/main" id="{9923F369-1E56-FDC0-D385-D4DD4D87F572}"/>
              </a:ext>
            </a:extLst>
          </p:cNvPr>
          <p:cNvSpPr/>
          <p:nvPr/>
        </p:nvSpPr>
        <p:spPr>
          <a:xfrm>
            <a:off x="7588432" y="1456099"/>
            <a:ext cx="3193867" cy="448899"/>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solidFill>
                <a:schemeClr val="bg2">
                  <a:lumMod val="25000"/>
                </a:schemeClr>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CF10A1E-5667-8158-198B-99F14FCB0A5B}"/>
                  </a:ext>
                </a:extLst>
              </p:cNvPr>
              <p:cNvSpPr/>
              <p:nvPr/>
            </p:nvSpPr>
            <p:spPr>
              <a:xfrm>
                <a:off x="5791200" y="2153600"/>
                <a:ext cx="2098766" cy="370115"/>
              </a:xfrm>
              <a:prstGeom prst="rect">
                <a:avLst/>
              </a:prstGeom>
              <a:solidFill>
                <a:schemeClr val="bg1">
                  <a:lumMod val="9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700" b="1"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Relative error (%) = </a:t>
                </a:r>
                <a:r>
                  <a:rPr lang="en-US" sz="1200" b="1" dirty="0">
                    <a:solidFill>
                      <a:schemeClr val="bg2">
                        <a:lumMod val="25000"/>
                      </a:schemeClr>
                    </a:solidFill>
                    <a:latin typeface="+mj-lt"/>
                    <a:ea typeface="Calibri" panose="020F0502020204030204" pitchFamily="34" charset="0"/>
                    <a:cs typeface="Calibri" panose="020F0502020204030204" pitchFamily="34" charset="0"/>
                  </a:rPr>
                  <a:t>|</a:t>
                </a:r>
                <a:r>
                  <a:rPr lang="en-US" sz="900" b="1"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US" sz="700" b="1" i="1" smtClean="0">
                            <a:solidFill>
                              <a:schemeClr val="bg2">
                                <a:lumMod val="25000"/>
                              </a:schemeClr>
                            </a:solidFill>
                            <a:latin typeface="Cambria Math" panose="02040503050406030204" pitchFamily="18" charset="0"/>
                          </a:rPr>
                        </m:ctrlPr>
                      </m:fPr>
                      <m:num>
                        <m:sSub>
                          <m:sSubPr>
                            <m:ctrlPr>
                              <a:rPr lang="en-US" sz="700" b="1" i="1" smtClean="0">
                                <a:solidFill>
                                  <a:schemeClr val="bg2">
                                    <a:lumMod val="25000"/>
                                  </a:schemeClr>
                                </a:solidFill>
                                <a:latin typeface="Cambria Math" panose="02040503050406030204" pitchFamily="18" charset="0"/>
                              </a:rPr>
                            </m:ctrlPr>
                          </m:sSubPr>
                          <m:e>
                            <m:r>
                              <a:rPr lang="en-US" sz="700" b="1" i="1" smtClean="0">
                                <a:solidFill>
                                  <a:schemeClr val="bg2">
                                    <a:lumMod val="25000"/>
                                  </a:schemeClr>
                                </a:solidFill>
                                <a:latin typeface="Cambria Math" panose="02040503050406030204" pitchFamily="18" charset="0"/>
                              </a:rPr>
                              <m:t>𝒚</m:t>
                            </m:r>
                          </m:e>
                          <m:sub>
                            <m:r>
                              <a:rPr lang="en-US" sz="700" b="1" i="1" smtClean="0">
                                <a:solidFill>
                                  <a:schemeClr val="bg2">
                                    <a:lumMod val="25000"/>
                                  </a:schemeClr>
                                </a:solidFill>
                                <a:latin typeface="Cambria Math" panose="02040503050406030204" pitchFamily="18" charset="0"/>
                              </a:rPr>
                              <m:t>𝒎𝒐𝒅𝒆𝒍</m:t>
                            </m:r>
                          </m:sub>
                        </m:sSub>
                        <m:r>
                          <a:rPr lang="en-US" sz="700" b="1" i="1" smtClean="0">
                            <a:solidFill>
                              <a:schemeClr val="bg2">
                                <a:lumMod val="25000"/>
                              </a:schemeClr>
                            </a:solidFill>
                            <a:latin typeface="Cambria Math" panose="02040503050406030204" pitchFamily="18" charset="0"/>
                          </a:rPr>
                          <m:t> −</m:t>
                        </m:r>
                        <m:sSub>
                          <m:sSubPr>
                            <m:ctrlPr>
                              <a:rPr lang="en-US" sz="700" b="1" i="1">
                                <a:solidFill>
                                  <a:schemeClr val="bg2">
                                    <a:lumMod val="25000"/>
                                  </a:schemeClr>
                                </a:solidFill>
                                <a:latin typeface="Cambria Math" panose="02040503050406030204" pitchFamily="18" charset="0"/>
                              </a:rPr>
                            </m:ctrlPr>
                          </m:sSubPr>
                          <m:e>
                            <m:r>
                              <a:rPr lang="en-US" sz="700" b="1" i="1" smtClean="0">
                                <a:solidFill>
                                  <a:schemeClr val="bg2">
                                    <a:lumMod val="25000"/>
                                  </a:schemeClr>
                                </a:solidFill>
                                <a:latin typeface="Cambria Math" panose="02040503050406030204" pitchFamily="18" charset="0"/>
                              </a:rPr>
                              <m:t> </m:t>
                            </m:r>
                            <m:r>
                              <a:rPr lang="en-US" sz="700" b="1" i="1">
                                <a:solidFill>
                                  <a:schemeClr val="bg2">
                                    <a:lumMod val="25000"/>
                                  </a:schemeClr>
                                </a:solidFill>
                                <a:latin typeface="Cambria Math" panose="02040503050406030204" pitchFamily="18" charset="0"/>
                              </a:rPr>
                              <m:t>𝒚</m:t>
                            </m:r>
                          </m:e>
                          <m:sub>
                            <m:r>
                              <a:rPr lang="en-US" sz="700" b="1" i="1" smtClean="0">
                                <a:solidFill>
                                  <a:schemeClr val="bg2">
                                    <a:lumMod val="25000"/>
                                  </a:schemeClr>
                                </a:solidFill>
                                <a:latin typeface="Cambria Math" panose="02040503050406030204" pitchFamily="18" charset="0"/>
                              </a:rPr>
                              <m:t>𝒆𝒙𝒑𝒆𝒓𝒊𝒎𝒆𝒏𝒕𝒂𝒍</m:t>
                            </m:r>
                          </m:sub>
                        </m:sSub>
                      </m:num>
                      <m:den>
                        <m:sSub>
                          <m:sSubPr>
                            <m:ctrlPr>
                              <a:rPr lang="en-US" sz="700" b="1" i="1">
                                <a:solidFill>
                                  <a:schemeClr val="bg2">
                                    <a:lumMod val="25000"/>
                                  </a:schemeClr>
                                </a:solidFill>
                                <a:latin typeface="Cambria Math" panose="02040503050406030204" pitchFamily="18" charset="0"/>
                              </a:rPr>
                            </m:ctrlPr>
                          </m:sSubPr>
                          <m:e>
                            <m:r>
                              <a:rPr lang="en-US" sz="700" b="1" i="1">
                                <a:solidFill>
                                  <a:schemeClr val="bg2">
                                    <a:lumMod val="25000"/>
                                  </a:schemeClr>
                                </a:solidFill>
                                <a:latin typeface="Cambria Math" panose="02040503050406030204" pitchFamily="18" charset="0"/>
                              </a:rPr>
                              <m:t>𝒚</m:t>
                            </m:r>
                          </m:e>
                          <m:sub>
                            <m:r>
                              <a:rPr lang="en-US" sz="700" b="1" i="1">
                                <a:solidFill>
                                  <a:schemeClr val="bg2">
                                    <a:lumMod val="25000"/>
                                  </a:schemeClr>
                                </a:solidFill>
                                <a:latin typeface="Cambria Math" panose="02040503050406030204" pitchFamily="18" charset="0"/>
                              </a:rPr>
                              <m:t>𝒆𝒙𝒑𝒆𝒓𝒊𝒎𝒆𝒏𝒕𝒂𝒍</m:t>
                            </m:r>
                          </m:sub>
                        </m:sSub>
                      </m:den>
                    </m:f>
                  </m:oMath>
                </a14:m>
                <a:r>
                  <a:rPr lang="en-US" sz="1200" b="1" dirty="0">
                    <a:solidFill>
                      <a:schemeClr val="bg2">
                        <a:lumMod val="25000"/>
                      </a:schemeClr>
                    </a:solidFill>
                    <a:latin typeface="+mj-lt"/>
                    <a:ea typeface="Calibri" panose="020F0502020204030204" pitchFamily="34" charset="0"/>
                    <a:cs typeface="Calibri" panose="020F0502020204030204" pitchFamily="34" charset="0"/>
                  </a:rPr>
                  <a:t>| </a:t>
                </a:r>
                <a:r>
                  <a:rPr lang="en-US" sz="700" b="1" dirty="0">
                    <a:solidFill>
                      <a:schemeClr val="bg2">
                        <a:lumMod val="25000"/>
                      </a:schemeClr>
                    </a:solidFill>
                    <a:latin typeface="+mj-lt"/>
                    <a:ea typeface="Calibri" panose="020F0502020204030204" pitchFamily="34" charset="0"/>
                    <a:cs typeface="Calibri" panose="020F0502020204030204" pitchFamily="34" charset="0"/>
                  </a:rPr>
                  <a:t>x 100%</a:t>
                </a:r>
              </a:p>
            </p:txBody>
          </p:sp>
        </mc:Choice>
        <mc:Fallback xmlns="">
          <p:sp>
            <p:nvSpPr>
              <p:cNvPr id="8" name="Rectangle 7">
                <a:extLst>
                  <a:ext uri="{FF2B5EF4-FFF2-40B4-BE49-F238E27FC236}">
                    <a16:creationId xmlns:a16="http://schemas.microsoft.com/office/drawing/2014/main" id="{8CF10A1E-5667-8158-198B-99F14FCB0A5B}"/>
                  </a:ext>
                </a:extLst>
              </p:cNvPr>
              <p:cNvSpPr>
                <a:spLocks noRot="1" noChangeAspect="1" noMove="1" noResize="1" noEditPoints="1" noAdjustHandles="1" noChangeArrowheads="1" noChangeShapeType="1" noTextEdit="1"/>
              </p:cNvSpPr>
              <p:nvPr/>
            </p:nvSpPr>
            <p:spPr>
              <a:xfrm>
                <a:off x="5791200" y="2153600"/>
                <a:ext cx="2098766" cy="370115"/>
              </a:xfrm>
              <a:prstGeom prst="rect">
                <a:avLst/>
              </a:prstGeom>
              <a:blipFill>
                <a:blip r:embed="rId6"/>
                <a:stretch>
                  <a:fillRect/>
                </a:stretch>
              </a:blipFill>
              <a:ln>
                <a:no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2818CC79-4534-3C39-0342-0328DC6AEC05}"/>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16</a:t>
            </a:r>
          </a:p>
        </p:txBody>
      </p:sp>
      <p:sp>
        <p:nvSpPr>
          <p:cNvPr id="10" name="TextBox 9">
            <a:extLst>
              <a:ext uri="{FF2B5EF4-FFF2-40B4-BE49-F238E27FC236}">
                <a16:creationId xmlns:a16="http://schemas.microsoft.com/office/drawing/2014/main" id="{09D3E315-6CA7-8A0C-12D9-998E7B666C94}"/>
              </a:ext>
            </a:extLst>
          </p:cNvPr>
          <p:cNvSpPr txBox="1"/>
          <p:nvPr/>
        </p:nvSpPr>
        <p:spPr>
          <a:xfrm>
            <a:off x="11132101" y="901167"/>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2936830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01B8-4EA4-4F52-9934-D5A3A184A9E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1D506E9-0052-E714-8FA3-AD8AF61C3567}"/>
              </a:ext>
            </a:extLst>
          </p:cNvPr>
          <p:cNvPicPr>
            <a:picLocks noChangeAspect="1"/>
          </p:cNvPicPr>
          <p:nvPr/>
        </p:nvPicPr>
        <p:blipFill>
          <a:blip r:embed="rId2">
            <a:extLst>
              <a:ext uri="{28A0092B-C50C-407E-A947-70E740481C1C}">
                <a14:useLocalDpi xmlns:a14="http://schemas.microsoft.com/office/drawing/2010/main" val="0"/>
              </a:ext>
            </a:extLst>
          </a:blip>
          <a:srcRect l="2044" b="2920"/>
          <a:stretch/>
        </p:blipFill>
        <p:spPr>
          <a:xfrm>
            <a:off x="1524000" y="1167574"/>
            <a:ext cx="9338853" cy="5490401"/>
          </a:xfrm>
          <a:prstGeom prst="rect">
            <a:avLst/>
          </a:prstGeom>
        </p:spPr>
      </p:pic>
      <p:sp>
        <p:nvSpPr>
          <p:cNvPr id="7" name="Rectangle 6">
            <a:extLst>
              <a:ext uri="{FF2B5EF4-FFF2-40B4-BE49-F238E27FC236}">
                <a16:creationId xmlns:a16="http://schemas.microsoft.com/office/drawing/2014/main" id="{C86BC8C1-0CA6-FF5B-9A11-82F147B90062}"/>
              </a:ext>
            </a:extLst>
          </p:cNvPr>
          <p:cNvSpPr/>
          <p:nvPr/>
        </p:nvSpPr>
        <p:spPr>
          <a:xfrm>
            <a:off x="4975316" y="1140823"/>
            <a:ext cx="2911384" cy="183152"/>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chemeClr val="bg2">
                  <a:lumMod val="50000"/>
                </a:schemeClr>
              </a:solidFill>
            </a:endParaRPr>
          </a:p>
        </p:txBody>
      </p:sp>
      <p:sp>
        <p:nvSpPr>
          <p:cNvPr id="4" name="Rectangle 3">
            <a:extLst>
              <a:ext uri="{FF2B5EF4-FFF2-40B4-BE49-F238E27FC236}">
                <a16:creationId xmlns:a16="http://schemas.microsoft.com/office/drawing/2014/main" id="{3EBB791F-A35E-14DB-4670-6453749A0AD3}"/>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Determination of Material Properties (50CrMo4)</a:t>
            </a:r>
          </a:p>
        </p:txBody>
      </p:sp>
      <p:pic>
        <p:nvPicPr>
          <p:cNvPr id="2" name="Picture 1">
            <a:extLst>
              <a:ext uri="{FF2B5EF4-FFF2-40B4-BE49-F238E27FC236}">
                <a16:creationId xmlns:a16="http://schemas.microsoft.com/office/drawing/2014/main" id="{C28EB857-7488-3DAE-7EC0-F6733D33D7B8}"/>
              </a:ext>
            </a:extLst>
          </p:cNvPr>
          <p:cNvPicPr>
            <a:picLocks noChangeAspect="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l="15782" t="3432" r="5127" b="5419"/>
          <a:stretch/>
        </p:blipFill>
        <p:spPr>
          <a:xfrm>
            <a:off x="6672870" y="3769722"/>
            <a:ext cx="4189983" cy="2717075"/>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D4964EF-5C9C-3E79-78C6-FF009371C870}"/>
                  </a:ext>
                </a:extLst>
              </p:cNvPr>
              <p:cNvSpPr/>
              <p:nvPr/>
            </p:nvSpPr>
            <p:spPr>
              <a:xfrm rot="16200000">
                <a:off x="545376" y="3727269"/>
                <a:ext cx="1672046" cy="33745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solidFill>
                      <a:schemeClr val="bg2">
                        <a:lumMod val="50000"/>
                      </a:schemeClr>
                    </a:solidFill>
                  </a:rPr>
                  <a:t>Stress, </a:t>
                </a:r>
                <a14:m>
                  <m:oMath xmlns:m="http://schemas.openxmlformats.org/officeDocument/2006/math">
                    <m:r>
                      <a:rPr lang="en-US" sz="1200" b="0" i="1" dirty="0" smtClean="0">
                        <a:solidFill>
                          <a:schemeClr val="bg2">
                            <a:lumMod val="50000"/>
                          </a:schemeClr>
                        </a:solidFill>
                        <a:latin typeface="Cambria Math" panose="02040503050406030204" pitchFamily="18" charset="0"/>
                      </a:rPr>
                      <m:t>𝜎</m:t>
                    </m:r>
                    <m:r>
                      <a:rPr lang="en-US" sz="1200" b="0" i="1" dirty="0" smtClean="0">
                        <a:solidFill>
                          <a:schemeClr val="bg2">
                            <a:lumMod val="50000"/>
                          </a:schemeClr>
                        </a:solidFill>
                        <a:latin typeface="Cambria Math" panose="02040503050406030204" pitchFamily="18" charset="0"/>
                      </a:rPr>
                      <m:t>11</m:t>
                    </m:r>
                  </m:oMath>
                </a14:m>
                <a:r>
                  <a:rPr lang="en-US" sz="1200" dirty="0">
                    <a:solidFill>
                      <a:schemeClr val="bg2">
                        <a:lumMod val="50000"/>
                      </a:schemeClr>
                    </a:solidFill>
                  </a:rPr>
                  <a:t> [MPa]</a:t>
                </a:r>
              </a:p>
            </p:txBody>
          </p:sp>
        </mc:Choice>
        <mc:Fallback xmlns="">
          <p:sp>
            <p:nvSpPr>
              <p:cNvPr id="3" name="Rectangle 2">
                <a:extLst>
                  <a:ext uri="{FF2B5EF4-FFF2-40B4-BE49-F238E27FC236}">
                    <a16:creationId xmlns:a16="http://schemas.microsoft.com/office/drawing/2014/main" id="{2D4964EF-5C9C-3E79-78C6-FF009371C870}"/>
                  </a:ext>
                </a:extLst>
              </p:cNvPr>
              <p:cNvSpPr>
                <a:spLocks noRot="1" noChangeAspect="1" noMove="1" noResize="1" noEditPoints="1" noAdjustHandles="1" noChangeArrowheads="1" noChangeShapeType="1" noTextEdit="1"/>
              </p:cNvSpPr>
              <p:nvPr/>
            </p:nvSpPr>
            <p:spPr>
              <a:xfrm rot="16200000">
                <a:off x="545376" y="3727269"/>
                <a:ext cx="1672046" cy="337457"/>
              </a:xfrm>
              <a:prstGeom prst="rect">
                <a:avLst/>
              </a:prstGeom>
              <a:blipFill>
                <a:blip r:embed="rId4"/>
                <a:stretch>
                  <a:fillRect r="-545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AB47DFF-EABC-EA9D-AF37-F68A0513D892}"/>
                  </a:ext>
                </a:extLst>
              </p:cNvPr>
              <p:cNvSpPr/>
              <p:nvPr/>
            </p:nvSpPr>
            <p:spPr>
              <a:xfrm>
                <a:off x="5146766" y="6597406"/>
                <a:ext cx="2090057" cy="29282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chemeClr val="bg2">
                      <a:lumMod val="50000"/>
                    </a:schemeClr>
                  </a:solidFill>
                </a:endParaRPr>
              </a:p>
              <a:p>
                <a:pPr algn="ctr"/>
                <a:r>
                  <a:rPr lang="en-US" sz="1200" dirty="0">
                    <a:solidFill>
                      <a:schemeClr val="bg2">
                        <a:lumMod val="50000"/>
                      </a:schemeClr>
                    </a:solidFill>
                  </a:rPr>
                  <a:t>Plastic Strain, </a:t>
                </a:r>
                <a14:m>
                  <m:oMath xmlns:m="http://schemas.openxmlformats.org/officeDocument/2006/math">
                    <m:sSub>
                      <m:sSubPr>
                        <m:ctrlPr>
                          <a:rPr lang="en-US" sz="1200" b="0" i="1" smtClean="0">
                            <a:solidFill>
                              <a:schemeClr val="bg2">
                                <a:lumMod val="50000"/>
                              </a:schemeClr>
                            </a:solidFill>
                            <a:latin typeface="Cambria Math" panose="02040503050406030204" pitchFamily="18" charset="0"/>
                            <a:ea typeface="Cambria Math" panose="02040503050406030204" pitchFamily="18" charset="0"/>
                          </a:rPr>
                        </m:ctrlPr>
                      </m:sSubPr>
                      <m:e>
                        <m:r>
                          <a:rPr lang="en-US" sz="1200" i="1">
                            <a:solidFill>
                              <a:schemeClr val="bg2">
                                <a:lumMod val="50000"/>
                              </a:schemeClr>
                            </a:solidFill>
                            <a:latin typeface="Cambria Math" panose="02040503050406030204" pitchFamily="18" charset="0"/>
                            <a:ea typeface="Cambria Math" panose="02040503050406030204" pitchFamily="18" charset="0"/>
                          </a:rPr>
                          <m:t>𝜀</m:t>
                        </m:r>
                      </m:e>
                      <m:sub>
                        <m:r>
                          <a:rPr lang="en-US" sz="1200" b="0" i="1" smtClean="0">
                            <a:solidFill>
                              <a:schemeClr val="bg2">
                                <a:lumMod val="50000"/>
                              </a:schemeClr>
                            </a:solidFill>
                            <a:latin typeface="Cambria Math" panose="02040503050406030204" pitchFamily="18" charset="0"/>
                            <a:ea typeface="Cambria Math" panose="02040503050406030204" pitchFamily="18" charset="0"/>
                          </a:rPr>
                          <m:t>𝑝</m:t>
                        </m:r>
                      </m:sub>
                    </m:sSub>
                    <m:r>
                      <a:rPr lang="en-US" sz="1200" b="0" i="1" smtClean="0">
                        <a:solidFill>
                          <a:schemeClr val="bg2">
                            <a:lumMod val="50000"/>
                          </a:schemeClr>
                        </a:solidFill>
                        <a:latin typeface="Cambria Math" panose="02040503050406030204" pitchFamily="18" charset="0"/>
                        <a:ea typeface="Cambria Math" panose="02040503050406030204" pitchFamily="18" charset="0"/>
                      </a:rPr>
                      <m:t>11</m:t>
                    </m:r>
                  </m:oMath>
                </a14:m>
                <a:endParaRPr lang="en-US" sz="1200" dirty="0">
                  <a:solidFill>
                    <a:schemeClr val="bg2">
                      <a:lumMod val="50000"/>
                    </a:schemeClr>
                  </a:solidFill>
                </a:endParaRPr>
              </a:p>
              <a:p>
                <a:pPr algn="ctr"/>
                <a:r>
                  <a:rPr lang="en-US" sz="1200" dirty="0">
                    <a:solidFill>
                      <a:schemeClr val="bg2">
                        <a:lumMod val="50000"/>
                      </a:schemeClr>
                    </a:solidFill>
                  </a:rPr>
                  <a:t> </a:t>
                </a:r>
              </a:p>
            </p:txBody>
          </p:sp>
        </mc:Choice>
        <mc:Fallback xmlns="">
          <p:sp>
            <p:nvSpPr>
              <p:cNvPr id="5" name="Rectangle 4">
                <a:extLst>
                  <a:ext uri="{FF2B5EF4-FFF2-40B4-BE49-F238E27FC236}">
                    <a16:creationId xmlns:a16="http://schemas.microsoft.com/office/drawing/2014/main" id="{5AB47DFF-EABC-EA9D-AF37-F68A0513D892}"/>
                  </a:ext>
                </a:extLst>
              </p:cNvPr>
              <p:cNvSpPr>
                <a:spLocks noRot="1" noChangeAspect="1" noMove="1" noResize="1" noEditPoints="1" noAdjustHandles="1" noChangeArrowheads="1" noChangeShapeType="1" noTextEdit="1"/>
              </p:cNvSpPr>
              <p:nvPr/>
            </p:nvSpPr>
            <p:spPr>
              <a:xfrm>
                <a:off x="5146766" y="6597406"/>
                <a:ext cx="2090057" cy="292827"/>
              </a:xfrm>
              <a:prstGeom prst="rect">
                <a:avLst/>
              </a:prstGeom>
              <a:blipFill>
                <a:blip r:embed="rId5"/>
                <a:stretch>
                  <a:fillRect b="-14583"/>
                </a:stretch>
              </a:blipFill>
              <a:ln>
                <a:no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27BFDEBA-86A8-E603-61C1-175E5C5B6D07}"/>
              </a:ext>
            </a:extLst>
          </p:cNvPr>
          <p:cNvSpPr/>
          <p:nvPr/>
        </p:nvSpPr>
        <p:spPr>
          <a:xfrm>
            <a:off x="4975316" y="1085985"/>
            <a:ext cx="2911384" cy="29282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solidFill>
                  <a:schemeClr val="bg2">
                    <a:lumMod val="25000"/>
                  </a:schemeClr>
                </a:solidFill>
              </a:rPr>
              <a:t>Stress vs Plastic strain (from Abaqus)</a:t>
            </a:r>
          </a:p>
        </p:txBody>
      </p:sp>
      <p:sp>
        <p:nvSpPr>
          <p:cNvPr id="8" name="Rectangle 7">
            <a:extLst>
              <a:ext uri="{FF2B5EF4-FFF2-40B4-BE49-F238E27FC236}">
                <a16:creationId xmlns:a16="http://schemas.microsoft.com/office/drawing/2014/main" id="{DA700140-7AED-A263-F1BB-5A08E31F67C4}"/>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17</a:t>
            </a:r>
          </a:p>
        </p:txBody>
      </p:sp>
      <p:sp>
        <p:nvSpPr>
          <p:cNvPr id="10" name="TextBox 9">
            <a:extLst>
              <a:ext uri="{FF2B5EF4-FFF2-40B4-BE49-F238E27FC236}">
                <a16:creationId xmlns:a16="http://schemas.microsoft.com/office/drawing/2014/main" id="{1E1CC570-2F4E-700B-A959-8971228BFBE0}"/>
              </a:ext>
            </a:extLst>
          </p:cNvPr>
          <p:cNvSpPr txBox="1"/>
          <p:nvPr/>
        </p:nvSpPr>
        <p:spPr>
          <a:xfrm>
            <a:off x="11132101" y="901167"/>
            <a:ext cx="1666958" cy="276999"/>
          </a:xfrm>
          <a:prstGeom prst="rect">
            <a:avLst/>
          </a:prstGeom>
          <a:noFill/>
          <a:ln>
            <a:noFill/>
          </a:ln>
        </p:spPr>
        <p:txBody>
          <a:bodyPr wrap="square">
            <a:spAutoFit/>
          </a:bodyPr>
          <a:lstStyle/>
          <a:p>
            <a:r>
              <a:rPr lang="en-US" sz="1200" b="1" dirty="0">
                <a:solidFill>
                  <a:srgbClr val="FFFFFF"/>
                </a:solidFill>
                <a:effectLst>
                  <a:outerShdw blurRad="38100" dist="38100" dir="2700000" algn="tl">
                    <a:srgbClr val="000000">
                      <a:alpha val="43137"/>
                    </a:srgbClr>
                  </a:outerShdw>
                </a:effectLst>
              </a:rPr>
              <a:t>Badejo Olajide</a:t>
            </a:r>
          </a:p>
        </p:txBody>
      </p:sp>
    </p:spTree>
    <p:extLst>
      <p:ext uri="{BB962C8B-B14F-4D97-AF65-F5344CB8AC3E}">
        <p14:creationId xmlns:p14="http://schemas.microsoft.com/office/powerpoint/2010/main" val="3420486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F8C75-DB65-46D1-D076-6A0E48073E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9F8E75-0CD9-161C-6685-390B8EACC86A}"/>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Determination of Material Properties (50CrMo4)</a:t>
            </a:r>
          </a:p>
        </p:txBody>
      </p:sp>
      <p:graphicFrame>
        <p:nvGraphicFramePr>
          <p:cNvPr id="8" name="Table 7">
            <a:extLst>
              <a:ext uri="{FF2B5EF4-FFF2-40B4-BE49-F238E27FC236}">
                <a16:creationId xmlns:a16="http://schemas.microsoft.com/office/drawing/2014/main" id="{236D91E0-7FBC-FF3C-60AD-55D86E3DF05F}"/>
              </a:ext>
            </a:extLst>
          </p:cNvPr>
          <p:cNvGraphicFramePr>
            <a:graphicFrameLocks noGrp="1"/>
          </p:cNvGraphicFramePr>
          <p:nvPr/>
        </p:nvGraphicFramePr>
        <p:xfrm>
          <a:off x="1365029" y="5946044"/>
          <a:ext cx="9791697" cy="741680"/>
        </p:xfrm>
        <a:graphic>
          <a:graphicData uri="http://schemas.openxmlformats.org/drawingml/2006/table">
            <a:tbl>
              <a:tblPr firstRow="1" bandRow="1">
                <a:tableStyleId>{69012ECD-51FC-41F1-AA8D-1B2483CD663E}</a:tableStyleId>
              </a:tblPr>
              <a:tblGrid>
                <a:gridCol w="1266825">
                  <a:extLst>
                    <a:ext uri="{9D8B030D-6E8A-4147-A177-3AD203B41FA5}">
                      <a16:colId xmlns:a16="http://schemas.microsoft.com/office/drawing/2014/main" val="3163458698"/>
                    </a:ext>
                  </a:extLst>
                </a:gridCol>
                <a:gridCol w="1530802">
                  <a:extLst>
                    <a:ext uri="{9D8B030D-6E8A-4147-A177-3AD203B41FA5}">
                      <a16:colId xmlns:a16="http://schemas.microsoft.com/office/drawing/2014/main" val="3009090024"/>
                    </a:ext>
                  </a:extLst>
                </a:gridCol>
                <a:gridCol w="1398814">
                  <a:extLst>
                    <a:ext uri="{9D8B030D-6E8A-4147-A177-3AD203B41FA5}">
                      <a16:colId xmlns:a16="http://schemas.microsoft.com/office/drawing/2014/main" val="3928940489"/>
                    </a:ext>
                  </a:extLst>
                </a:gridCol>
                <a:gridCol w="1398814">
                  <a:extLst>
                    <a:ext uri="{9D8B030D-6E8A-4147-A177-3AD203B41FA5}">
                      <a16:colId xmlns:a16="http://schemas.microsoft.com/office/drawing/2014/main" val="519301738"/>
                    </a:ext>
                  </a:extLst>
                </a:gridCol>
                <a:gridCol w="1398814">
                  <a:extLst>
                    <a:ext uri="{9D8B030D-6E8A-4147-A177-3AD203B41FA5}">
                      <a16:colId xmlns:a16="http://schemas.microsoft.com/office/drawing/2014/main" val="1992341370"/>
                    </a:ext>
                  </a:extLst>
                </a:gridCol>
                <a:gridCol w="1398814">
                  <a:extLst>
                    <a:ext uri="{9D8B030D-6E8A-4147-A177-3AD203B41FA5}">
                      <a16:colId xmlns:a16="http://schemas.microsoft.com/office/drawing/2014/main" val="1414305232"/>
                    </a:ext>
                  </a:extLst>
                </a:gridCol>
                <a:gridCol w="1398814">
                  <a:extLst>
                    <a:ext uri="{9D8B030D-6E8A-4147-A177-3AD203B41FA5}">
                      <a16:colId xmlns:a16="http://schemas.microsoft.com/office/drawing/2014/main" val="235502737"/>
                    </a:ext>
                  </a:extLst>
                </a:gridCol>
              </a:tblGrid>
              <a:tr h="370840">
                <a:tc>
                  <a:txBody>
                    <a:bodyPr/>
                    <a:lstStyle/>
                    <a:p>
                      <a:r>
                        <a:rPr lang="en-US" dirty="0"/>
                        <a:t>Symbol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γ</a:t>
                      </a: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a:t>γ</a:t>
                      </a:r>
                      <a:r>
                        <a:rPr lang="en-US" dirty="0"/>
                        <a:t>2</a:t>
                      </a:r>
                    </a:p>
                  </a:txBody>
                  <a:tcPr/>
                </a:tc>
                <a:tc>
                  <a:txBody>
                    <a:bodyPr/>
                    <a:lstStyle/>
                    <a:p>
                      <a:r>
                        <a:rPr lang="en-US" dirty="0"/>
                        <a:t>Q</a:t>
                      </a:r>
                    </a:p>
                  </a:txBody>
                  <a:tcPr/>
                </a:tc>
                <a:tc>
                  <a:txBody>
                    <a:bodyPr/>
                    <a:lstStyle/>
                    <a:p>
                      <a:r>
                        <a:rPr lang="en-US" dirty="0"/>
                        <a:t>b</a:t>
                      </a:r>
                    </a:p>
                  </a:txBody>
                  <a:tcPr/>
                </a:tc>
                <a:extLst>
                  <a:ext uri="{0D108BD9-81ED-4DB2-BD59-A6C34878D82A}">
                    <a16:rowId xmlns:a16="http://schemas.microsoft.com/office/drawing/2014/main" val="318902371"/>
                  </a:ext>
                </a:extLst>
              </a:tr>
              <a:tr h="370840">
                <a:tc>
                  <a:txBody>
                    <a:bodyPr/>
                    <a:lstStyle/>
                    <a:p>
                      <a:r>
                        <a:rPr lang="en-US" b="1" dirty="0">
                          <a:solidFill>
                            <a:schemeClr val="tx1">
                              <a:lumMod val="85000"/>
                              <a:lumOff val="15000"/>
                            </a:schemeClr>
                          </a:solidFill>
                        </a:rPr>
                        <a:t>Value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85000"/>
                              <a:lumOff val="15000"/>
                            </a:schemeClr>
                          </a:solidFill>
                        </a:rPr>
                        <a:t>102,990 MPa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85000"/>
                              <a:lumOff val="15000"/>
                            </a:schemeClr>
                          </a:solidFill>
                        </a:rPr>
                        <a:t>258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85000"/>
                              <a:lumOff val="15000"/>
                            </a:schemeClr>
                          </a:solidFill>
                        </a:rPr>
                        <a:t>20,000 MPa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85000"/>
                              <a:lumOff val="15000"/>
                            </a:schemeClr>
                          </a:solidFill>
                        </a:rPr>
                        <a:t>0.01095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85000"/>
                              <a:lumOff val="15000"/>
                            </a:schemeClr>
                          </a:solidFill>
                        </a:rPr>
                        <a:t>-425 MPa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85000"/>
                              <a:lumOff val="15000"/>
                            </a:schemeClr>
                          </a:solidFill>
                        </a:rPr>
                        <a:t>163</a:t>
                      </a:r>
                    </a:p>
                  </a:txBody>
                  <a:tcPr/>
                </a:tc>
                <a:extLst>
                  <a:ext uri="{0D108BD9-81ED-4DB2-BD59-A6C34878D82A}">
                    <a16:rowId xmlns:a16="http://schemas.microsoft.com/office/drawing/2014/main" val="807755135"/>
                  </a:ext>
                </a:extLst>
              </a:tr>
            </a:tbl>
          </a:graphicData>
        </a:graphic>
      </p:graphicFrame>
      <p:pic>
        <p:nvPicPr>
          <p:cNvPr id="12" name="Picture 11" descr="A graph of a stress-strain diagram&#10;&#10;AI-generated content may be incorrect.">
            <a:extLst>
              <a:ext uri="{FF2B5EF4-FFF2-40B4-BE49-F238E27FC236}">
                <a16:creationId xmlns:a16="http://schemas.microsoft.com/office/drawing/2014/main" id="{DDF84B8A-685A-3ED3-144E-83000987E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062" y="1439441"/>
            <a:ext cx="5583936" cy="4431792"/>
          </a:xfrm>
          <a:prstGeom prst="rect">
            <a:avLst/>
          </a:prstGeom>
        </p:spPr>
      </p:pic>
      <p:pic>
        <p:nvPicPr>
          <p:cNvPr id="6" name="Picture 5" descr="A graph of a curve">
            <a:extLst>
              <a:ext uri="{FF2B5EF4-FFF2-40B4-BE49-F238E27FC236}">
                <a16:creationId xmlns:a16="http://schemas.microsoft.com/office/drawing/2014/main" id="{9F6D42DD-EC03-CB93-E6D3-F174B8AEDB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111" y="1548144"/>
            <a:ext cx="5192737" cy="4121310"/>
          </a:xfrm>
          <a:prstGeom prst="rect">
            <a:avLst/>
          </a:prstGeom>
        </p:spPr>
      </p:pic>
      <p:sp>
        <p:nvSpPr>
          <p:cNvPr id="2" name="Rectangle 1">
            <a:extLst>
              <a:ext uri="{FF2B5EF4-FFF2-40B4-BE49-F238E27FC236}">
                <a16:creationId xmlns:a16="http://schemas.microsoft.com/office/drawing/2014/main" id="{2D5B34C0-BF4D-971B-C060-2F4BA28BE948}"/>
              </a:ext>
            </a:extLst>
          </p:cNvPr>
          <p:cNvSpPr/>
          <p:nvPr/>
        </p:nvSpPr>
        <p:spPr>
          <a:xfrm>
            <a:off x="8365402" y="1321806"/>
            <a:ext cx="1855960" cy="2263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600" dirty="0"/>
              <a:t>Stabilized cycles</a:t>
            </a:r>
          </a:p>
        </p:txBody>
      </p:sp>
      <p:sp>
        <p:nvSpPr>
          <p:cNvPr id="3" name="Rectangle 2">
            <a:extLst>
              <a:ext uri="{FF2B5EF4-FFF2-40B4-BE49-F238E27FC236}">
                <a16:creationId xmlns:a16="http://schemas.microsoft.com/office/drawing/2014/main" id="{044A8172-2A5A-71D0-FCB0-A6C8A41E96F6}"/>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18</a:t>
            </a:r>
          </a:p>
        </p:txBody>
      </p:sp>
      <p:sp>
        <p:nvSpPr>
          <p:cNvPr id="5" name="TextBox 4">
            <a:extLst>
              <a:ext uri="{FF2B5EF4-FFF2-40B4-BE49-F238E27FC236}">
                <a16:creationId xmlns:a16="http://schemas.microsoft.com/office/drawing/2014/main" id="{7A005506-8758-4E71-5F46-45B2D5BE272F}"/>
              </a:ext>
            </a:extLst>
          </p:cNvPr>
          <p:cNvSpPr txBox="1"/>
          <p:nvPr/>
        </p:nvSpPr>
        <p:spPr>
          <a:xfrm>
            <a:off x="10705012" y="911547"/>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680283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2F91-A710-2B41-EF30-4E3874D266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A375957-0909-97EE-6ED2-39A58BDA2D23}"/>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Experimental Determination of Material Properties (50CrMo4)</a:t>
            </a:r>
          </a:p>
        </p:txBody>
      </p:sp>
      <p:grpSp>
        <p:nvGrpSpPr>
          <p:cNvPr id="3" name="Group 2">
            <a:extLst>
              <a:ext uri="{FF2B5EF4-FFF2-40B4-BE49-F238E27FC236}">
                <a16:creationId xmlns:a16="http://schemas.microsoft.com/office/drawing/2014/main" id="{B2C099AD-DBE0-7771-6E03-3949973A0CF2}"/>
              </a:ext>
            </a:extLst>
          </p:cNvPr>
          <p:cNvGrpSpPr/>
          <p:nvPr/>
        </p:nvGrpSpPr>
        <p:grpSpPr>
          <a:xfrm>
            <a:off x="3436197" y="1276539"/>
            <a:ext cx="6296278" cy="5386812"/>
            <a:chOff x="2830928" y="1412340"/>
            <a:chExt cx="6333310" cy="5156009"/>
          </a:xfrm>
        </p:grpSpPr>
        <p:pic>
          <p:nvPicPr>
            <p:cNvPr id="5" name="Picture 4" descr="A graph with a line and a red dot">
              <a:extLst>
                <a:ext uri="{FF2B5EF4-FFF2-40B4-BE49-F238E27FC236}">
                  <a16:creationId xmlns:a16="http://schemas.microsoft.com/office/drawing/2014/main" id="{FFE3E374-1527-833F-4444-74F967771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928" y="1412340"/>
              <a:ext cx="6333310" cy="5156009"/>
            </a:xfrm>
            <a:prstGeom prst="rect">
              <a:avLst/>
            </a:prstGeom>
          </p:spPr>
        </p:pic>
        <p:cxnSp>
          <p:nvCxnSpPr>
            <p:cNvPr id="7" name="Straight Connector 6">
              <a:extLst>
                <a:ext uri="{FF2B5EF4-FFF2-40B4-BE49-F238E27FC236}">
                  <a16:creationId xmlns:a16="http://schemas.microsoft.com/office/drawing/2014/main" id="{F451A58B-6368-66F1-D229-507BF8374EC8}"/>
                </a:ext>
              </a:extLst>
            </p:cNvPr>
            <p:cNvCxnSpPr/>
            <p:nvPr/>
          </p:nvCxnSpPr>
          <p:spPr>
            <a:xfrm>
              <a:off x="4028792" y="1946229"/>
              <a:ext cx="570368" cy="0"/>
            </a:xfrm>
            <a:prstGeom prst="line">
              <a:avLst/>
            </a:prstGeom>
          </p:spPr>
          <p:style>
            <a:lnRef idx="1">
              <a:schemeClr val="dk1"/>
            </a:lnRef>
            <a:fillRef idx="0">
              <a:schemeClr val="dk1"/>
            </a:fillRef>
            <a:effectRef idx="0">
              <a:schemeClr val="dk1"/>
            </a:effectRef>
            <a:fontRef idx="minor">
              <a:schemeClr val="tx1"/>
            </a:fontRef>
          </p:style>
        </p:cxnSp>
      </p:grpSp>
      <p:sp>
        <p:nvSpPr>
          <p:cNvPr id="2" name="Rectangle 1">
            <a:extLst>
              <a:ext uri="{FF2B5EF4-FFF2-40B4-BE49-F238E27FC236}">
                <a16:creationId xmlns:a16="http://schemas.microsoft.com/office/drawing/2014/main" id="{41798E6A-B7BA-F8F0-A83D-C8B288B827E0}"/>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19</a:t>
            </a:r>
          </a:p>
        </p:txBody>
      </p:sp>
      <p:sp>
        <p:nvSpPr>
          <p:cNvPr id="6" name="TextBox 5">
            <a:extLst>
              <a:ext uri="{FF2B5EF4-FFF2-40B4-BE49-F238E27FC236}">
                <a16:creationId xmlns:a16="http://schemas.microsoft.com/office/drawing/2014/main" id="{71E2DAB9-C68C-C316-211A-48055908723D}"/>
              </a:ext>
            </a:extLst>
          </p:cNvPr>
          <p:cNvSpPr txBox="1"/>
          <p:nvPr/>
        </p:nvSpPr>
        <p:spPr>
          <a:xfrm>
            <a:off x="10705012" y="911547"/>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3367430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F6C20-A16C-3C4F-D91D-A43DBFEE4E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D3F93A-10F4-26C7-1EF5-16A208A75868}"/>
              </a:ext>
            </a:extLst>
          </p:cNvPr>
          <p:cNvSpPr/>
          <p:nvPr/>
        </p:nvSpPr>
        <p:spPr>
          <a:xfrm>
            <a:off x="-1" y="0"/>
            <a:ext cx="12192001" cy="114082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Conclusion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D72D239-D12A-F769-3DDE-65525D6529FE}"/>
                  </a:ext>
                </a:extLst>
              </p:cNvPr>
              <p:cNvSpPr/>
              <p:nvPr/>
            </p:nvSpPr>
            <p:spPr>
              <a:xfrm>
                <a:off x="851024" y="1506082"/>
                <a:ext cx="9850171" cy="3404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b="1" dirty="0"/>
                  <a:t>Key results</a:t>
                </a:r>
                <a:endParaRPr lang="en-US" dirty="0"/>
              </a:p>
              <a:p>
                <a:endParaRPr lang="en-US" dirty="0"/>
              </a:p>
              <a:p>
                <a:pPr marL="285750" indent="-285750">
                  <a:buFont typeface="Arial" panose="020B0604020202020204" pitchFamily="34" charset="0"/>
                  <a:buChar char="•"/>
                </a:pPr>
                <a:r>
                  <a:rPr lang="en-US" dirty="0"/>
                  <a:t>The Hockett-Sherby model consistently gave the best prediction with the least absolute relative error for the monotonic loading and is recommended.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dirty="0" err="1"/>
                  <a:t>ludwik</a:t>
                </a:r>
                <a:r>
                  <a:rPr lang="en-US" dirty="0"/>
                  <a:t> model is a close alternative with less complexity with maximum difference of </a:t>
                </a:r>
                <a14:m>
                  <m:oMath xmlns:m="http://schemas.openxmlformats.org/officeDocument/2006/math">
                    <m:r>
                      <a:rPr lang="en-US" b="0" i="1" smtClean="0">
                        <a:latin typeface="Cambria Math" panose="02040503050406030204" pitchFamily="18" charset="0"/>
                      </a:rPr>
                      <m:t>1.1</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−3</m:t>
                        </m:r>
                      </m:sup>
                    </m:sSup>
                  </m:oMath>
                </a14:m>
                <a:r>
                  <a:rPr lang="en-US" dirty="0"/>
                  <a:t> to Hockett-Sherby across all strain rates.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Parameter calibration using LSM and ABAQUS simulations matched experimental trends.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Chaboche model accurately replicates the cyclic loading, capturing the softening and Bauschinger effect.</a:t>
                </a:r>
              </a:p>
              <a:p>
                <a:pPr algn="ctr"/>
                <a:endParaRPr lang="en-US" dirty="0"/>
              </a:p>
            </p:txBody>
          </p:sp>
        </mc:Choice>
        <mc:Fallback xmlns="">
          <p:sp>
            <p:nvSpPr>
              <p:cNvPr id="2" name="Rectangle 1">
                <a:extLst>
                  <a:ext uri="{FF2B5EF4-FFF2-40B4-BE49-F238E27FC236}">
                    <a16:creationId xmlns:a16="http://schemas.microsoft.com/office/drawing/2014/main" id="{AD72D239-D12A-F769-3DDE-65525D6529FE}"/>
                  </a:ext>
                </a:extLst>
              </p:cNvPr>
              <p:cNvSpPr>
                <a:spLocks noRot="1" noChangeAspect="1" noMove="1" noResize="1" noEditPoints="1" noAdjustHandles="1" noChangeArrowheads="1" noChangeShapeType="1" noTextEdit="1"/>
              </p:cNvSpPr>
              <p:nvPr/>
            </p:nvSpPr>
            <p:spPr>
              <a:xfrm>
                <a:off x="851024" y="1506082"/>
                <a:ext cx="9850171" cy="3404104"/>
              </a:xfrm>
              <a:prstGeom prst="rect">
                <a:avLst/>
              </a:prstGeom>
              <a:blipFill>
                <a:blip r:embed="rId2"/>
                <a:stretch>
                  <a:fillRect l="-557" t="-4659" r="-867"/>
                </a:stretch>
              </a:blipFill>
              <a:ln>
                <a:noFill/>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F7DBE6F4-AD30-56CE-74C1-FD17FAE74096}"/>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20</a:t>
            </a:r>
          </a:p>
        </p:txBody>
      </p:sp>
      <p:sp>
        <p:nvSpPr>
          <p:cNvPr id="5" name="TextBox 4">
            <a:extLst>
              <a:ext uri="{FF2B5EF4-FFF2-40B4-BE49-F238E27FC236}">
                <a16:creationId xmlns:a16="http://schemas.microsoft.com/office/drawing/2014/main" id="{7138C80A-E12C-740C-9362-6172ADEF39A0}"/>
              </a:ext>
            </a:extLst>
          </p:cNvPr>
          <p:cNvSpPr txBox="1"/>
          <p:nvPr/>
        </p:nvSpPr>
        <p:spPr>
          <a:xfrm>
            <a:off x="10705012" y="911547"/>
            <a:ext cx="1574074" cy="276999"/>
          </a:xfrm>
          <a:prstGeom prst="rect">
            <a:avLst/>
          </a:prstGeom>
          <a:noFill/>
          <a:ln>
            <a:noFill/>
          </a:ln>
        </p:spPr>
        <p:txBody>
          <a:bodyPr wrap="square">
            <a:spAutoFit/>
          </a:bodyPr>
          <a:lstStyle/>
          <a:p>
            <a:r>
              <a:rPr lang="en-US" sz="1200" b="1" dirty="0">
                <a:solidFill>
                  <a:schemeClr val="bg1"/>
                </a:solidFill>
                <a:effectLst>
                  <a:outerShdw blurRad="38100" dist="38100" dir="2700000" algn="tl">
                    <a:srgbClr val="000000">
                      <a:alpha val="43137"/>
                    </a:srgbClr>
                  </a:outerShdw>
                </a:effectLst>
              </a:rPr>
              <a:t>Abdul-Hafiz Sulaiman</a:t>
            </a:r>
          </a:p>
        </p:txBody>
      </p:sp>
    </p:spTree>
    <p:extLst>
      <p:ext uri="{BB962C8B-B14F-4D97-AF65-F5344CB8AC3E}">
        <p14:creationId xmlns:p14="http://schemas.microsoft.com/office/powerpoint/2010/main" val="959876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05CDB-157A-1FB3-99D9-2ED140697DB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06CC6D4-817C-8B0C-F620-EF4E0BD85215}"/>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229399" y="813971"/>
            <a:ext cx="5932708" cy="5799962"/>
          </a:xfrm>
          <a:prstGeom prst="rect">
            <a:avLst/>
          </a:prstGeom>
        </p:spPr>
      </p:pic>
      <p:sp>
        <p:nvSpPr>
          <p:cNvPr id="11" name="Rectangle 4">
            <a:extLst>
              <a:ext uri="{FF2B5EF4-FFF2-40B4-BE49-F238E27FC236}">
                <a16:creationId xmlns:a16="http://schemas.microsoft.com/office/drawing/2014/main" id="{B4A7BFAF-9DA0-0FBC-4558-B05A60182029}"/>
              </a:ext>
            </a:extLst>
          </p:cNvPr>
          <p:cNvSpPr>
            <a:spLocks noChangeArrowheads="1"/>
          </p:cNvSpPr>
          <p:nvPr/>
        </p:nvSpPr>
        <p:spPr bwMode="auto">
          <a:xfrm>
            <a:off x="4041511" y="2875002"/>
            <a:ext cx="410897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6600" b="0" i="0" u="none" strike="noStrike" cap="none" normalizeH="0" baseline="0" dirty="0">
                <a:ln>
                  <a:noFill/>
                </a:ln>
                <a:solidFill>
                  <a:schemeClr val="accent1">
                    <a:lumMod val="50000"/>
                  </a:schemeClr>
                </a:solidFill>
                <a:effectLst>
                  <a:outerShdw blurRad="38100" dist="38100" dir="2700000" algn="tl">
                    <a:srgbClr val="000000">
                      <a:alpha val="43137"/>
                    </a:srgbClr>
                  </a:outerShdw>
                </a:effectLst>
              </a:rPr>
              <a:t>Thank you!</a:t>
            </a:r>
          </a:p>
        </p:txBody>
      </p:sp>
      <p:sp>
        <p:nvSpPr>
          <p:cNvPr id="2" name="Rectangle 1">
            <a:extLst>
              <a:ext uri="{FF2B5EF4-FFF2-40B4-BE49-F238E27FC236}">
                <a16:creationId xmlns:a16="http://schemas.microsoft.com/office/drawing/2014/main" id="{7F553EFA-3E73-E560-C140-6C736003D408}"/>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21</a:t>
            </a:r>
          </a:p>
        </p:txBody>
      </p:sp>
    </p:spTree>
    <p:extLst>
      <p:ext uri="{BB962C8B-B14F-4D97-AF65-F5344CB8AC3E}">
        <p14:creationId xmlns:p14="http://schemas.microsoft.com/office/powerpoint/2010/main" val="1384176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A1FC0-08F2-DA96-BC2E-AB751F385F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F1CDE2-E3F6-7330-C3FB-5B038D2BDBC9}"/>
              </a:ext>
            </a:extLst>
          </p:cNvPr>
          <p:cNvSpPr/>
          <p:nvPr/>
        </p:nvSpPr>
        <p:spPr>
          <a:xfrm>
            <a:off x="-1" y="0"/>
            <a:ext cx="12192001" cy="778933"/>
          </a:xfrm>
          <a:prstGeom prst="rect">
            <a:avLst/>
          </a:prstGeom>
          <a:solidFill>
            <a:srgbClr val="000090"/>
          </a:solidFill>
          <a:ln>
            <a:solidFill>
              <a:srgbClr val="00206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lvl="2"/>
            <a:r>
              <a:rPr lang="en-US" sz="4000" dirty="0">
                <a:effectLst>
                  <a:outerShdw blurRad="38100" dist="38100" dir="2700000" algn="tl">
                    <a:srgbClr val="000000">
                      <a:alpha val="43137"/>
                    </a:srgbClr>
                  </a:outerShdw>
                </a:effectLst>
                <a:cs typeface="Arial" panose="020B0604020202020204" pitchFamily="34" charset="0"/>
              </a:rPr>
              <a:t>References</a:t>
            </a:r>
          </a:p>
        </p:txBody>
      </p:sp>
      <p:sp>
        <p:nvSpPr>
          <p:cNvPr id="3" name="TextBox 2">
            <a:extLst>
              <a:ext uri="{FF2B5EF4-FFF2-40B4-BE49-F238E27FC236}">
                <a16:creationId xmlns:a16="http://schemas.microsoft.com/office/drawing/2014/main" id="{E8FB5640-A781-1C0C-C8CA-8065F15D08CE}"/>
              </a:ext>
            </a:extLst>
          </p:cNvPr>
          <p:cNvSpPr txBox="1"/>
          <p:nvPr/>
        </p:nvSpPr>
        <p:spPr>
          <a:xfrm>
            <a:off x="164105" y="657607"/>
            <a:ext cx="11801475" cy="4893647"/>
          </a:xfrm>
          <a:prstGeom prst="rect">
            <a:avLst/>
          </a:prstGeom>
          <a:noFill/>
        </p:spPr>
        <p:txBody>
          <a:bodyPr wrap="square">
            <a:spAutoFit/>
          </a:bodyPr>
          <a:lstStyle/>
          <a:p>
            <a:pPr marR="0" lvl="0" algn="just" defTabSz="914400" rtl="0" eaLnBrk="0" fontAlgn="base" latinLnBrk="0" hangingPunct="0">
              <a:lnSpc>
                <a:spcPct val="100000"/>
              </a:lnSpc>
              <a:spcBef>
                <a:spcPct val="0"/>
              </a:spcBef>
              <a:spcAft>
                <a:spcPct val="0"/>
              </a:spcAft>
              <a:buClrTx/>
              <a:buSzTx/>
              <a:tabLst/>
            </a:pPr>
            <a:endParaRPr lang="en-US" sz="1200" dirty="0"/>
          </a:p>
          <a:p>
            <a:pPr algn="just"/>
            <a:r>
              <a:rPr lang="en-US" sz="1200" dirty="0"/>
              <a:t>1) Antus et al. (2023). Fast identification of </a:t>
            </a:r>
            <a:r>
              <a:rPr lang="en-US" sz="1200" dirty="0" err="1"/>
              <a:t>Chaboche</a:t>
            </a:r>
            <a:r>
              <a:rPr lang="en-US" sz="1200" dirty="0"/>
              <a:t> model using strain-controlled </a:t>
            </a:r>
            <a:r>
              <a:rPr lang="en-US" sz="1200" dirty="0" err="1"/>
              <a:t>cyclesInt</a:t>
            </a:r>
            <a:r>
              <a:rPr lang="en-US" sz="1200" dirty="0"/>
              <a:t>. J. of Plasticity, 160, 103503. </a:t>
            </a:r>
            <a:r>
              <a:rPr lang="en-US" sz="1200" u="sng" dirty="0">
                <a:solidFill>
                  <a:srgbClr val="0563C1"/>
                </a:solidFill>
              </a:rPr>
              <a:t>https://doi.org/10.1016/j.ijplas.2022.103503</a:t>
            </a:r>
          </a:p>
          <a:p>
            <a:pPr algn="just"/>
            <a:endParaRPr lang="en-US" sz="1200" dirty="0"/>
          </a:p>
          <a:p>
            <a:pPr algn="just"/>
            <a:r>
              <a:rPr lang="en-US" sz="1200" dirty="0"/>
              <a:t>2) </a:t>
            </a:r>
            <a:r>
              <a:rPr lang="en-US" sz="1200" dirty="0" err="1"/>
              <a:t>Bouajila</a:t>
            </a:r>
            <a:r>
              <a:rPr lang="en-US" sz="1200" dirty="0"/>
              <a:t> &amp; </a:t>
            </a:r>
            <a:r>
              <a:rPr lang="en-US" sz="1200" dirty="0" err="1"/>
              <a:t>Riccius</a:t>
            </a:r>
            <a:r>
              <a:rPr lang="en-US" sz="1200" dirty="0"/>
              <a:t> (2016). Cyclic and </a:t>
            </a:r>
            <a:r>
              <a:rPr lang="en-US" sz="1200" dirty="0" err="1"/>
              <a:t>viscoplastic</a:t>
            </a:r>
            <a:r>
              <a:rPr lang="en-US" sz="1200" dirty="0"/>
              <a:t> modeling of copper alloy using </a:t>
            </a:r>
            <a:r>
              <a:rPr lang="en-US" sz="1200" dirty="0" err="1"/>
              <a:t>Chaboche</a:t>
            </a:r>
            <a:r>
              <a:rPr lang="en-US" sz="1200" dirty="0"/>
              <a:t> model. German Aerospace Center (DLR)</a:t>
            </a:r>
          </a:p>
          <a:p>
            <a:pPr algn="just"/>
            <a:endParaRPr lang="en-US" sz="1200" dirty="0"/>
          </a:p>
          <a:p>
            <a:pPr algn="just"/>
            <a:r>
              <a:rPr lang="en-US" sz="1200" dirty="0"/>
              <a:t>3) </a:t>
            </a:r>
            <a:r>
              <a:rPr lang="en-US" sz="1200" dirty="0" err="1"/>
              <a:t>Chaboche</a:t>
            </a:r>
            <a:r>
              <a:rPr lang="en-US" sz="1200" dirty="0"/>
              <a:t>, J. L. (1989).  </a:t>
            </a:r>
            <a:r>
              <a:rPr lang="en-US" sz="1200" i="1" dirty="0"/>
              <a:t>Constitutive equations for cyclic plasticity and cyclic </a:t>
            </a:r>
            <a:r>
              <a:rPr lang="en-US" sz="1200" i="1" dirty="0" err="1"/>
              <a:t>viscoplasticity</a:t>
            </a:r>
            <a:r>
              <a:rPr lang="en-US" sz="1200" dirty="0"/>
              <a:t>. International Journal of Plasticity, 5(3), 247–302. 	</a:t>
            </a:r>
            <a:r>
              <a:rPr lang="en-US" sz="1200" dirty="0">
                <a:hlinkClick r:id="rId2">
                  <a:extLst>
                    <a:ext uri="{A12FA001-AC4F-418D-AE19-62706E023703}">
                      <ahyp:hlinkClr xmlns:ahyp="http://schemas.microsoft.com/office/drawing/2018/hyperlinkcolor" val="tx"/>
                    </a:ext>
                  </a:extLst>
                </a:hlinkClick>
              </a:rPr>
              <a:t>https://doi.org/</a:t>
            </a:r>
            <a:r>
              <a:rPr lang="en-US" sz="1200" dirty="0">
                <a:solidFill>
                  <a:srgbClr val="0563C1"/>
                </a:solidFill>
                <a:hlinkClick r:id="rId2">
                  <a:extLst>
                    <a:ext uri="{A12FA001-AC4F-418D-AE19-62706E023703}">
                      <ahyp:hlinkClr xmlns:ahyp="http://schemas.microsoft.com/office/drawing/2018/hyperlinkcolor" val="tx"/>
                    </a:ext>
                  </a:extLst>
                </a:hlinkClick>
              </a:rPr>
              <a:t>10.1016/07496419(89)90015-6</a:t>
            </a:r>
            <a:endParaRPr lang="en-US" sz="1200" dirty="0"/>
          </a:p>
          <a:p>
            <a:pPr algn="just"/>
            <a:endParaRPr lang="en-US" sz="1200" dirty="0"/>
          </a:p>
          <a:p>
            <a:pPr algn="just"/>
            <a:r>
              <a:rPr lang="en-US" sz="1200" dirty="0"/>
              <a:t>4) Chen, J. J., Lian, C. W., &amp; Lin, J. P. (2019). </a:t>
            </a:r>
            <a:r>
              <a:rPr lang="en-US" sz="1200" i="1" dirty="0"/>
              <a:t>Validation of constitutive models for experimental stress-strain relationship of high-strength steel sheets under uniaxial tension. </a:t>
            </a:r>
            <a:r>
              <a:rPr lang="en-US" sz="1200" dirty="0"/>
              <a:t>IOP Conference. 	Series: Materials Science and Engineering, 668, 012013. </a:t>
            </a:r>
            <a:r>
              <a:rPr lang="en-US" sz="1200" u="sng" dirty="0">
                <a:solidFill>
                  <a:srgbClr val="0563C1"/>
                </a:solidFill>
              </a:rPr>
              <a:t>https://doi.org/10.1088/1757-899X/668/1/012013</a:t>
            </a:r>
          </a:p>
          <a:p>
            <a:pPr algn="just"/>
            <a:endParaRPr lang="en-US" sz="1200" dirty="0"/>
          </a:p>
          <a:p>
            <a:pPr algn="just"/>
            <a:r>
              <a:rPr lang="en-US" sz="1200" dirty="0"/>
              <a:t>5) Chen, W.-F., &amp; Han, D.-J. (2007). </a:t>
            </a:r>
            <a:r>
              <a:rPr lang="en-US" sz="1200" i="1" dirty="0"/>
              <a:t>Plasticity for structural engineers</a:t>
            </a:r>
            <a:r>
              <a:rPr lang="en-US" sz="1200" dirty="0"/>
              <a:t>. J. Ross Publishing. Stec, M. (2016, October 28). Modeling fatigue failure in elastoplastic materials. COMSOL Blog. 	Retrieved July 12, 2025, from https://www.comsol.com/blogs/modeling-fatigue-failure-in-elastoplastic-materials </a:t>
            </a:r>
          </a:p>
          <a:p>
            <a:pPr algn="just"/>
            <a:endParaRPr lang="en-US" sz="1200" dirty="0"/>
          </a:p>
          <a:p>
            <a:pPr algn="just"/>
            <a:r>
              <a:rPr lang="en-US" sz="1200" dirty="0"/>
              <a:t>6) </a:t>
            </a:r>
            <a:r>
              <a:rPr lang="en-US" sz="1200" dirty="0" err="1"/>
              <a:t>Hartmaier</a:t>
            </a:r>
            <a:r>
              <a:rPr lang="en-US" sz="1200" dirty="0"/>
              <a:t>, A. (2025).  Computational plasticity [Lecture slides]. Summer semester 2025</a:t>
            </a:r>
          </a:p>
          <a:p>
            <a:pPr algn="just"/>
            <a:endParaRPr lang="en-US" sz="1200" dirty="0"/>
          </a:p>
          <a:p>
            <a:pPr algn="just"/>
            <a:r>
              <a:rPr lang="en-US" sz="1200" dirty="0"/>
              <a:t>7) Liu, S., Liang, G., &amp; Yang, Y. (2019). </a:t>
            </a:r>
            <a:r>
              <a:rPr lang="en-US" sz="1200" i="1" dirty="0"/>
              <a:t>A strategy to fast determine </a:t>
            </a:r>
            <a:r>
              <a:rPr lang="en-US" sz="1200" i="1" dirty="0" err="1"/>
              <a:t>Chaboche</a:t>
            </a:r>
            <a:r>
              <a:rPr lang="en-US" sz="1200" i="1" dirty="0"/>
              <a:t> </a:t>
            </a:r>
            <a:r>
              <a:rPr lang="en-US" sz="1200" i="1" dirty="0" err="1"/>
              <a:t>elasto</a:t>
            </a:r>
            <a:r>
              <a:rPr lang="en-US" sz="1200" i="1" dirty="0"/>
              <a:t>-plastic model parameters by considering ratcheting</a:t>
            </a:r>
            <a:r>
              <a:rPr lang="en-US" sz="1200" dirty="0"/>
              <a:t>. International Journal of Pressure Vessels and 	Piping, 172, 251–260. </a:t>
            </a:r>
            <a:r>
              <a:rPr lang="en-US" sz="1200" dirty="0">
                <a:solidFill>
                  <a:srgbClr val="0563C1"/>
                </a:solidFill>
                <a:hlinkClick r:id="rId3">
                  <a:extLst>
                    <a:ext uri="{A12FA001-AC4F-418D-AE19-62706E023703}">
                      <ahyp:hlinkClr xmlns:ahyp="http://schemas.microsoft.com/office/drawing/2018/hyperlinkcolor" val="tx"/>
                    </a:ext>
                  </a:extLst>
                </a:hlinkClick>
              </a:rPr>
              <a:t>https://doi.org/10.1016/j.ijpvp.2019.01.017</a:t>
            </a:r>
            <a:endParaRPr lang="en-US" sz="1200" dirty="0">
              <a:solidFill>
                <a:srgbClr val="0563C1"/>
              </a:solidFill>
            </a:endParaRPr>
          </a:p>
          <a:p>
            <a:pPr algn="just"/>
            <a:r>
              <a:rPr lang="en-US" sz="1200" i="1" dirty="0"/>
              <a:t> </a:t>
            </a:r>
          </a:p>
          <a:p>
            <a:pPr algn="just"/>
            <a:r>
              <a:rPr lang="en-US" sz="1200" dirty="0"/>
              <a:t>8) Ramberg, W., &amp; Osgood, W. R. (1943). Description of stress-strain curves by three parameters (NACA Technical Note No. 902). National Advisory Committee for Aeronautics.</a:t>
            </a:r>
          </a:p>
          <a:p>
            <a:pPr algn="just"/>
            <a:endParaRPr lang="en-US" sz="1200" dirty="0"/>
          </a:p>
          <a:p>
            <a:pPr algn="just"/>
            <a:r>
              <a:rPr lang="en-US" sz="1200" dirty="0"/>
              <a:t>9) Shang et al. (2023). Strain rate &amp; thermal effects in 5182-O aluminum alloy flow </a:t>
            </a:r>
            <a:r>
              <a:rPr lang="en-US" sz="1200" dirty="0" err="1"/>
              <a:t>curveInt</a:t>
            </a:r>
            <a:r>
              <a:rPr lang="en-US" sz="1200" dirty="0"/>
              <a:t>. J. of Material Forming, 16(1), 1–20. </a:t>
            </a:r>
            <a:r>
              <a:rPr lang="en-US" sz="1200" b="1" u="sng" dirty="0">
                <a:solidFill>
                  <a:srgbClr val="0563C1"/>
                </a:solidFill>
              </a:rPr>
              <a:t>https://doi.org/10.1007/s12289-022-01721-4</a:t>
            </a:r>
          </a:p>
          <a:p>
            <a:endParaRPr lang="en-US" sz="1200" dirty="0">
              <a:solidFill>
                <a:srgbClr val="0563C1"/>
              </a:solidFill>
            </a:endParaRPr>
          </a:p>
          <a:p>
            <a:pPr lvl="1" algn="just" eaLnBrk="0" fontAlgn="base" hangingPunct="0">
              <a:spcBef>
                <a:spcPct val="0"/>
              </a:spcBef>
              <a:spcAft>
                <a:spcPct val="0"/>
              </a:spcAft>
            </a:pPr>
            <a:endParaRPr lang="en-US" altLang="en-US" sz="1200" i="1" dirty="0">
              <a:solidFill>
                <a:schemeClr val="accent1">
                  <a:lumMod val="75000"/>
                </a:schemeClr>
              </a:solidFill>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200" dirty="0"/>
          </a:p>
          <a:p>
            <a:endParaRPr lang="en-US" sz="1200" dirty="0"/>
          </a:p>
        </p:txBody>
      </p:sp>
      <p:sp>
        <p:nvSpPr>
          <p:cNvPr id="2" name="Rectangle 1">
            <a:extLst>
              <a:ext uri="{FF2B5EF4-FFF2-40B4-BE49-F238E27FC236}">
                <a16:creationId xmlns:a16="http://schemas.microsoft.com/office/drawing/2014/main" id="{A6AE70FE-1CCE-534C-4F41-DD0C5FC6B482}"/>
              </a:ext>
            </a:extLst>
          </p:cNvPr>
          <p:cNvSpPr/>
          <p:nvPr/>
        </p:nvSpPr>
        <p:spPr>
          <a:xfrm>
            <a:off x="11756572" y="6511457"/>
            <a:ext cx="418016" cy="34218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b="1" dirty="0"/>
              <a:t>22</a:t>
            </a:r>
          </a:p>
        </p:txBody>
      </p:sp>
      <p:sp>
        <p:nvSpPr>
          <p:cNvPr id="5" name="TextBox 4">
            <a:extLst>
              <a:ext uri="{FF2B5EF4-FFF2-40B4-BE49-F238E27FC236}">
                <a16:creationId xmlns:a16="http://schemas.microsoft.com/office/drawing/2014/main" id="{6FA17AAB-4457-14DF-91EF-1EC09E5D04BE}"/>
              </a:ext>
            </a:extLst>
          </p:cNvPr>
          <p:cNvSpPr txBox="1"/>
          <p:nvPr/>
        </p:nvSpPr>
        <p:spPr>
          <a:xfrm>
            <a:off x="10821490" y="501934"/>
            <a:ext cx="1370510" cy="276999"/>
          </a:xfrm>
          <a:prstGeom prst="rect">
            <a:avLst/>
          </a:prstGeom>
          <a:noFill/>
        </p:spPr>
        <p:txBody>
          <a:bodyPr wrap="square">
            <a:spAutoFit/>
          </a:bodyPr>
          <a:lstStyle/>
          <a:p>
            <a:pPr algn="r"/>
            <a:r>
              <a:rPr lang="en-US" sz="1200" b="1" dirty="0">
                <a:solidFill>
                  <a:schemeClr val="bg1"/>
                </a:solidFill>
                <a:effectLst>
                  <a:outerShdw blurRad="38100" dist="38100" dir="2700000" algn="tl">
                    <a:srgbClr val="000000">
                      <a:alpha val="43137"/>
                    </a:srgbClr>
                  </a:outerShdw>
                </a:effectLst>
              </a:rPr>
              <a:t>Haile </a:t>
            </a:r>
            <a:r>
              <a:rPr lang="en-US" sz="1200" b="1" dirty="0" err="1">
                <a:solidFill>
                  <a:schemeClr val="bg1"/>
                </a:solidFill>
                <a:effectLst>
                  <a:outerShdw blurRad="38100" dist="38100" dir="2700000" algn="tl">
                    <a:srgbClr val="000000">
                      <a:alpha val="43137"/>
                    </a:srgbClr>
                  </a:outerShdw>
                </a:effectLst>
              </a:rPr>
              <a:t>Tsegu</a:t>
            </a:r>
            <a:endParaRPr lang="en-US" sz="12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90745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3488</TotalTime>
  <Words>2346</Words>
  <Application>Microsoft Office PowerPoint</Application>
  <PresentationFormat>Widescreen</PresentationFormat>
  <Paragraphs>308</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Cambria</vt:lpstr>
      <vt:lpstr>Cambria Math</vt:lpstr>
      <vt:lpstr>Monospac821 BT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Olajide Badejo</dc:creator>
  <cp:lastModifiedBy>Olajide Badejo</cp:lastModifiedBy>
  <cp:revision>119</cp:revision>
  <dcterms:created xsi:type="dcterms:W3CDTF">2025-06-27T17:07:35Z</dcterms:created>
  <dcterms:modified xsi:type="dcterms:W3CDTF">2025-07-29T23:08:10Z</dcterms:modified>
</cp:coreProperties>
</file>